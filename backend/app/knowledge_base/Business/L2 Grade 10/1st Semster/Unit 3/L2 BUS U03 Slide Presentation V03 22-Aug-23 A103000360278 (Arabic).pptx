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8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9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42"/>
  </p:notesMasterIdLst>
  <p:sldIdLst>
    <p:sldId id="310" r:id="rId14"/>
    <p:sldId id="311" r:id="rId15"/>
    <p:sldId id="312" r:id="rId16"/>
    <p:sldId id="313" r:id="rId17"/>
    <p:sldId id="314" r:id="rId18"/>
    <p:sldId id="315" r:id="rId19"/>
    <p:sldId id="327" r:id="rId20"/>
    <p:sldId id="328" r:id="rId21"/>
    <p:sldId id="329" r:id="rId22"/>
    <p:sldId id="322" r:id="rId23"/>
    <p:sldId id="330" r:id="rId24"/>
    <p:sldId id="331" r:id="rId25"/>
    <p:sldId id="316" r:id="rId26"/>
    <p:sldId id="332" r:id="rId27"/>
    <p:sldId id="333" r:id="rId28"/>
    <p:sldId id="334" r:id="rId29"/>
    <p:sldId id="319" r:id="rId30"/>
    <p:sldId id="318" r:id="rId31"/>
    <p:sldId id="324" r:id="rId32"/>
    <p:sldId id="335" r:id="rId33"/>
    <p:sldId id="336" r:id="rId34"/>
    <p:sldId id="323" r:id="rId35"/>
    <p:sldId id="337" r:id="rId36"/>
    <p:sldId id="338" r:id="rId37"/>
    <p:sldId id="317" r:id="rId38"/>
    <p:sldId id="325" r:id="rId39"/>
    <p:sldId id="326" r:id="rId40"/>
    <p:sldId id="321" r:id="rId41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79" autoAdjust="0"/>
    <p:restoredTop sz="93342" autoAdjust="0"/>
  </p:normalViewPr>
  <p:slideViewPr>
    <p:cSldViewPr>
      <p:cViewPr varScale="1">
        <p:scale>
          <a:sx n="162" d="100"/>
          <a:sy n="162" d="100"/>
        </p:scale>
        <p:origin x="1662" y="17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commentAuthors" Target="commentAuthors.xml"/><Relationship Id="rId48" Type="http://schemas.microsoft.com/office/2016/11/relationships/changesInfo" Target="changesInfos/changesInfo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theme" Target="theme/theme1.xml"/><Relationship Id="rId20" Type="http://schemas.openxmlformats.org/officeDocument/2006/relationships/slide" Target="slides/slide7.xml"/><Relationship Id="rId41" Type="http://schemas.openxmlformats.org/officeDocument/2006/relationships/slide" Target="slides/slide28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1.xml"/><Relationship Id="rId13" Type="http://schemas.openxmlformats.org/officeDocument/2006/relationships/slide" Target="slides/slide18.xml"/><Relationship Id="rId18" Type="http://schemas.openxmlformats.org/officeDocument/2006/relationships/slide" Target="slides/slide23.xml"/><Relationship Id="rId3" Type="http://schemas.openxmlformats.org/officeDocument/2006/relationships/slide" Target="slides/slide6.xml"/><Relationship Id="rId21" Type="http://schemas.openxmlformats.org/officeDocument/2006/relationships/slide" Target="slides/slide27.xml"/><Relationship Id="rId7" Type="http://schemas.openxmlformats.org/officeDocument/2006/relationships/slide" Target="slides/slide10.xml"/><Relationship Id="rId12" Type="http://schemas.openxmlformats.org/officeDocument/2006/relationships/slide" Target="slides/slide17.xml"/><Relationship Id="rId17" Type="http://schemas.openxmlformats.org/officeDocument/2006/relationships/slide" Target="slides/slide22.xml"/><Relationship Id="rId2" Type="http://schemas.openxmlformats.org/officeDocument/2006/relationships/slide" Target="slides/slide5.xml"/><Relationship Id="rId16" Type="http://schemas.openxmlformats.org/officeDocument/2006/relationships/slide" Target="slides/slide21.xml"/><Relationship Id="rId20" Type="http://schemas.openxmlformats.org/officeDocument/2006/relationships/slide" Target="slides/slide26.xml"/><Relationship Id="rId1" Type="http://schemas.openxmlformats.org/officeDocument/2006/relationships/slide" Target="slides/slide3.xml"/><Relationship Id="rId6" Type="http://schemas.openxmlformats.org/officeDocument/2006/relationships/slide" Target="slides/slide9.xml"/><Relationship Id="rId11" Type="http://schemas.openxmlformats.org/officeDocument/2006/relationships/slide" Target="slides/slide16.xml"/><Relationship Id="rId5" Type="http://schemas.openxmlformats.org/officeDocument/2006/relationships/slide" Target="slides/slide8.xml"/><Relationship Id="rId15" Type="http://schemas.openxmlformats.org/officeDocument/2006/relationships/slide" Target="slides/slide20.xml"/><Relationship Id="rId10" Type="http://schemas.openxmlformats.org/officeDocument/2006/relationships/slide" Target="slides/slide15.xml"/><Relationship Id="rId19" Type="http://schemas.openxmlformats.org/officeDocument/2006/relationships/slide" Target="slides/slide24.xml"/><Relationship Id="rId4" Type="http://schemas.openxmlformats.org/officeDocument/2006/relationships/slide" Target="slides/slide7.xml"/><Relationship Id="rId9" Type="http://schemas.openxmlformats.org/officeDocument/2006/relationships/slide" Target="slides/slide12.xml"/><Relationship Id="rId14" Type="http://schemas.openxmlformats.org/officeDocument/2006/relationships/slide" Target="slides/slide19.xml"/><Relationship Id="rId22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nser" userId="c3146a91-e6bd-4264-bd86-e164e04bc32d" providerId="ADAL" clId="{4BE1F9DD-562D-4440-A4E3-ED76F06B5D52}"/>
    <pc:docChg chg="addSld delSld">
      <pc:chgData name="Paul Winser" userId="c3146a91-e6bd-4264-bd86-e164e04bc32d" providerId="ADAL" clId="{4BE1F9DD-562D-4440-A4E3-ED76F06B5D52}" dt="2023-08-23T14:38:31.287" v="1" actId="2696"/>
      <pc:docMkLst>
        <pc:docMk/>
      </pc:docMkLst>
      <pc:sldChg chg="new del">
        <pc:chgData name="Paul Winser" userId="c3146a91-e6bd-4264-bd86-e164e04bc32d" providerId="ADAL" clId="{4BE1F9DD-562D-4440-A4E3-ED76F06B5D52}" dt="2023-08-23T14:38:31.287" v="1" actId="2696"/>
        <pc:sldMkLst>
          <pc:docMk/>
          <pc:sldMk cId="88785706" sldId="339"/>
        </pc:sldMkLst>
      </pc:sldChg>
    </pc:docChg>
  </pc:docChgLst>
  <pc:docChgLst>
    <pc:chgData name="Paul Winser" userId="c3146a91-e6bd-4264-bd86-e164e04bc32d" providerId="ADAL" clId="{24ECC1A8-903B-4425-987D-D070F5BACD1C}"/>
    <pc:docChg chg="modSld modMainMaster">
      <pc:chgData name="Paul Winser" userId="c3146a91-e6bd-4264-bd86-e164e04bc32d" providerId="ADAL" clId="{24ECC1A8-903B-4425-987D-D070F5BACD1C}" dt="2023-08-21T17:03:47.313" v="30"/>
      <pc:docMkLst>
        <pc:docMk/>
      </pc:docMkLst>
      <pc:sldChg chg="addSp modSp">
        <pc:chgData name="Paul Winser" userId="c3146a91-e6bd-4264-bd86-e164e04bc32d" providerId="ADAL" clId="{24ECC1A8-903B-4425-987D-D070F5BACD1C}" dt="2023-08-21T17:03:16.928" v="3"/>
        <pc:sldMkLst>
          <pc:docMk/>
          <pc:sldMk cId="0" sldId="310"/>
        </pc:sldMkLst>
        <pc:spChg chg="add mod">
          <ac:chgData name="Paul Winser" userId="c3146a91-e6bd-4264-bd86-e164e04bc32d" providerId="ADAL" clId="{24ECC1A8-903B-4425-987D-D070F5BACD1C}" dt="2023-08-21T17:03:16.928" v="3"/>
          <ac:spMkLst>
            <pc:docMk/>
            <pc:sldMk cId="0" sldId="310"/>
            <ac:spMk id="3" creationId="{A55FAD57-900E-71E3-9980-69EFB31A917F}"/>
          </ac:spMkLst>
        </pc:spChg>
      </pc:sldChg>
      <pc:sldChg chg="addSp modSp">
        <pc:chgData name="Paul Winser" userId="c3146a91-e6bd-4264-bd86-e164e04bc32d" providerId="ADAL" clId="{24ECC1A8-903B-4425-987D-D070F5BACD1C}" dt="2023-08-21T17:03:17.845" v="4"/>
        <pc:sldMkLst>
          <pc:docMk/>
          <pc:sldMk cId="0" sldId="311"/>
        </pc:sldMkLst>
        <pc:spChg chg="add mod">
          <ac:chgData name="Paul Winser" userId="c3146a91-e6bd-4264-bd86-e164e04bc32d" providerId="ADAL" clId="{24ECC1A8-903B-4425-987D-D070F5BACD1C}" dt="2023-08-21T17:03:17.845" v="4"/>
          <ac:spMkLst>
            <pc:docMk/>
            <pc:sldMk cId="0" sldId="311"/>
            <ac:spMk id="2" creationId="{42B59A57-31F9-9817-C1D7-BF9C6C6E2618}"/>
          </ac:spMkLst>
        </pc:spChg>
      </pc:sldChg>
      <pc:sldChg chg="addSp modSp">
        <pc:chgData name="Paul Winser" userId="c3146a91-e6bd-4264-bd86-e164e04bc32d" providerId="ADAL" clId="{24ECC1A8-903B-4425-987D-D070F5BACD1C}" dt="2023-08-21T17:03:18.612" v="5"/>
        <pc:sldMkLst>
          <pc:docMk/>
          <pc:sldMk cId="0" sldId="312"/>
        </pc:sldMkLst>
        <pc:spChg chg="add mod">
          <ac:chgData name="Paul Winser" userId="c3146a91-e6bd-4264-bd86-e164e04bc32d" providerId="ADAL" clId="{24ECC1A8-903B-4425-987D-D070F5BACD1C}" dt="2023-08-21T17:03:18.612" v="5"/>
          <ac:spMkLst>
            <pc:docMk/>
            <pc:sldMk cId="0" sldId="312"/>
            <ac:spMk id="2" creationId="{CA54BDB5-02A1-C2ED-8D41-13A8F8F57FA3}"/>
          </ac:spMkLst>
        </pc:spChg>
      </pc:sldChg>
      <pc:sldChg chg="addSp modSp">
        <pc:chgData name="Paul Winser" userId="c3146a91-e6bd-4264-bd86-e164e04bc32d" providerId="ADAL" clId="{24ECC1A8-903B-4425-987D-D070F5BACD1C}" dt="2023-08-21T17:03:20.151" v="6"/>
        <pc:sldMkLst>
          <pc:docMk/>
          <pc:sldMk cId="0" sldId="313"/>
        </pc:sldMkLst>
        <pc:spChg chg="add mod">
          <ac:chgData name="Paul Winser" userId="c3146a91-e6bd-4264-bd86-e164e04bc32d" providerId="ADAL" clId="{24ECC1A8-903B-4425-987D-D070F5BACD1C}" dt="2023-08-21T17:03:20.151" v="6"/>
          <ac:spMkLst>
            <pc:docMk/>
            <pc:sldMk cId="0" sldId="313"/>
            <ac:spMk id="2" creationId="{35778A28-588D-C00A-B173-8604CDF955C7}"/>
          </ac:spMkLst>
        </pc:spChg>
      </pc:sldChg>
      <pc:sldChg chg="addSp modSp">
        <pc:chgData name="Paul Winser" userId="c3146a91-e6bd-4264-bd86-e164e04bc32d" providerId="ADAL" clId="{24ECC1A8-903B-4425-987D-D070F5BACD1C}" dt="2023-08-21T17:03:21.889" v="7"/>
        <pc:sldMkLst>
          <pc:docMk/>
          <pc:sldMk cId="1303859331" sldId="314"/>
        </pc:sldMkLst>
        <pc:spChg chg="add mod">
          <ac:chgData name="Paul Winser" userId="c3146a91-e6bd-4264-bd86-e164e04bc32d" providerId="ADAL" clId="{24ECC1A8-903B-4425-987D-D070F5BACD1C}" dt="2023-08-21T17:03:21.889" v="7"/>
          <ac:spMkLst>
            <pc:docMk/>
            <pc:sldMk cId="1303859331" sldId="314"/>
            <ac:spMk id="2" creationId="{1FC2D2CD-1433-C54A-0D93-42D953BF49EE}"/>
          </ac:spMkLst>
        </pc:spChg>
      </pc:sldChg>
      <pc:sldChg chg="addSp modSp">
        <pc:chgData name="Paul Winser" userId="c3146a91-e6bd-4264-bd86-e164e04bc32d" providerId="ADAL" clId="{24ECC1A8-903B-4425-987D-D070F5BACD1C}" dt="2023-08-21T17:03:23.112" v="8"/>
        <pc:sldMkLst>
          <pc:docMk/>
          <pc:sldMk cId="3888746925" sldId="315"/>
        </pc:sldMkLst>
        <pc:spChg chg="add mod">
          <ac:chgData name="Paul Winser" userId="c3146a91-e6bd-4264-bd86-e164e04bc32d" providerId="ADAL" clId="{24ECC1A8-903B-4425-987D-D070F5BACD1C}" dt="2023-08-21T17:03:23.112" v="8"/>
          <ac:spMkLst>
            <pc:docMk/>
            <pc:sldMk cId="3888746925" sldId="315"/>
            <ac:spMk id="2" creationId="{A4889E13-DD68-CF7D-B895-C2310F52EB2B}"/>
          </ac:spMkLst>
        </pc:spChg>
      </pc:sldChg>
      <pc:sldChg chg="addSp modSp">
        <pc:chgData name="Paul Winser" userId="c3146a91-e6bd-4264-bd86-e164e04bc32d" providerId="ADAL" clId="{24ECC1A8-903B-4425-987D-D070F5BACD1C}" dt="2023-08-21T17:03:30.391" v="15"/>
        <pc:sldMkLst>
          <pc:docMk/>
          <pc:sldMk cId="2319079120" sldId="316"/>
        </pc:sldMkLst>
        <pc:spChg chg="add mod">
          <ac:chgData name="Paul Winser" userId="c3146a91-e6bd-4264-bd86-e164e04bc32d" providerId="ADAL" clId="{24ECC1A8-903B-4425-987D-D070F5BACD1C}" dt="2023-08-21T17:03:30.391" v="15"/>
          <ac:spMkLst>
            <pc:docMk/>
            <pc:sldMk cId="2319079120" sldId="316"/>
            <ac:spMk id="3" creationId="{1AD3447C-93A5-23ED-B19C-D5245942509A}"/>
          </ac:spMkLst>
        </pc:spChg>
      </pc:sldChg>
      <pc:sldChg chg="addSp modSp">
        <pc:chgData name="Paul Winser" userId="c3146a91-e6bd-4264-bd86-e164e04bc32d" providerId="ADAL" clId="{24ECC1A8-903B-4425-987D-D070F5BACD1C}" dt="2023-08-21T17:03:43.714" v="27"/>
        <pc:sldMkLst>
          <pc:docMk/>
          <pc:sldMk cId="3125715652" sldId="317"/>
        </pc:sldMkLst>
        <pc:spChg chg="add mod">
          <ac:chgData name="Paul Winser" userId="c3146a91-e6bd-4264-bd86-e164e04bc32d" providerId="ADAL" clId="{24ECC1A8-903B-4425-987D-D070F5BACD1C}" dt="2023-08-21T17:03:43.714" v="27"/>
          <ac:spMkLst>
            <pc:docMk/>
            <pc:sldMk cId="3125715652" sldId="317"/>
            <ac:spMk id="4" creationId="{CF52740A-F692-3E22-3ED1-372BA80FCD3B}"/>
          </ac:spMkLst>
        </pc:spChg>
      </pc:sldChg>
      <pc:sldChg chg="addSp modSp">
        <pc:chgData name="Paul Winser" userId="c3146a91-e6bd-4264-bd86-e164e04bc32d" providerId="ADAL" clId="{24ECC1A8-903B-4425-987D-D070F5BACD1C}" dt="2023-08-21T17:03:36.113" v="20"/>
        <pc:sldMkLst>
          <pc:docMk/>
          <pc:sldMk cId="2887815886" sldId="318"/>
        </pc:sldMkLst>
        <pc:spChg chg="add mod">
          <ac:chgData name="Paul Winser" userId="c3146a91-e6bd-4264-bd86-e164e04bc32d" providerId="ADAL" clId="{24ECC1A8-903B-4425-987D-D070F5BACD1C}" dt="2023-08-21T17:03:36.113" v="20"/>
          <ac:spMkLst>
            <pc:docMk/>
            <pc:sldMk cId="2887815886" sldId="318"/>
            <ac:spMk id="2" creationId="{10A1A2DF-1AFB-FE14-635A-45AAEFAD1059}"/>
          </ac:spMkLst>
        </pc:spChg>
      </pc:sldChg>
      <pc:sldChg chg="addSp modSp">
        <pc:chgData name="Paul Winser" userId="c3146a91-e6bd-4264-bd86-e164e04bc32d" providerId="ADAL" clId="{24ECC1A8-903B-4425-987D-D070F5BACD1C}" dt="2023-08-21T17:03:34.632" v="19"/>
        <pc:sldMkLst>
          <pc:docMk/>
          <pc:sldMk cId="1984155475" sldId="319"/>
        </pc:sldMkLst>
        <pc:spChg chg="add mod">
          <ac:chgData name="Paul Winser" userId="c3146a91-e6bd-4264-bd86-e164e04bc32d" providerId="ADAL" clId="{24ECC1A8-903B-4425-987D-D070F5BACD1C}" dt="2023-08-21T17:03:34.632" v="19"/>
          <ac:spMkLst>
            <pc:docMk/>
            <pc:sldMk cId="1984155475" sldId="319"/>
            <ac:spMk id="2" creationId="{24C27B6A-60D6-35BE-91AE-FA3B30F40D79}"/>
          </ac:spMkLst>
        </pc:spChg>
      </pc:sldChg>
      <pc:sldChg chg="addSp modSp">
        <pc:chgData name="Paul Winser" userId="c3146a91-e6bd-4264-bd86-e164e04bc32d" providerId="ADAL" clId="{24ECC1A8-903B-4425-987D-D070F5BACD1C}" dt="2023-08-21T17:03:47.313" v="30"/>
        <pc:sldMkLst>
          <pc:docMk/>
          <pc:sldMk cId="2091103061" sldId="321"/>
        </pc:sldMkLst>
        <pc:spChg chg="add mod">
          <ac:chgData name="Paul Winser" userId="c3146a91-e6bd-4264-bd86-e164e04bc32d" providerId="ADAL" clId="{24ECC1A8-903B-4425-987D-D070F5BACD1C}" dt="2023-08-21T17:03:47.313" v="30"/>
          <ac:spMkLst>
            <pc:docMk/>
            <pc:sldMk cId="2091103061" sldId="321"/>
            <ac:spMk id="2" creationId="{AF0D08C8-91D3-2EB5-8587-CAB1FA8DFD7B}"/>
          </ac:spMkLst>
        </pc:spChg>
      </pc:sldChg>
      <pc:sldChg chg="addSp modSp">
        <pc:chgData name="Paul Winser" userId="c3146a91-e6bd-4264-bd86-e164e04bc32d" providerId="ADAL" clId="{24ECC1A8-903B-4425-987D-D070F5BACD1C}" dt="2023-08-21T17:03:26.657" v="12"/>
        <pc:sldMkLst>
          <pc:docMk/>
          <pc:sldMk cId="2083218832" sldId="322"/>
        </pc:sldMkLst>
        <pc:spChg chg="add mod">
          <ac:chgData name="Paul Winser" userId="c3146a91-e6bd-4264-bd86-e164e04bc32d" providerId="ADAL" clId="{24ECC1A8-903B-4425-987D-D070F5BACD1C}" dt="2023-08-21T17:03:26.657" v="12"/>
          <ac:spMkLst>
            <pc:docMk/>
            <pc:sldMk cId="2083218832" sldId="322"/>
            <ac:spMk id="2" creationId="{C14DE23A-BE3C-C80B-3BC9-197C771AE667}"/>
          </ac:spMkLst>
        </pc:spChg>
      </pc:sldChg>
      <pc:sldChg chg="addSp modSp">
        <pc:chgData name="Paul Winser" userId="c3146a91-e6bd-4264-bd86-e164e04bc32d" providerId="ADAL" clId="{24ECC1A8-903B-4425-987D-D070F5BACD1C}" dt="2023-08-21T17:03:41.108" v="24"/>
        <pc:sldMkLst>
          <pc:docMk/>
          <pc:sldMk cId="1949860605" sldId="323"/>
        </pc:sldMkLst>
        <pc:spChg chg="add mod">
          <ac:chgData name="Paul Winser" userId="c3146a91-e6bd-4264-bd86-e164e04bc32d" providerId="ADAL" clId="{24ECC1A8-903B-4425-987D-D070F5BACD1C}" dt="2023-08-21T17:03:41.108" v="24"/>
          <ac:spMkLst>
            <pc:docMk/>
            <pc:sldMk cId="1949860605" sldId="323"/>
            <ac:spMk id="2" creationId="{16A59ACE-B66A-45A6-63BF-94DFF14DF674}"/>
          </ac:spMkLst>
        </pc:spChg>
      </pc:sldChg>
      <pc:sldChg chg="addSp modSp">
        <pc:chgData name="Paul Winser" userId="c3146a91-e6bd-4264-bd86-e164e04bc32d" providerId="ADAL" clId="{24ECC1A8-903B-4425-987D-D070F5BACD1C}" dt="2023-08-21T17:03:37.854" v="21"/>
        <pc:sldMkLst>
          <pc:docMk/>
          <pc:sldMk cId="2515995306" sldId="324"/>
        </pc:sldMkLst>
        <pc:spChg chg="add mod">
          <ac:chgData name="Paul Winser" userId="c3146a91-e6bd-4264-bd86-e164e04bc32d" providerId="ADAL" clId="{24ECC1A8-903B-4425-987D-D070F5BACD1C}" dt="2023-08-21T17:03:37.854" v="21"/>
          <ac:spMkLst>
            <pc:docMk/>
            <pc:sldMk cId="2515995306" sldId="324"/>
            <ac:spMk id="2" creationId="{25411997-D401-3CDC-E6A9-E7F3115F0C55}"/>
          </ac:spMkLst>
        </pc:spChg>
      </pc:sldChg>
      <pc:sldChg chg="addSp modSp">
        <pc:chgData name="Paul Winser" userId="c3146a91-e6bd-4264-bd86-e164e04bc32d" providerId="ADAL" clId="{24ECC1A8-903B-4425-987D-D070F5BACD1C}" dt="2023-08-21T17:03:44.850" v="28"/>
        <pc:sldMkLst>
          <pc:docMk/>
          <pc:sldMk cId="4110483107" sldId="325"/>
        </pc:sldMkLst>
        <pc:spChg chg="add mod">
          <ac:chgData name="Paul Winser" userId="c3146a91-e6bd-4264-bd86-e164e04bc32d" providerId="ADAL" clId="{24ECC1A8-903B-4425-987D-D070F5BACD1C}" dt="2023-08-21T17:03:44.850" v="28"/>
          <ac:spMkLst>
            <pc:docMk/>
            <pc:sldMk cId="4110483107" sldId="325"/>
            <ac:spMk id="2" creationId="{24D2FCA1-730B-16AD-FCA5-594D97E84AA3}"/>
          </ac:spMkLst>
        </pc:spChg>
      </pc:sldChg>
      <pc:sldChg chg="addSp modSp">
        <pc:chgData name="Paul Winser" userId="c3146a91-e6bd-4264-bd86-e164e04bc32d" providerId="ADAL" clId="{24ECC1A8-903B-4425-987D-D070F5BACD1C}" dt="2023-08-21T17:03:45.736" v="29"/>
        <pc:sldMkLst>
          <pc:docMk/>
          <pc:sldMk cId="3502415882" sldId="326"/>
        </pc:sldMkLst>
        <pc:spChg chg="add mod">
          <ac:chgData name="Paul Winser" userId="c3146a91-e6bd-4264-bd86-e164e04bc32d" providerId="ADAL" clId="{24ECC1A8-903B-4425-987D-D070F5BACD1C}" dt="2023-08-21T17:03:45.736" v="29"/>
          <ac:spMkLst>
            <pc:docMk/>
            <pc:sldMk cId="3502415882" sldId="326"/>
            <ac:spMk id="2" creationId="{84F6DC00-086E-02B6-0F89-E7A13A979D40}"/>
          </ac:spMkLst>
        </pc:spChg>
      </pc:sldChg>
      <pc:sldChg chg="addSp modSp">
        <pc:chgData name="Paul Winser" userId="c3146a91-e6bd-4264-bd86-e164e04bc32d" providerId="ADAL" clId="{24ECC1A8-903B-4425-987D-D070F5BACD1C}" dt="2023-08-21T17:03:23.794" v="9"/>
        <pc:sldMkLst>
          <pc:docMk/>
          <pc:sldMk cId="4046282619" sldId="327"/>
        </pc:sldMkLst>
        <pc:spChg chg="add mod">
          <ac:chgData name="Paul Winser" userId="c3146a91-e6bd-4264-bd86-e164e04bc32d" providerId="ADAL" clId="{24ECC1A8-903B-4425-987D-D070F5BACD1C}" dt="2023-08-21T17:03:23.794" v="9"/>
          <ac:spMkLst>
            <pc:docMk/>
            <pc:sldMk cId="4046282619" sldId="327"/>
            <ac:spMk id="2" creationId="{475DD0D0-515A-B43D-8C9C-E3C4B119A324}"/>
          </ac:spMkLst>
        </pc:spChg>
      </pc:sldChg>
      <pc:sldChg chg="addSp modSp">
        <pc:chgData name="Paul Winser" userId="c3146a91-e6bd-4264-bd86-e164e04bc32d" providerId="ADAL" clId="{24ECC1A8-903B-4425-987D-D070F5BACD1C}" dt="2023-08-21T17:03:24.883" v="10"/>
        <pc:sldMkLst>
          <pc:docMk/>
          <pc:sldMk cId="831091160" sldId="328"/>
        </pc:sldMkLst>
        <pc:spChg chg="add mod">
          <ac:chgData name="Paul Winser" userId="c3146a91-e6bd-4264-bd86-e164e04bc32d" providerId="ADAL" clId="{24ECC1A8-903B-4425-987D-D070F5BACD1C}" dt="2023-08-21T17:03:24.883" v="10"/>
          <ac:spMkLst>
            <pc:docMk/>
            <pc:sldMk cId="831091160" sldId="328"/>
            <ac:spMk id="3" creationId="{C1AE6D35-FEE3-7D75-80F9-8D77EA676D48}"/>
          </ac:spMkLst>
        </pc:spChg>
      </pc:sldChg>
      <pc:sldChg chg="addSp modSp">
        <pc:chgData name="Paul Winser" userId="c3146a91-e6bd-4264-bd86-e164e04bc32d" providerId="ADAL" clId="{24ECC1A8-903B-4425-987D-D070F5BACD1C}" dt="2023-08-21T17:03:25.921" v="11"/>
        <pc:sldMkLst>
          <pc:docMk/>
          <pc:sldMk cId="2674737577" sldId="329"/>
        </pc:sldMkLst>
        <pc:spChg chg="add mod">
          <ac:chgData name="Paul Winser" userId="c3146a91-e6bd-4264-bd86-e164e04bc32d" providerId="ADAL" clId="{24ECC1A8-903B-4425-987D-D070F5BACD1C}" dt="2023-08-21T17:03:25.921" v="11"/>
          <ac:spMkLst>
            <pc:docMk/>
            <pc:sldMk cId="2674737577" sldId="329"/>
            <ac:spMk id="3" creationId="{415913D7-BDC3-21F2-F875-0410F165B3D6}"/>
          </ac:spMkLst>
        </pc:spChg>
      </pc:sldChg>
      <pc:sldChg chg="addSp modSp">
        <pc:chgData name="Paul Winser" userId="c3146a91-e6bd-4264-bd86-e164e04bc32d" providerId="ADAL" clId="{24ECC1A8-903B-4425-987D-D070F5BACD1C}" dt="2023-08-21T17:03:27.875" v="13"/>
        <pc:sldMkLst>
          <pc:docMk/>
          <pc:sldMk cId="1424882250" sldId="330"/>
        </pc:sldMkLst>
        <pc:spChg chg="add mod">
          <ac:chgData name="Paul Winser" userId="c3146a91-e6bd-4264-bd86-e164e04bc32d" providerId="ADAL" clId="{24ECC1A8-903B-4425-987D-D070F5BACD1C}" dt="2023-08-21T17:03:27.875" v="13"/>
          <ac:spMkLst>
            <pc:docMk/>
            <pc:sldMk cId="1424882250" sldId="330"/>
            <ac:spMk id="2" creationId="{0E56FE5F-E15A-89D5-6E1C-FFA62C0C2BB1}"/>
          </ac:spMkLst>
        </pc:spChg>
      </pc:sldChg>
      <pc:sldChg chg="addSp modSp">
        <pc:chgData name="Paul Winser" userId="c3146a91-e6bd-4264-bd86-e164e04bc32d" providerId="ADAL" clId="{24ECC1A8-903B-4425-987D-D070F5BACD1C}" dt="2023-08-21T17:03:29.059" v="14"/>
        <pc:sldMkLst>
          <pc:docMk/>
          <pc:sldMk cId="2432596727" sldId="331"/>
        </pc:sldMkLst>
        <pc:spChg chg="add mod">
          <ac:chgData name="Paul Winser" userId="c3146a91-e6bd-4264-bd86-e164e04bc32d" providerId="ADAL" clId="{24ECC1A8-903B-4425-987D-D070F5BACD1C}" dt="2023-08-21T17:03:29.059" v="14"/>
          <ac:spMkLst>
            <pc:docMk/>
            <pc:sldMk cId="2432596727" sldId="331"/>
            <ac:spMk id="2" creationId="{3C8009D0-250E-964D-24AF-0B24C20A3704}"/>
          </ac:spMkLst>
        </pc:spChg>
      </pc:sldChg>
      <pc:sldChg chg="addSp modSp">
        <pc:chgData name="Paul Winser" userId="c3146a91-e6bd-4264-bd86-e164e04bc32d" providerId="ADAL" clId="{24ECC1A8-903B-4425-987D-D070F5BACD1C}" dt="2023-08-21T17:03:31.537" v="16"/>
        <pc:sldMkLst>
          <pc:docMk/>
          <pc:sldMk cId="3047095358" sldId="332"/>
        </pc:sldMkLst>
        <pc:spChg chg="add mod">
          <ac:chgData name="Paul Winser" userId="c3146a91-e6bd-4264-bd86-e164e04bc32d" providerId="ADAL" clId="{24ECC1A8-903B-4425-987D-D070F5BACD1C}" dt="2023-08-21T17:03:31.537" v="16"/>
          <ac:spMkLst>
            <pc:docMk/>
            <pc:sldMk cId="3047095358" sldId="332"/>
            <ac:spMk id="2" creationId="{D091A10E-5664-4840-950A-395F522E9AF7}"/>
          </ac:spMkLst>
        </pc:spChg>
      </pc:sldChg>
      <pc:sldChg chg="addSp modSp">
        <pc:chgData name="Paul Winser" userId="c3146a91-e6bd-4264-bd86-e164e04bc32d" providerId="ADAL" clId="{24ECC1A8-903B-4425-987D-D070F5BACD1C}" dt="2023-08-21T17:03:32.196" v="17"/>
        <pc:sldMkLst>
          <pc:docMk/>
          <pc:sldMk cId="1692461516" sldId="333"/>
        </pc:sldMkLst>
        <pc:spChg chg="add mod">
          <ac:chgData name="Paul Winser" userId="c3146a91-e6bd-4264-bd86-e164e04bc32d" providerId="ADAL" clId="{24ECC1A8-903B-4425-987D-D070F5BACD1C}" dt="2023-08-21T17:03:32.196" v="17"/>
          <ac:spMkLst>
            <pc:docMk/>
            <pc:sldMk cId="1692461516" sldId="333"/>
            <ac:spMk id="2" creationId="{00589A65-65F1-6EB5-6198-932265169011}"/>
          </ac:spMkLst>
        </pc:spChg>
      </pc:sldChg>
      <pc:sldChg chg="addSp modSp">
        <pc:chgData name="Paul Winser" userId="c3146a91-e6bd-4264-bd86-e164e04bc32d" providerId="ADAL" clId="{24ECC1A8-903B-4425-987D-D070F5BACD1C}" dt="2023-08-21T17:03:33.543" v="18"/>
        <pc:sldMkLst>
          <pc:docMk/>
          <pc:sldMk cId="2626036616" sldId="334"/>
        </pc:sldMkLst>
        <pc:spChg chg="add mod">
          <ac:chgData name="Paul Winser" userId="c3146a91-e6bd-4264-bd86-e164e04bc32d" providerId="ADAL" clId="{24ECC1A8-903B-4425-987D-D070F5BACD1C}" dt="2023-08-21T17:03:33.543" v="18"/>
          <ac:spMkLst>
            <pc:docMk/>
            <pc:sldMk cId="2626036616" sldId="334"/>
            <ac:spMk id="2" creationId="{9B040927-AD6A-9CBB-BDB0-DD9359CB7890}"/>
          </ac:spMkLst>
        </pc:spChg>
      </pc:sldChg>
      <pc:sldChg chg="addSp modSp">
        <pc:chgData name="Paul Winser" userId="c3146a91-e6bd-4264-bd86-e164e04bc32d" providerId="ADAL" clId="{24ECC1A8-903B-4425-987D-D070F5BACD1C}" dt="2023-08-21T17:03:38.841" v="22"/>
        <pc:sldMkLst>
          <pc:docMk/>
          <pc:sldMk cId="4143458753" sldId="335"/>
        </pc:sldMkLst>
        <pc:spChg chg="add mod">
          <ac:chgData name="Paul Winser" userId="c3146a91-e6bd-4264-bd86-e164e04bc32d" providerId="ADAL" clId="{24ECC1A8-903B-4425-987D-D070F5BACD1C}" dt="2023-08-21T17:03:38.841" v="22"/>
          <ac:spMkLst>
            <pc:docMk/>
            <pc:sldMk cId="4143458753" sldId="335"/>
            <ac:spMk id="2" creationId="{EB34811C-FFA5-AB02-BA46-D111D35E31DE}"/>
          </ac:spMkLst>
        </pc:spChg>
      </pc:sldChg>
      <pc:sldChg chg="addSp modSp">
        <pc:chgData name="Paul Winser" userId="c3146a91-e6bd-4264-bd86-e164e04bc32d" providerId="ADAL" clId="{24ECC1A8-903B-4425-987D-D070F5BACD1C}" dt="2023-08-21T17:03:39.917" v="23"/>
        <pc:sldMkLst>
          <pc:docMk/>
          <pc:sldMk cId="457080364" sldId="336"/>
        </pc:sldMkLst>
        <pc:spChg chg="add mod">
          <ac:chgData name="Paul Winser" userId="c3146a91-e6bd-4264-bd86-e164e04bc32d" providerId="ADAL" clId="{24ECC1A8-903B-4425-987D-D070F5BACD1C}" dt="2023-08-21T17:03:39.917" v="23"/>
          <ac:spMkLst>
            <pc:docMk/>
            <pc:sldMk cId="457080364" sldId="336"/>
            <ac:spMk id="2" creationId="{082934E6-A640-1AD2-8083-9BC347CFB87F}"/>
          </ac:spMkLst>
        </pc:spChg>
      </pc:sldChg>
      <pc:sldChg chg="addSp modSp">
        <pc:chgData name="Paul Winser" userId="c3146a91-e6bd-4264-bd86-e164e04bc32d" providerId="ADAL" clId="{24ECC1A8-903B-4425-987D-D070F5BACD1C}" dt="2023-08-21T17:03:42.159" v="25"/>
        <pc:sldMkLst>
          <pc:docMk/>
          <pc:sldMk cId="78075439" sldId="337"/>
        </pc:sldMkLst>
        <pc:spChg chg="add mod">
          <ac:chgData name="Paul Winser" userId="c3146a91-e6bd-4264-bd86-e164e04bc32d" providerId="ADAL" clId="{24ECC1A8-903B-4425-987D-D070F5BACD1C}" dt="2023-08-21T17:03:42.159" v="25"/>
          <ac:spMkLst>
            <pc:docMk/>
            <pc:sldMk cId="78075439" sldId="337"/>
            <ac:spMk id="2" creationId="{1C337B4C-E407-12FE-ADA2-60C91FE2732E}"/>
          </ac:spMkLst>
        </pc:spChg>
      </pc:sldChg>
      <pc:sldChg chg="addSp modSp">
        <pc:chgData name="Paul Winser" userId="c3146a91-e6bd-4264-bd86-e164e04bc32d" providerId="ADAL" clId="{24ECC1A8-903B-4425-987D-D070F5BACD1C}" dt="2023-08-21T17:03:43.228" v="26"/>
        <pc:sldMkLst>
          <pc:docMk/>
          <pc:sldMk cId="3816071946" sldId="338"/>
        </pc:sldMkLst>
        <pc:spChg chg="add mod">
          <ac:chgData name="Paul Winser" userId="c3146a91-e6bd-4264-bd86-e164e04bc32d" providerId="ADAL" clId="{24ECC1A8-903B-4425-987D-D070F5BACD1C}" dt="2023-08-21T17:03:43.228" v="26"/>
          <ac:spMkLst>
            <pc:docMk/>
            <pc:sldMk cId="3816071946" sldId="338"/>
            <ac:spMk id="2" creationId="{9F12B7DC-C222-A8C7-7219-6DC537EE6545}"/>
          </ac:spMkLst>
        </pc:spChg>
      </pc:sldChg>
      <pc:sldMasterChg chg="addSp delSp modSp">
        <pc:chgData name="Paul Winser" userId="c3146a91-e6bd-4264-bd86-e164e04bc32d" providerId="ADAL" clId="{24ECC1A8-903B-4425-987D-D070F5BACD1C}" dt="2023-08-21T17:03:04.529" v="2" actId="1076"/>
        <pc:sldMasterMkLst>
          <pc:docMk/>
          <pc:sldMasterMk cId="2455103762" sldId="2147484825"/>
        </pc:sldMasterMkLst>
        <pc:picChg chg="add mod">
          <ac:chgData name="Paul Winser" userId="c3146a91-e6bd-4264-bd86-e164e04bc32d" providerId="ADAL" clId="{24ECC1A8-903B-4425-987D-D070F5BACD1C}" dt="2023-08-21T17:03:04.529" v="2" actId="1076"/>
          <ac:picMkLst>
            <pc:docMk/>
            <pc:sldMasterMk cId="2455103762" sldId="2147484825"/>
            <ac:picMk id="2" creationId="{45C77626-C3E0-348B-553E-425FEB6F1E47}"/>
          </ac:picMkLst>
        </pc:picChg>
        <pc:picChg chg="del">
          <ac:chgData name="Paul Winser" userId="c3146a91-e6bd-4264-bd86-e164e04bc32d" providerId="ADAL" clId="{24ECC1A8-903B-4425-987D-D070F5BACD1C}" dt="2023-08-21T17:03:00.827" v="1" actId="478"/>
          <ac:picMkLst>
            <pc:docMk/>
            <pc:sldMasterMk cId="2455103762" sldId="2147484825"/>
            <ac:picMk id="14341" creationId="{FEDC9336-94D7-0F7A-9422-574A068E9570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 dirty="0"/>
              <a:t>Click to edit Master text styles</a:t>
            </a:r>
          </a:p>
          <a:p>
            <a:pPr lvl="1" rtl="1"/>
            <a:r>
              <a:rPr lang="ar" noProof="0" dirty="0"/>
              <a:t>Second level</a:t>
            </a:r>
          </a:p>
          <a:p>
            <a:pPr lvl="2" rtl="1"/>
            <a:r>
              <a:rPr lang="ar" noProof="0" dirty="0"/>
              <a:t>Third level</a:t>
            </a:r>
          </a:p>
          <a:p>
            <a:pPr lvl="3" rtl="1"/>
            <a:r>
              <a:rPr lang="ar" noProof="0" dirty="0"/>
              <a:t>Fourth level</a:t>
            </a:r>
          </a:p>
          <a:p>
            <a:pPr lvl="4" rtl="1"/>
            <a:r>
              <a:rPr lang="ar" noProof="0" dirty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b="1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effectLst/>
              <a:latin typeface="SymbolMT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71690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34110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b="1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09920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effectLst/>
              <a:latin typeface="OpenSans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37315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effectLst/>
              <a:latin typeface="SymbolMT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8993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91801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168873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807436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22877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b="1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266096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b="1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68876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746445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solidFill>
                <a:srgbClr val="231F20"/>
              </a:solidFill>
              <a:effectLst/>
              <a:latin typeface="ReithSans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869883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solidFill>
                <a:srgbClr val="231F20"/>
              </a:solidFill>
              <a:effectLst/>
              <a:latin typeface="ReithSans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75567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solidFill>
                <a:srgbClr val="231F20"/>
              </a:solidFill>
              <a:effectLst/>
              <a:latin typeface="ReithSans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657874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solidFill>
                <a:srgbClr val="231F20"/>
              </a:solidFill>
              <a:effectLst/>
              <a:latin typeface="ReithSans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356344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421704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083947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586301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514490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sz="2800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915323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2800" dirty="0">
              <a:effectLst/>
            </a:endParaRPr>
          </a:p>
          <a:p>
            <a:pPr rtl="1"/>
            <a:endParaRPr lang="en-GB" sz="2800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847158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2800" b="0" i="0" u="none" strike="noStrike" dirty="0">
              <a:solidFill>
                <a:srgbClr val="231F20"/>
              </a:solidFill>
              <a:effectLst/>
              <a:latin typeface="ReithSans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2800" dirty="0">
              <a:effectLst/>
            </a:endParaRPr>
          </a:p>
          <a:p>
            <a:pPr rtl="1"/>
            <a:endParaRPr lang="en-GB" sz="2800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83360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Blue 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Blue subhead</a:t>
            </a:r>
          </a:p>
          <a:p>
            <a:pPr rtl="1"/>
            <a:r>
              <a:rPr lang="ar" dirty="0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2020.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878450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image" Target="../media/image4.jpg"/><Relationship Id="rId2" Type="http://schemas.openxmlformats.org/officeDocument/2006/relationships/slideLayout" Target="../slideLayouts/slideLayout27.xml"/><Relationship Id="rId16" Type="http://schemas.openxmlformats.org/officeDocument/2006/relationships/audio" Target="../media/audio1.bin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image" Target="../media/image5.jpg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audio" Target="../media/audio1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image" Target="../media/image6.jpg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5" Type="http://schemas.openxmlformats.org/officeDocument/2006/relationships/image" Target="../media/image7.jpg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audio" Target="../media/audio1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8.jpg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image" Target="../media/image9.jpg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10.jp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5" Type="http://schemas.openxmlformats.org/officeDocument/2006/relationships/image" Target="../media/image11.jpg"/><Relationship Id="rId10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45C77626-C3E0-348B-553E-425FEB6F1E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  <p:sldLayoutId id="2147484931" r:id="rId14"/>
  </p:sldLayoutIdLst>
  <p:transition>
    <p:sndAc>
      <p:stSnd>
        <p:snd r:embed="rId16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0012F91A-CE7E-F9D0-49A0-525DD2185B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0" y="2130425"/>
            <a:ext cx="9144000" cy="2235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dirty="0"/>
              <a:t>الوحدة 3</a:t>
            </a:r>
            <a:br>
              <a:rPr lang="en-GB" altLang="en-US" dirty="0"/>
            </a:br>
            <a:r>
              <a:rPr lang="ar" dirty="0"/>
              <a:t>التنبؤ بالأداء المالي للشركة</a:t>
            </a:r>
            <a:br>
              <a:rPr lang="en-GB" altLang="en-US" dirty="0">
                <a:highlight>
                  <a:srgbClr val="FFFF00"/>
                </a:highlight>
              </a:rPr>
            </a:br>
            <a:br>
              <a:rPr lang="en-GB" altLang="en-US" dirty="0"/>
            </a:br>
            <a:br>
              <a:rPr lang="en-US" altLang="en-US" dirty="0"/>
            </a:br>
            <a:endParaRPr lang="en-GB" alt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BF4F6BA-41D2-4DD5-AD95-CCB3E15516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237312"/>
            <a:ext cx="9144000" cy="287337"/>
          </a:xfrm>
        </p:spPr>
        <p:txBody>
          <a:bodyPr wrap="square" rtlCol="1" anchor="t">
            <a:normAutofit lnSpcReduction="10000"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400" dirty="0"/>
              <a:t>© حقوق التأليف والنشر لعام 2023 محفوظة لشركة بيرسون إديوكيشن ليمتد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5FAD57-900E-71E3-9980-69EFB31A917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1" y="1340768"/>
            <a:ext cx="8229600" cy="15135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/>
              <a:t>التنبؤ بالأداء المالي للشركة</a:t>
            </a:r>
            <a:endParaRPr lang="en-GB" altLang="en-US" dirty="0">
              <a:highlight>
                <a:srgbClr val="FFFF00"/>
              </a:highlight>
            </a:endParaRP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76263" y="3068960"/>
            <a:ext cx="7991475" cy="35283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/>
              <a:t>سيتعرف المتعلمون في هذه الوحدة على تكاليف وإيرادات مختلف الشركات، وكيف تحاول كل شركة تحقيق أرباح.</a:t>
            </a:r>
          </a:p>
          <a:p>
            <a:pPr marL="0" indent="0" rtl="1">
              <a:buNone/>
            </a:pPr>
            <a:endParaRPr lang="en-GB" altLang="en-US" dirty="0"/>
          </a:p>
          <a:p>
            <a:pPr marL="0" indent="0" rtl="1">
              <a:buNone/>
            </a:pPr>
            <a:r>
              <a:rPr lang="ar"/>
              <a:t>وسيتعرفون كذلك على التنبؤ بالأداء المالي وكيف يمكن أن يساعدهم استخدام تحليل نقطة التعادل والتنبؤ بالتدفق النقدي في التخطيط.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2B59A57-31F9-9817-C1D7-BF9C6C6E261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484784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/>
              <a:t>أهداف التعلم (أ) و(ب)</a:t>
            </a:r>
            <a:endParaRPr lang="en-GB" altLang="en-US" dirty="0"/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8312" y="2627313"/>
            <a:ext cx="7991475" cy="252987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defTabSz="431800" rtl="1">
              <a:buFont typeface="Wingdings" panose="05000000000000000000" pitchFamily="2" charset="2"/>
              <a:buNone/>
            </a:pPr>
            <a:endParaRPr lang="en-GB" altLang="en-US" b="1" dirty="0"/>
          </a:p>
          <a:p>
            <a:pPr marL="0" indent="0" defTabSz="431800" rtl="1">
              <a:buNone/>
            </a:pPr>
            <a:r>
              <a:rPr lang="ar" sz="2800" b="1" dirty="0"/>
              <a:t>(أ) 	</a:t>
            </a:r>
            <a:r>
              <a:rPr lang="ar" sz="2800" dirty="0"/>
              <a:t> التعرف على تكاليف المؤسسة التجارية وإيراداتها لحساب الربح
 </a:t>
            </a:r>
            <a:br>
              <a:rPr lang="en-GB" altLang="en-US" sz="2800" b="1" dirty="0"/>
            </a:br>
            <a:r>
              <a:rPr lang="ar" sz="2800" b="1" dirty="0"/>
              <a:t>(ب) </a:t>
            </a:r>
            <a:r>
              <a:rPr lang="ar" sz="2800" dirty="0"/>
              <a:t>التعرف على تحليل نقطة التعادل والتنبؤ بالتدفق النقدي. </a:t>
            </a:r>
            <a:br>
              <a:rPr lang="en-GB" altLang="en-US" dirty="0"/>
            </a:br>
            <a:r>
              <a:rPr lang="ar" dirty="0"/>
              <a:t>	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A54BDB5-02A1-C2ED-8D41-13A8F8F57FA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481993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/>
              <a:t>مجالات الدراسة لهدف التعلم (أ)</a:t>
            </a: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3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92332" y="3212976"/>
            <a:ext cx="7991475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 dirty="0"/>
              <a:t>تكاليف الشركة </a:t>
            </a:r>
          </a:p>
          <a:p>
            <a:pPr rtl="1"/>
            <a:r>
              <a:rPr lang="ar" sz="2800" dirty="0"/>
              <a:t>الإيرادات </a:t>
            </a:r>
          </a:p>
          <a:p>
            <a:pPr rtl="1"/>
            <a:r>
              <a:rPr lang="ar" sz="2800" dirty="0"/>
              <a:t>الربح </a:t>
            </a:r>
          </a:p>
          <a:p>
            <a:pPr marL="0" indent="0" rtl="1">
              <a:buNone/>
            </a:pPr>
            <a:r>
              <a:rPr lang="ar" dirty="0"/>
              <a:t>وتُقسم كل من هذه إلى عدة معايير تقييم (م ت) مثل </a:t>
            </a:r>
            <a:r>
              <a:rPr lang="en-US" dirty="0"/>
              <a:t>A.P1 </a:t>
            </a:r>
            <a:r>
              <a:rPr lang="ar" dirty="0"/>
              <a:t>،</a:t>
            </a:r>
            <a:r>
              <a:rPr lang="en-US" dirty="0"/>
              <a:t>A.P2</a:t>
            </a:r>
          </a:p>
          <a:p>
            <a:pPr marL="0" indent="0" rtl="1">
              <a:buNone/>
            </a:pPr>
            <a:endParaRPr lang="en-GB" sz="28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780" y="2277939"/>
            <a:ext cx="7991475" cy="1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التعرف على تكاليف المؤسسة التجارية وإيراداتها لحساب الربح</a:t>
            </a:r>
            <a:br>
              <a:rPr lang="en-US" altLang="en-US" sz="3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5778A28-588D-C00A-B173-8604CDF955C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 sz="2400"/>
              <a:t> </a:t>
            </a:r>
            <a:br>
              <a:rPr lang="en-US" altLang="en-US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r>
              <a:rPr lang="ar"/>
              <a:t>(أ1) تكاليف الشركة (1) </a:t>
            </a:r>
            <a:br>
              <a:rPr lang="en-GB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75705" y="2219326"/>
            <a:ext cx="8211095" cy="3443286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indent="0" rtl="1">
              <a:buNone/>
            </a:pPr>
            <a:r>
              <a:rPr lang="ar" sz="3200"/>
              <a:t>استكشف أنواع التكاليف التي قد تتحملها الشركة:</a:t>
            </a:r>
          </a:p>
          <a:p>
            <a:pPr marL="400050" rtl="1">
              <a:spcBef>
                <a:spcPct val="30000"/>
              </a:spcBef>
              <a:defRPr/>
            </a:pPr>
            <a:r>
              <a:rPr lang="ar" sz="3200" b="1">
                <a:effectLst/>
              </a:rPr>
              <a:t>تكاليف الإنشاء</a:t>
            </a:r>
            <a:r>
              <a:rPr lang="ar" sz="3200">
                <a:effectLst/>
              </a:rPr>
              <a:t> </a:t>
            </a:r>
            <a:r>
              <a:rPr lang="ar" sz="3200" b="0" i="0" u="none" strike="noStrike">
                <a:solidFill>
                  <a:srgbClr val="1C1B18"/>
                </a:solidFill>
                <a:effectLst/>
              </a:rPr>
              <a:t>مثل التكاليف البحثية وتكاليف مع قبل البدء</a:t>
            </a:r>
            <a:endParaRPr lang="en-GB" sz="3200" dirty="0">
              <a:effectLst/>
            </a:endParaRPr>
          </a:p>
          <a:p>
            <a:pPr marL="400050" rtl="1">
              <a:spcBef>
                <a:spcPct val="30000"/>
              </a:spcBef>
              <a:defRPr/>
            </a:pPr>
            <a:r>
              <a:rPr lang="ar" sz="3200" b="1">
                <a:effectLst/>
              </a:rPr>
              <a:t>تكاليف التشغيل </a:t>
            </a:r>
            <a:r>
              <a:rPr lang="ar" sz="3200">
                <a:effectLst/>
              </a:rPr>
              <a:t>(يشار إليها أحيانًا باسم تكاليف الإدارة)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FC2D2CD-1433-C54A-0D93-42D953BF49E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30385933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 sz="2400"/>
              <a:t> </a:t>
            </a:r>
            <a:br>
              <a:rPr lang="en-US" altLang="en-US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r>
              <a:rPr lang="ar"/>
              <a:t>(أ1) تكاليف الشركة (2) </a:t>
            </a:r>
            <a:br>
              <a:rPr lang="en-GB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55576" y="2092550"/>
            <a:ext cx="7643192" cy="450480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marL="514350" indent="-457200" rtl="1">
              <a:lnSpc>
                <a:spcPct val="120000"/>
              </a:lnSpc>
            </a:pPr>
            <a:r>
              <a:rPr lang="ar" sz="3400" b="1" dirty="0"/>
              <a:t>تكاليف الإنشاء </a:t>
            </a:r>
            <a:r>
              <a:rPr lang="ar" sz="3400" dirty="0"/>
              <a:t>- الأشياء التي يجب على الشركة شرائها قبل بدء التجارة</a:t>
            </a:r>
          </a:p>
          <a:p>
            <a:pPr marL="514350" indent="-457200" rtl="1">
              <a:lnSpc>
                <a:spcPct val="120000"/>
              </a:lnSpc>
            </a:pPr>
            <a:r>
              <a:rPr lang="ar" sz="3400" dirty="0"/>
              <a:t>يُستخدم </a:t>
            </a:r>
            <a:r>
              <a:rPr lang="ar" sz="3400" b="1" dirty="0"/>
              <a:t>رأسمال الإنشاء</a:t>
            </a:r>
            <a:r>
              <a:rPr lang="ar" sz="3400" dirty="0"/>
              <a:t> لشراء بنود مثل:</a:t>
            </a:r>
            <a:endParaRPr lang="en-GB" sz="3400" dirty="0"/>
          </a:p>
          <a:p>
            <a:pPr lvl="1" rt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ar" sz="34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المركبات</a:t>
            </a:r>
          </a:p>
          <a:p>
            <a:pPr lvl="1" rt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ar" sz="34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الآلات</a:t>
            </a:r>
          </a:p>
          <a:p>
            <a:pPr lvl="1" rt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ar" sz="34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المعدات</a:t>
            </a:r>
          </a:p>
          <a:p>
            <a:pPr lvl="1" rt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ar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أجهزة الكمبيوتر/ اللابتوب/ التابلت</a:t>
            </a:r>
            <a:endParaRPr lang="en-GB" sz="34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ar" sz="34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التركيبات والتجهيزات </a:t>
            </a:r>
          </a:p>
          <a:p>
            <a:pPr marL="457200" lvl="1" indent="0" rtl="1">
              <a:buNone/>
            </a:pPr>
            <a:r>
              <a:rPr lang="ar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4889E13-DD68-CF7D-B895-C2310F52EB2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8887469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 sz="2400"/>
              <a:t> </a:t>
            </a:r>
            <a:br>
              <a:rPr lang="en-US" altLang="en-US" sz="2400" dirty="0"/>
            </a:br>
            <a:br>
              <a:rPr lang="en-US" altLang="en-US" sz="2400" dirty="0"/>
            </a:br>
            <a:r>
              <a:rPr lang="ar"/>
              <a:t>(أ1) تكاليف الشركة (3) </a:t>
            </a:r>
            <a:br>
              <a:rPr lang="en-GB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139BA-FF4D-1AB4-F3F1-C705437C5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844824"/>
            <a:ext cx="8075240" cy="5013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r>
              <a:rPr lang="ar" sz="2800" dirty="0">
                <a:effectLst/>
                <a:latin typeface="OpenSans"/>
                <a:cs typeface="Sakkal Majalla" panose="02000000000000000000" pitchFamily="2" charset="-78"/>
              </a:rPr>
              <a:t>التكاليف اليومية وتُسمى </a:t>
            </a:r>
            <a:r>
              <a:rPr lang="ar" sz="2800" b="1" dirty="0">
                <a:effectLst/>
                <a:latin typeface="OpenSans"/>
                <a:cs typeface="Sakkal Majalla" panose="02000000000000000000" pitchFamily="2" charset="-78"/>
              </a:rPr>
              <a:t>تكاليف التشغيل:</a:t>
            </a:r>
          </a:p>
          <a:p>
            <a:pPr rtl="1"/>
            <a:r>
              <a:rPr lang="ar" sz="2800" b="1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التكاليف الثابتة</a:t>
            </a:r>
            <a:r>
              <a:rPr lang="ar" sz="28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التأمين والمرافق (الكهرباء والغاز والهاتف والإنترنت) والإيجار المدفوع مقابل أسعار البناء والأعمال. </a:t>
            </a:r>
          </a:p>
          <a:p>
            <a:pPr rtl="1"/>
            <a:r>
              <a:rPr lang="ar" sz="2800" b="1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التكاليف المتغيرة</a:t>
            </a:r>
            <a:r>
              <a:rPr lang="ar" sz="28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المواد الخام والبريد والتعبئة والتغليف وأجور الموظفين.</a:t>
            </a:r>
          </a:p>
          <a:p>
            <a:pPr rtl="1"/>
            <a:r>
              <a:rPr lang="ar" sz="2800" b="1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إجمالي التكاليف = </a:t>
            </a:r>
            <a:r>
              <a:rPr lang="ar" sz="2800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(التكاليف الثابتة + التكاليف المتغيرة) </a:t>
            </a:r>
          </a:p>
          <a:p>
            <a:pPr marL="0" indent="0" rtl="1">
              <a:buNone/>
            </a:pPr>
            <a:r>
              <a:rPr lang="ar" sz="2800" dirty="0">
                <a:effectLst/>
                <a:latin typeface="OpenSans"/>
                <a:cs typeface="Sakkal Majalla" panose="02000000000000000000" pitchFamily="2" charset="-78"/>
              </a:rPr>
              <a:t>من المهم </a:t>
            </a:r>
            <a:r>
              <a:rPr lang="ar" sz="2800" b="1" dirty="0">
                <a:effectLst/>
                <a:latin typeface="OpenSans"/>
                <a:cs typeface="Sakkal Majalla" panose="02000000000000000000" pitchFamily="2" charset="-78"/>
              </a:rPr>
              <a:t>الحد</a:t>
            </a:r>
            <a:r>
              <a:rPr lang="ar" sz="2800" dirty="0">
                <a:effectLst/>
                <a:latin typeface="OpenSans"/>
                <a:cs typeface="Sakkal Majalla" panose="02000000000000000000" pitchFamily="2" charset="-78"/>
              </a:rPr>
              <a:t> من هذه التكاليف متى أمكن.</a:t>
            </a:r>
            <a:endParaRPr lang="en-GB" sz="28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75DD0D0-515A-B43D-8C9C-E3C4B119A32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04628261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40768"/>
            <a:ext cx="8229600" cy="7200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/>
              <a:t> (أ2) الإيرادات (1)</a:t>
            </a:r>
            <a:br>
              <a:rPr lang="en-GB" sz="4400" dirty="0"/>
            </a:br>
            <a:br>
              <a:rPr lang="en-US" altLang="en-US" dirty="0"/>
            </a:br>
            <a:br>
              <a:rPr lang="en-US" altLang="en-US" dirty="0"/>
            </a:br>
            <a:endParaRPr lang="en-GB" alt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E88A3C-BEE6-9B71-15AF-9E241A6C2675}"/>
              </a:ext>
            </a:extLst>
          </p:cNvPr>
          <p:cNvSpPr txBox="1"/>
          <p:nvPr/>
        </p:nvSpPr>
        <p:spPr>
          <a:xfrm>
            <a:off x="457201" y="2276872"/>
            <a:ext cx="7743421" cy="35394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مصادر الإيرادات:</a:t>
            </a:r>
          </a:p>
          <a:p>
            <a:pPr rtl="1"/>
            <a:endParaRPr lang="en-GB" sz="32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914400" lvl="1" indent="-457200" rtl="1">
              <a:buFont typeface="Arial" panose="020B0604020202020204" pitchFamily="34" charset="0"/>
              <a:buChar char="•"/>
            </a:pPr>
            <a:r>
              <a:rPr lang="ar" sz="3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الإيرادات المتأتية من مبيعات السلع أو الخدمات (مصادر الإيرادات)</a:t>
            </a:r>
          </a:p>
          <a:p>
            <a:pPr marL="914400" lvl="1" indent="-457200" rtl="1">
              <a:buFont typeface="Arial" panose="020B0604020202020204" pitchFamily="34" charset="0"/>
              <a:buChar char="•"/>
            </a:pPr>
            <a:r>
              <a:rPr lang="ar" sz="3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الفائدة على المدخرات </a:t>
            </a:r>
          </a:p>
          <a:p>
            <a:pPr marL="914400" lvl="1" indent="-457200" rtl="1">
              <a:buFont typeface="Arial" panose="020B0604020202020204" pitchFamily="34" charset="0"/>
              <a:buChar char="•"/>
            </a:pPr>
            <a:r>
              <a:rPr lang="ar" sz="3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الدخل الإيجاري من الخدمات المؤقتة</a:t>
            </a:r>
          </a:p>
          <a:p>
            <a:pPr marL="914400" lvl="1" indent="-457200" rtl="1">
              <a:buFont typeface="Arial" panose="020B0604020202020204" pitchFamily="34" charset="0"/>
              <a:buChar char="•"/>
            </a:pPr>
            <a:r>
              <a:rPr lang="ar" sz="3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الدخل المتحصل من عقود الإيجار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AE6D35-FEE3-7D75-80F9-8D77EA676D4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3109116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40768"/>
            <a:ext cx="8229600" cy="7200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/>
              <a:t> (أ2) الإيرادات (2)</a:t>
            </a:r>
            <a:br>
              <a:rPr lang="en-GB" sz="4400" dirty="0"/>
            </a:br>
            <a:br>
              <a:rPr lang="en-US" altLang="en-US" dirty="0"/>
            </a:br>
            <a:br>
              <a:rPr lang="en-US" altLang="en-US" dirty="0"/>
            </a:br>
            <a:endParaRPr lang="en-GB" alt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E88A3C-BEE6-9B71-15AF-9E241A6C2675}"/>
              </a:ext>
            </a:extLst>
          </p:cNvPr>
          <p:cNvSpPr txBox="1"/>
          <p:nvPr/>
        </p:nvSpPr>
        <p:spPr>
          <a:xfrm>
            <a:off x="971600" y="2219543"/>
            <a:ext cx="6768752" cy="206210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rtl="1"/>
            <a:endParaRPr lang="en-GB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حساب إيرادات إجمالي المبيعات</a:t>
            </a:r>
            <a:endParaRPr lang="en-GB" sz="3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/>
            <a:r>
              <a:rPr lang="ar" sz="3600" dirty="0">
                <a:effectLst/>
                <a:latin typeface="OpenSans"/>
                <a:cs typeface="Sakkal Majalla" panose="02000000000000000000" pitchFamily="2" charset="-78"/>
              </a:rPr>
              <a:t>الإيراد = سعر بيع الوحدة </a:t>
            </a:r>
            <a:r>
              <a:rPr lang="ar" sz="3600" dirty="0">
                <a:effectLst/>
                <a:latin typeface="SymbolMT"/>
                <a:cs typeface="Sakkal Majalla" panose="02000000000000000000" pitchFamily="2" charset="-78"/>
              </a:rPr>
              <a:t>× </a:t>
            </a:r>
            <a:r>
              <a:rPr lang="ar" sz="3600" dirty="0">
                <a:effectLst/>
                <a:latin typeface="OpenSans"/>
                <a:cs typeface="Sakkal Majalla" panose="02000000000000000000" pitchFamily="2" charset="-78"/>
              </a:rPr>
              <a:t>عدد الوحدات المباعة </a:t>
            </a:r>
            <a:r>
              <a:rPr lang="ar" sz="3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5913D7-BDC3-21F2-F875-0410F165B3D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67473757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40768"/>
            <a:ext cx="8229600" cy="7200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/>
              <a:t> (أ2) الإيرادات (3)</a:t>
            </a:r>
            <a:br>
              <a:rPr lang="en-GB" sz="4400" dirty="0"/>
            </a:br>
            <a:br>
              <a:rPr lang="en-US" altLang="en-US" dirty="0"/>
            </a:br>
            <a:br>
              <a:rPr lang="en-US" altLang="en-US" dirty="0"/>
            </a:br>
            <a:endParaRPr lang="en-GB" altLang="en-US" dirty="0">
              <a:solidFill>
                <a:schemeClr val="tx1"/>
              </a:solidFill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2237055"/>
            <a:ext cx="8229600" cy="376814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spcBef>
                <a:spcPct val="0"/>
              </a:spcBef>
              <a:buNone/>
            </a:pPr>
            <a:r>
              <a:rPr lang="ar" sz="3200" b="1" kern="1200">
                <a:ea typeface="+mn-ea"/>
              </a:rPr>
              <a:t>أهمية زيادة الإيرادات لأقصى قدر</a:t>
            </a:r>
          </a:p>
          <a:p>
            <a:pPr rtl="1">
              <a:spcBef>
                <a:spcPct val="0"/>
              </a:spcBef>
            </a:pPr>
            <a:r>
              <a:rPr lang="ar" sz="3200" kern="1200">
                <a:ea typeface="+mn-ea"/>
              </a:rPr>
              <a:t>زيادة عدد السلع المباعة أو الخدمات المقدمة لزيادة المبيعات / تحصيل المزيد من الإيرادات. </a:t>
            </a:r>
          </a:p>
          <a:p>
            <a:pPr rtl="1">
              <a:spcBef>
                <a:spcPct val="0"/>
              </a:spcBef>
            </a:pPr>
            <a:r>
              <a:rPr lang="ar" sz="3200" kern="1200">
                <a:ea typeface="+mn-ea"/>
              </a:rPr>
              <a:t>من الخطر رفع أسعار البيع لتحصيل إيرادات أكثر.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14DE23A-BE3C-C80B-3BC9-197C771AE66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8321883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 sz="2400"/>
              <a:t> </a:t>
            </a:r>
            <a:br>
              <a:rPr lang="en-US" altLang="en-US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r>
              <a:rPr lang="ar"/>
              <a:t>(أ3) الربح (1)</a:t>
            </a:r>
            <a:br>
              <a:rPr lang="en-GB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2204864"/>
            <a:ext cx="7941568" cy="396044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rmAutofit/>
          </a:bodyPr>
          <a:lstStyle/>
          <a:p>
            <a:pPr rtl="1">
              <a:buFont typeface="Arial" panose="020B0604020202020204" pitchFamily="34" charset="0"/>
              <a:buChar char="•"/>
            </a:pPr>
            <a:r>
              <a:rPr lang="ar" sz="3200" b="1" dirty="0">
                <a:effectLst/>
              </a:rPr>
              <a:t>يتحقق الربح</a:t>
            </a:r>
            <a:r>
              <a:rPr lang="ar" sz="3200" dirty="0">
                <a:effectLst/>
              </a:rPr>
              <a:t> </a:t>
            </a:r>
            <a:r>
              <a:rPr lang="ar" sz="3200" dirty="0"/>
              <a:t>عندما </a:t>
            </a:r>
            <a:r>
              <a:rPr lang="ar" sz="3200" dirty="0">
                <a:effectLst/>
              </a:rPr>
              <a:t>تزيد الإيرادات عن النفقات </a:t>
            </a:r>
          </a:p>
          <a:p>
            <a:pPr lvl="1" rtl="1">
              <a:buFont typeface="Courier New" panose="02070309020205020404" pitchFamily="49" charset="0"/>
              <a:buChar char="o"/>
            </a:pPr>
            <a:r>
              <a:rPr lang="ar" sz="32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(الإيرادات &gt; النفقات) </a:t>
            </a:r>
          </a:p>
          <a:p>
            <a:pPr marL="457200" lvl="1" indent="0" rtl="1">
              <a:buNone/>
            </a:pPr>
            <a:endParaRPr lang="en-GB" sz="3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Font typeface="Arial" panose="020B0604020202020204" pitchFamily="34" charset="0"/>
              <a:buChar char="•"/>
            </a:pPr>
            <a:r>
              <a:rPr lang="ar" sz="3200" dirty="0">
                <a:effectLst/>
              </a:rPr>
              <a:t>تحدث</a:t>
            </a:r>
            <a:r>
              <a:rPr lang="ar" sz="3200" dirty="0"/>
              <a:t>الخسارة </a:t>
            </a:r>
            <a:r>
              <a:rPr lang="ar" sz="3200" dirty="0">
                <a:effectLst/>
              </a:rPr>
              <a:t>عندما تقل الإيرادات </a:t>
            </a:r>
            <a:r>
              <a:rPr lang="ar" sz="3200" dirty="0"/>
              <a:t>عن</a:t>
            </a:r>
            <a:r>
              <a:rPr lang="ar" sz="3200" dirty="0">
                <a:effectLst/>
              </a:rPr>
              <a:t> النفقات</a:t>
            </a:r>
          </a:p>
          <a:p>
            <a:pPr lvl="1" rtl="1">
              <a:buFont typeface="Courier New" panose="02070309020205020404" pitchFamily="49" charset="0"/>
              <a:buChar char="o"/>
            </a:pPr>
            <a:r>
              <a:rPr lang="ar" sz="32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(الإيرادات &lt; النفقات)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E56FE5F-E15A-89D5-6E1C-FFA62C0C2BB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42488225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 sz="2400"/>
              <a:t> </a:t>
            </a:r>
            <a:br>
              <a:rPr lang="en-US" altLang="en-US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r>
              <a:rPr lang="ar"/>
              <a:t>(أ3) الربح (2)</a:t>
            </a:r>
            <a:br>
              <a:rPr lang="en-GB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2058988"/>
            <a:ext cx="8075240" cy="432234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marL="0" indent="0" algn="ctr" rtl="1">
              <a:buNone/>
            </a:pPr>
            <a:r>
              <a:rPr lang="ar" sz="3200" b="1" dirty="0"/>
              <a:t>كيف يمكن للشركة زيادة أرباحها لأقصى قدر؟</a:t>
            </a:r>
          </a:p>
          <a:p>
            <a:pPr marL="400050" lvl="1" indent="0" rtl="1">
              <a:buNone/>
            </a:pPr>
            <a:r>
              <a:rPr lang="ar" sz="3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إجمالي وصافي الربح</a:t>
            </a:r>
            <a:endParaRPr lang="en-GB" sz="32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857250" lvl="2" indent="-457200" rtl="1">
              <a:buFont typeface="Courier New" panose="02070309020205020404" pitchFamily="49" charset="0"/>
              <a:buChar char="o"/>
            </a:pPr>
            <a:r>
              <a:rPr lang="ar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إجمالي الربح </a:t>
            </a:r>
            <a:r>
              <a:rPr lang="ar" sz="3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= إيرادات إجمالي المبيعات - تكلفة المبيعات </a:t>
            </a:r>
          </a:p>
          <a:p>
            <a:pPr marL="857250" lvl="2" indent="-457200" rtl="1">
              <a:buFont typeface="Courier New" panose="02070309020205020404" pitchFamily="49" charset="0"/>
              <a:buChar char="o"/>
            </a:pPr>
            <a:r>
              <a:rPr lang="ar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صافي الربح </a:t>
            </a:r>
            <a:r>
              <a:rPr lang="ar" sz="3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= إجمالي الربح – النفقات (</a:t>
            </a:r>
            <a:r>
              <a:rPr lang="ar" sz="3200" dirty="0"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أجور الموظفين، الكهرباء، الإيجار، فائدة الدين)</a:t>
            </a:r>
            <a:endParaRPr lang="en-GB" sz="3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C8009D0-250E-964D-24AF-0B24C20A370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43259672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1E3F0-25E1-9DBA-5651-BB2A6D3A2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>
            <a:noAutofit/>
          </a:bodyPr>
          <a:lstStyle/>
          <a:p>
            <a:pPr rtl="1"/>
            <a:r>
              <a:rPr lang="ar" sz="2800"/>
              <a:t>(أ3) الربح (3)</a:t>
            </a:r>
            <a:br>
              <a:rPr lang="en-US" sz="2400" dirty="0"/>
            </a:br>
            <a:r>
              <a:rPr lang="ar" sz="2400"/>
              <a:t>نموذج قائمة الدخل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6D5B7C-AAB5-10B7-A1FD-800252658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760647"/>
              </p:ext>
            </p:extLst>
          </p:nvPr>
        </p:nvGraphicFramePr>
        <p:xfrm>
          <a:off x="1650032" y="2102063"/>
          <a:ext cx="5843937" cy="4409498"/>
        </p:xfrm>
        <a:graphic>
          <a:graphicData uri="http://schemas.openxmlformats.org/drawingml/2006/table">
            <a:tbl>
              <a:tblPr rtl="1" firstRow="1" firstCol="1" lastRow="1" lastCol="1" bandRow="1" bandCol="1">
                <a:tableStyleId>{5C22544A-7EE6-4342-B048-85BDC9FD1C3A}</a:tableStyleId>
              </a:tblPr>
              <a:tblGrid>
                <a:gridCol w="3084093">
                  <a:extLst>
                    <a:ext uri="{9D8B030D-6E8A-4147-A177-3AD203B41FA5}">
                      <a16:colId xmlns:a16="http://schemas.microsoft.com/office/drawing/2014/main" val="3277476914"/>
                    </a:ext>
                  </a:extLst>
                </a:gridCol>
                <a:gridCol w="1348653">
                  <a:extLst>
                    <a:ext uri="{9D8B030D-6E8A-4147-A177-3AD203B41FA5}">
                      <a16:colId xmlns:a16="http://schemas.microsoft.com/office/drawing/2014/main" val="1460298226"/>
                    </a:ext>
                  </a:extLst>
                </a:gridCol>
                <a:gridCol w="1411191">
                  <a:extLst>
                    <a:ext uri="{9D8B030D-6E8A-4147-A177-3AD203B41FA5}">
                      <a16:colId xmlns:a16="http://schemas.microsoft.com/office/drawing/2014/main" val="578194983"/>
                    </a:ext>
                  </a:extLst>
                </a:gridCol>
              </a:tblGrid>
              <a:tr h="416233">
                <a:tc gridSpan="3">
                  <a:txBody>
                    <a:bodyPr/>
                    <a:lstStyle/>
                    <a:p>
                      <a:pPr algn="ctr" rtl="1">
                        <a:lnSpc>
                          <a:spcPts val="1700"/>
                        </a:lnSpc>
                        <a:spcBef>
                          <a:spcPts val="600"/>
                        </a:spcBef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قائمة الدخل للعام</a:t>
                      </a:r>
                    </a:p>
                  </a:txBody>
                  <a:tcPr marL="51416" marR="51416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287884"/>
                  </a:ext>
                </a:extLst>
              </a:tr>
              <a:tr h="149791"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ts val="1300"/>
                        </a:lnSpc>
                        <a:spcBef>
                          <a:spcPts val="600"/>
                        </a:spcBef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جنيه استرليني</a:t>
                      </a:r>
                      <a:endParaRPr lang="en-GB" sz="1800" b="1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ts val="1300"/>
                        </a:lnSpc>
                        <a:spcBef>
                          <a:spcPts val="600"/>
                        </a:spcBef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جنيه استرليني</a:t>
                      </a:r>
                      <a:endParaRPr lang="en-GB" sz="1800" b="1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extLst>
                  <a:ext uri="{0D108BD9-81ED-4DB2-BD59-A6C34878D82A}">
                    <a16:rowId xmlns:a16="http://schemas.microsoft.com/office/drawing/2014/main" val="1734149582"/>
                  </a:ext>
                </a:extLst>
              </a:tr>
              <a:tr h="380086"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الإيرادات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 anchor="ctr"/>
                </a:tc>
                <a:extLst>
                  <a:ext uri="{0D108BD9-81ED-4DB2-BD59-A6C34878D82A}">
                    <a16:rowId xmlns:a16="http://schemas.microsoft.com/office/drawing/2014/main" val="3050972423"/>
                  </a:ext>
                </a:extLst>
              </a:tr>
              <a:tr h="380086"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تكلفة المبيعات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 anchor="ctr"/>
                </a:tc>
                <a:extLst>
                  <a:ext uri="{0D108BD9-81ED-4DB2-BD59-A6C34878D82A}">
                    <a16:rowId xmlns:a16="http://schemas.microsoft.com/office/drawing/2014/main" val="1649314830"/>
                  </a:ext>
                </a:extLst>
              </a:tr>
              <a:tr h="380086">
                <a:tc gridSpan="2"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إجمالي الربح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 anchor="ctr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 anchor="ctr"/>
                </a:tc>
                <a:extLst>
                  <a:ext uri="{0D108BD9-81ED-4DB2-BD59-A6C34878D82A}">
                    <a16:rowId xmlns:a16="http://schemas.microsoft.com/office/drawing/2014/main" val="884544652"/>
                  </a:ext>
                </a:extLst>
              </a:tr>
              <a:tr h="380086"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النفقات        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extLst>
                  <a:ext uri="{0D108BD9-81ED-4DB2-BD59-A6C34878D82A}">
                    <a16:rowId xmlns:a16="http://schemas.microsoft.com/office/drawing/2014/main" val="2247540824"/>
                  </a:ext>
                </a:extLst>
              </a:tr>
              <a:tr h="380086"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extLst>
                  <a:ext uri="{0D108BD9-81ED-4DB2-BD59-A6C34878D82A}">
                    <a16:rowId xmlns:a16="http://schemas.microsoft.com/office/drawing/2014/main" val="2861694968"/>
                  </a:ext>
                </a:extLst>
              </a:tr>
              <a:tr h="380086"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extLst>
                  <a:ext uri="{0D108BD9-81ED-4DB2-BD59-A6C34878D82A}">
                    <a16:rowId xmlns:a16="http://schemas.microsoft.com/office/drawing/2014/main" val="1634766499"/>
                  </a:ext>
                </a:extLst>
              </a:tr>
              <a:tr h="380086"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extLst>
                  <a:ext uri="{0D108BD9-81ED-4DB2-BD59-A6C34878D82A}">
                    <a16:rowId xmlns:a16="http://schemas.microsoft.com/office/drawing/2014/main" val="1150223803"/>
                  </a:ext>
                </a:extLst>
              </a:tr>
              <a:tr h="380086"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extLst>
                  <a:ext uri="{0D108BD9-81ED-4DB2-BD59-A6C34878D82A}">
                    <a16:rowId xmlns:a16="http://schemas.microsoft.com/office/drawing/2014/main" val="303403261"/>
                  </a:ext>
                </a:extLst>
              </a:tr>
              <a:tr h="380086">
                <a:tc gridSpan="2"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إجمالي النفقات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 anchor="ctr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extLst>
                  <a:ext uri="{0D108BD9-81ED-4DB2-BD59-A6C34878D82A}">
                    <a16:rowId xmlns:a16="http://schemas.microsoft.com/office/drawing/2014/main" val="1650608705"/>
                  </a:ext>
                </a:extLst>
              </a:tr>
              <a:tr h="380086">
                <a:tc gridSpan="2"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صافي الربح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 anchor="ctr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800" dirty="0">
                          <a:solidFill>
                            <a:schemeClr val="bg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51416" marR="51416" marT="0" marB="0"/>
                </a:tc>
                <a:extLst>
                  <a:ext uri="{0D108BD9-81ED-4DB2-BD59-A6C34878D82A}">
                    <a16:rowId xmlns:a16="http://schemas.microsoft.com/office/drawing/2014/main" val="2055990230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E2FEE650-A26E-2BEA-C2A0-E9BB351FE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251075" y="17885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D3447C-93A5-23ED-B19C-D5245942509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31907912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56792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/>
              <a:t>مجالات الدراسة لهدف التعلم (ب)</a:t>
            </a: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3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8260" y="3405695"/>
            <a:ext cx="7991475" cy="251151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0"/>
              </a:spcBef>
            </a:pPr>
            <a:r>
              <a:rPr lang="ar" sz="2800" dirty="0"/>
              <a:t>حساب نقطة التعادل </a:t>
            </a:r>
          </a:p>
          <a:p>
            <a:pPr rtl="1">
              <a:spcBef>
                <a:spcPts val="0"/>
              </a:spcBef>
            </a:pPr>
            <a:r>
              <a:rPr lang="ar" sz="2800" dirty="0"/>
              <a:t>استخدام نقطة التعادل </a:t>
            </a:r>
          </a:p>
          <a:p>
            <a:pPr rtl="1">
              <a:spcBef>
                <a:spcPts val="0"/>
              </a:spcBef>
            </a:pPr>
            <a:r>
              <a:rPr lang="ar" sz="2800" dirty="0"/>
              <a:t>إعداد تنبؤ بالتدفق النقدي</a:t>
            </a:r>
          </a:p>
          <a:p>
            <a:pPr rtl="1">
              <a:spcBef>
                <a:spcPts val="0"/>
              </a:spcBef>
            </a:pPr>
            <a:endParaRPr lang="en-GB" sz="2800" dirty="0"/>
          </a:p>
          <a:p>
            <a:pPr marL="0" indent="0" rtl="1">
              <a:spcBef>
                <a:spcPts val="0"/>
              </a:spcBef>
              <a:buNone/>
            </a:pPr>
            <a:r>
              <a:rPr lang="ar" dirty="0"/>
              <a:t>وتُقسم كل من هذه إلى عدة معايير تقييم (م ت) مثل</a:t>
            </a:r>
            <a:r>
              <a:rPr lang="en-US" dirty="0"/>
              <a:t>B.P1 </a:t>
            </a:r>
            <a:r>
              <a:rPr lang="ar" dirty="0"/>
              <a:t>،</a:t>
            </a:r>
            <a:r>
              <a:rPr lang="ar-EG" dirty="0"/>
              <a:t> </a:t>
            </a:r>
            <a:r>
              <a:rPr lang="en-US" dirty="0"/>
              <a:t>B.P2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536" y="2282468"/>
            <a:ext cx="7991475" cy="1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التعرف على تحليل نقطة التعادل والتنبؤ بالتدفق النقدي.</a:t>
            </a:r>
            <a:br>
              <a:rPr lang="en-US" altLang="en-US" sz="3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091A10E-5664-4840-950A-395F522E9AF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04709535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5766" y="1195388"/>
            <a:ext cx="8232452" cy="86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/>
              <a:t> </a:t>
            </a:r>
            <a:br>
              <a:rPr lang="en-US" altLang="en-US" dirty="0"/>
            </a:br>
            <a:br>
              <a:rPr lang="en-US" altLang="en-US" dirty="0"/>
            </a:br>
            <a:r>
              <a:rPr lang="ar"/>
              <a:t>(ب1) </a:t>
            </a:r>
            <a:r>
              <a:rPr lang="ar" sz="4400"/>
              <a:t>حساب نقطة التعادل (1) </a:t>
            </a:r>
            <a:br>
              <a:rPr lang="en-GB" sz="4400" dirty="0"/>
            </a:br>
            <a:br>
              <a:rPr lang="en-GB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2058988"/>
            <a:ext cx="8147248" cy="453836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endParaRPr lang="en-GB" sz="3600" b="1" dirty="0"/>
          </a:p>
          <a:p>
            <a:pPr marL="0" indent="0" rtl="1">
              <a:buNone/>
            </a:pPr>
            <a:r>
              <a:rPr lang="ar" sz="3600" b="1"/>
              <a:t>تحليل نقطة التعادل </a:t>
            </a:r>
          </a:p>
          <a:p>
            <a:pPr rtl="1"/>
            <a:r>
              <a:rPr lang="ar" sz="3600"/>
              <a:t>أداة تخطيط تُستخدم مع أرقام المبيعات المقدرة لإظهار نقطة التعادل المتوقعة وهامش الأمان لمنتج واحد.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0589A65-65F1-6EB5-6198-93226516901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69246151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/>
              <a:t> 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ar"/>
              <a:t>(ب1) </a:t>
            </a:r>
            <a:r>
              <a:rPr lang="ar" sz="4400"/>
              <a:t>حساب نقطة التعادل (2) </a:t>
            </a:r>
            <a:br>
              <a:rPr lang="en-GB" sz="4400" dirty="0"/>
            </a:br>
            <a:br>
              <a:rPr lang="en-GB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2058988"/>
            <a:ext cx="8147248" cy="453836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rmAutofit/>
          </a:bodyPr>
          <a:lstStyle/>
          <a:p>
            <a:pPr rtl="1">
              <a:buFont typeface="Arial" panose="020B0604020202020204" pitchFamily="34" charset="0"/>
              <a:buChar char="•"/>
            </a:pPr>
            <a:endParaRPr lang="en-GB" sz="3200" b="1" dirty="0"/>
          </a:p>
          <a:p>
            <a:pPr rtl="1">
              <a:buFont typeface="Arial" panose="020B0604020202020204" pitchFamily="34" charset="0"/>
              <a:buChar char="•"/>
            </a:pPr>
            <a:r>
              <a:rPr lang="ar" sz="3200" b="1" dirty="0"/>
              <a:t>نقطة التعادل</a:t>
            </a:r>
            <a:r>
              <a:rPr lang="ar" sz="3200" dirty="0"/>
              <a:t> – هي النقطة التي تتعادل فيها الإيرادات مع النفقات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" sz="3200" dirty="0"/>
              <a:t>حساب نقطة التعادل باستخدام معادلة: </a:t>
            </a:r>
          </a:p>
          <a:p>
            <a:pPr lvl="1" rtl="1">
              <a:buFont typeface="Courier New" panose="02070309020205020404" pitchFamily="49" charset="0"/>
              <a:buChar char="o"/>
            </a:pPr>
            <a:r>
              <a:rPr lang="ar" sz="2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نقطة التعادل = التكاليف الثابتة ÷ (سعر البيع - التكاليف المتغيرة) </a:t>
            </a:r>
          </a:p>
          <a:p>
            <a:pPr lvl="1" rtl="1">
              <a:buFont typeface="Courier New" panose="02070309020205020404" pitchFamily="49" charset="0"/>
              <a:buChar char="o"/>
            </a:pPr>
            <a:r>
              <a:rPr lang="ar" sz="2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هامش الأمان = المبيعات المقدرة - نقطة التعادل </a:t>
            </a:r>
            <a:endParaRPr lang="en-GB" sz="2000" dirty="0">
              <a:effectLst/>
              <a:latin typeface="SymbolMT"/>
              <a:cs typeface="Sakkal Majalla" panose="02000000000000000000" pitchFamily="2" charset="-78"/>
            </a:endParaRPr>
          </a:p>
          <a:p>
            <a:pPr rtl="1">
              <a:buFont typeface="Arial" panose="020B0604020202020204" pitchFamily="34" charset="0"/>
              <a:buChar char="•"/>
            </a:pPr>
            <a:endParaRPr lang="en-GB" sz="2000" dirty="0">
              <a:effectLst/>
              <a:latin typeface="SymbolMT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B040927-AD6A-9CBB-BDB0-DD9359CB789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62603661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 sz="3200"/>
              <a:t> </a:t>
            </a:r>
            <a:br>
              <a:rPr lang="en-US" altLang="en-US" sz="3200" dirty="0"/>
            </a:br>
            <a:br>
              <a:rPr lang="en-US" altLang="en-US" sz="3200" dirty="0"/>
            </a:br>
            <a:br>
              <a:rPr lang="en-US" altLang="en-US" sz="3200" dirty="0"/>
            </a:br>
            <a:br>
              <a:rPr lang="en-US" altLang="en-US" sz="3200" dirty="0"/>
            </a:br>
            <a:r>
              <a:rPr lang="ar"/>
              <a:t>(ب1) حساب نقطة التعادل (3) </a:t>
            </a:r>
            <a:br>
              <a:rPr lang="en-GB" sz="3200" dirty="0"/>
            </a:br>
            <a:br>
              <a:rPr lang="en-GB" sz="3200" dirty="0"/>
            </a:br>
            <a:br>
              <a:rPr lang="en-US" altLang="en-US" sz="3200" dirty="0"/>
            </a:br>
            <a:br>
              <a:rPr lang="en-US" altLang="en-US" sz="3200" dirty="0"/>
            </a:br>
            <a:endParaRPr lang="en-GB" altLang="en-US" sz="32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200" y="2195513"/>
            <a:ext cx="4027487" cy="368141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rmAutofit/>
          </a:bodyPr>
          <a:lstStyle/>
          <a:p>
            <a:pPr marL="457200" lvl="1" indent="0" rtl="1">
              <a:buNone/>
            </a:pPr>
            <a:endParaRPr lang="en-GB" sz="3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3200" dirty="0"/>
              <a:t>رسم وتصنيف مخططات نقطة التعادل </a:t>
            </a:r>
          </a:p>
          <a:p>
            <a:pPr rtl="1"/>
            <a:r>
              <a:rPr lang="ar" sz="3200" dirty="0"/>
              <a:t>كيف تؤثر التغييرات في الإيرادات أو التكاليف على نقطة التعادل.</a:t>
            </a:r>
          </a:p>
          <a:p>
            <a:pPr marL="0" indent="0" rtl="1">
              <a:buNone/>
            </a:pPr>
            <a:endParaRPr lang="en-GB" sz="3200" dirty="0"/>
          </a:p>
          <a:p>
            <a:pPr rtl="1">
              <a:buFont typeface="Arial" panose="020B0604020202020204" pitchFamily="34" charset="0"/>
              <a:buChar char="•"/>
            </a:pPr>
            <a:endParaRPr lang="en-GB" sz="3200" dirty="0">
              <a:effectLst/>
            </a:endParaRPr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BC84CE29-DCC9-6614-A8BB-A7598908AD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67" y="2055168"/>
            <a:ext cx="3770731" cy="4325602"/>
          </a:xfrm>
          <a:prstGeom prst="rect">
            <a:avLst/>
          </a:prstGeom>
          <a:noFill/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4C27B6A-60D6-35BE-91AE-FA3B30F40D7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98415547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-EG" dirty="0"/>
              <a:t> </a:t>
            </a:r>
            <a:br>
              <a:rPr lang="ar-EG" altLang="en-US" dirty="0"/>
            </a:br>
            <a:r>
              <a:rPr lang="ar-EG" dirty="0"/>
              <a:t>(ب2) استخدام نقطة التعادل (1) </a:t>
            </a:r>
            <a:endParaRPr lang="ar-EG" altLang="en-US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2219326"/>
            <a:ext cx="8147248" cy="430601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3200" dirty="0">
                <a:effectLst/>
              </a:rPr>
              <a:t>يجب أن يتمتع المتعلمون بالقدرة والثقة في تحقيق نقطة التعادل كما هو الحال في تحليل نقطة التعادل (PSA)، حيث يُتوقع منهم حساب نقطة التعادل باستخدام بيانات معينة (</a:t>
            </a:r>
            <a:r>
              <a:rPr lang="en-US" sz="3200" dirty="0">
                <a:effectLst/>
              </a:rPr>
              <a:t>B.P5</a:t>
            </a:r>
            <a:r>
              <a:rPr lang="ar" sz="3200" dirty="0">
                <a:effectLst/>
              </a:rPr>
              <a:t>) وإثبات تأثير تغيير بيانات التكلفة والإيرادات على نقطة التعادل (</a:t>
            </a:r>
            <a:r>
              <a:rPr lang="en-US" sz="3200" dirty="0">
                <a:effectLst/>
              </a:rPr>
              <a:t>B. M2</a:t>
            </a:r>
            <a:r>
              <a:rPr lang="ar" sz="3200" dirty="0">
                <a:effectLst/>
              </a:rPr>
              <a:t>)</a:t>
            </a:r>
          </a:p>
          <a:p>
            <a:pPr marL="0" indent="0" rtl="1">
              <a:buNone/>
            </a:pPr>
            <a:endParaRPr lang="en-GB" sz="1800" dirty="0">
              <a:effectLst/>
              <a:latin typeface="SymbolMT"/>
            </a:endParaRPr>
          </a:p>
          <a:p>
            <a:pPr rtl="1">
              <a:buFont typeface="Arial" panose="020B0604020202020204" pitchFamily="34" charset="0"/>
              <a:buChar char="•"/>
            </a:pPr>
            <a:endParaRPr lang="en-GB" sz="1800" dirty="0">
              <a:effectLst/>
              <a:latin typeface="SymbolMT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0A1A2DF-1AFB-FE14-635A-45AAEFAD105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8781588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/>
              <a:t> </a:t>
            </a:r>
            <a:br>
              <a:rPr lang="en-US" altLang="en-US" dirty="0"/>
            </a:br>
            <a:br>
              <a:rPr lang="en-US" altLang="en-US" dirty="0"/>
            </a:br>
            <a:r>
              <a:rPr lang="ar"/>
              <a:t>(ب2) استخدام</a:t>
            </a:r>
            <a:r>
              <a:rPr lang="ar" sz="4400"/>
              <a:t> نقطة التعادل (2) </a:t>
            </a:r>
            <a:br>
              <a:rPr lang="en-GB" sz="4400" dirty="0"/>
            </a:br>
            <a:br>
              <a:rPr lang="en-GB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2219326"/>
            <a:ext cx="8147248" cy="430601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2800" b="1" dirty="0"/>
              <a:t>الغرض من تحليل نقطة التعادل</a:t>
            </a:r>
          </a:p>
          <a:p>
            <a:pPr marL="342900" lvl="0" indent="-342900" rtl="1">
              <a:buFont typeface="Symbol" pitchFamily="2" charset="2"/>
              <a:buChar char=""/>
            </a:pPr>
            <a:r>
              <a:rPr lang="ar" sz="2800" dirty="0">
                <a:effectLst/>
                <a:ea typeface="Times New Roman" panose="02020603050405020304" pitchFamily="18" charset="0"/>
              </a:rPr>
              <a:t>هل أسعاري منخفضة للغاية أم أن تكاليفي مرتفعة للغاية للوصول إلى نقطة التعادل في فترة زمنية معقولة؟</a:t>
            </a:r>
            <a:endParaRPr lang="en-GB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rtl="1">
              <a:buFont typeface="Symbol" pitchFamily="2" charset="2"/>
              <a:buChar char=""/>
            </a:pPr>
            <a:r>
              <a:rPr lang="ar" sz="2800" dirty="0">
                <a:effectLst/>
                <a:ea typeface="Times New Roman" panose="02020603050405020304" pitchFamily="18" charset="0"/>
              </a:rPr>
              <a:t>متى يمكنني توقع تحقيق نقطة التعادل؟</a:t>
            </a:r>
            <a:endParaRPr lang="en-GB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rtl="1">
              <a:buFont typeface="Symbol" pitchFamily="2" charset="2"/>
              <a:buChar char=""/>
            </a:pPr>
            <a:r>
              <a:rPr lang="ar" sz="2800" dirty="0">
                <a:effectLst/>
                <a:ea typeface="Times New Roman" panose="02020603050405020304" pitchFamily="18" charset="0"/>
              </a:rPr>
              <a:t>ماذا يمكن أن يحدث إذا رفعت الأسعار أو خفضت التكاليف؟</a:t>
            </a:r>
            <a:endParaRPr lang="en-GB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rtl="1">
              <a:buFont typeface="Symbol" pitchFamily="2" charset="2"/>
              <a:buChar char=""/>
            </a:pPr>
            <a:r>
              <a:rPr lang="ar" sz="2800" dirty="0">
                <a:effectLst/>
                <a:ea typeface="Times New Roman" panose="02020603050405020304" pitchFamily="18" charset="0"/>
              </a:rPr>
              <a:t>هل عرض شركتي جدير بالاهتمام؟</a:t>
            </a:r>
            <a:endParaRPr lang="en-GB" sz="1800" dirty="0">
              <a:effectLst/>
              <a:latin typeface="SymbolMT"/>
            </a:endParaRPr>
          </a:p>
          <a:p>
            <a:pPr rtl="1">
              <a:buFont typeface="Arial" panose="020B0604020202020204" pitchFamily="34" charset="0"/>
              <a:buChar char="•"/>
            </a:pPr>
            <a:endParaRPr lang="en-GB" sz="1800" dirty="0">
              <a:effectLst/>
              <a:latin typeface="SymbolMT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5411997-D401-3CDC-E6A9-E7F3115F0C5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51599530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16024" y="993753"/>
            <a:ext cx="8229600" cy="86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/>
              <a:t> </a:t>
            </a:r>
            <a:br>
              <a:rPr lang="en-US" altLang="en-US" dirty="0"/>
            </a:br>
            <a:br>
              <a:rPr lang="en-US" altLang="en-US" dirty="0"/>
            </a:br>
            <a:r>
              <a:rPr lang="ar" sz="3600"/>
              <a:t>(ب3) استخدام نقطة التعادل (3) </a:t>
            </a:r>
            <a:br>
              <a:rPr lang="en-GB" sz="4400" dirty="0"/>
            </a:br>
            <a:br>
              <a:rPr lang="en-GB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1844824"/>
            <a:ext cx="8147248" cy="46805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marL="0" indent="0" rtl="1">
              <a:buNone/>
            </a:pPr>
            <a:r>
              <a:rPr lang="ar" b="1"/>
              <a:t>فوائد استخدام نقطة التعادل </a:t>
            </a:r>
          </a:p>
          <a:p>
            <a:pPr rtl="1"/>
            <a:r>
              <a:rPr lang="ar"/>
              <a:t>توضيح التكاليف الثابتة والمتغيرة.</a:t>
            </a:r>
          </a:p>
          <a:p>
            <a:pPr rtl="1"/>
            <a:r>
              <a:rPr lang="ar"/>
              <a:t>توضيح الإيرادات من المبيعات المتوقعة.</a:t>
            </a:r>
          </a:p>
          <a:p>
            <a:pPr rtl="1"/>
            <a:r>
              <a:rPr lang="ar"/>
              <a:t>توضح عدد المنتجات التي يجب بيعها لتحقيق ربح حتى تتمكن من تحديد الأهداف.</a:t>
            </a:r>
          </a:p>
          <a:p>
            <a:pPr rtl="1"/>
            <a:r>
              <a:rPr lang="ar"/>
              <a:t>يمكن تعديلها لتحقيق ربح - تقليل التكاليف عن طريق الحصول على مواد أرخص أو زيادة سعر البيع.</a:t>
            </a:r>
          </a:p>
          <a:p>
            <a:pPr rtl="1"/>
            <a:r>
              <a:rPr lang="ar"/>
              <a:t>تظهر هامش الأمان حتى تتمكن الشركة من حساب المخاطر.</a:t>
            </a:r>
          </a:p>
          <a:p>
            <a:pPr rtl="1"/>
            <a:r>
              <a:rPr lang="ar"/>
              <a:t>شراء المواد وبيعها بأفضل الأسعار، وبالتالي ينجح عرض الشركة.</a:t>
            </a:r>
          </a:p>
          <a:p>
            <a:pPr rtl="1">
              <a:buFont typeface="Arial" panose="020B0604020202020204" pitchFamily="34" charset="0"/>
              <a:buChar char="•"/>
            </a:pPr>
            <a:endParaRPr lang="en-GB" sz="1600" dirty="0">
              <a:effectLst/>
              <a:latin typeface="SymbolMT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B34811C-FFA5-AB02-BA46-D111D35E31D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14345875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008743"/>
            <a:ext cx="8229600" cy="86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-EG" dirty="0"/>
              <a:t> </a:t>
            </a:r>
            <a:br>
              <a:rPr lang="ar-EG" altLang="en-US" dirty="0"/>
            </a:br>
            <a:br>
              <a:rPr lang="ar-EG" altLang="en-US" dirty="0"/>
            </a:br>
            <a:r>
              <a:rPr lang="ar-EG" sz="3200" dirty="0"/>
              <a:t>(ب2) استخدام نقطة التعادل (4) </a:t>
            </a:r>
            <a:br>
              <a:rPr lang="ar-EG" sz="4400" dirty="0"/>
            </a:br>
            <a:br>
              <a:rPr lang="ar-EG" sz="2400" dirty="0"/>
            </a:br>
            <a:br>
              <a:rPr lang="ar-EG" altLang="en-US" sz="2400" dirty="0"/>
            </a:br>
            <a:br>
              <a:rPr lang="ar-EG" altLang="en-US" sz="2400" dirty="0"/>
            </a:br>
            <a:endParaRPr lang="ar-EG" altLang="en-US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1844824"/>
            <a:ext cx="8147248" cy="46805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-EG" b="1" dirty="0">
                <a:ea typeface="Times New Roman" panose="02020603050405020304" pitchFamily="18" charset="0"/>
              </a:rPr>
              <a:t>مخاطر</a:t>
            </a:r>
            <a:r>
              <a:rPr lang="ar-EG" sz="2400" b="1" dirty="0">
                <a:effectLst/>
                <a:ea typeface="Times New Roman" panose="02020603050405020304" pitchFamily="18" charset="0"/>
              </a:rPr>
              <a:t> عدم إجراء تحليل نقطة التعادل</a:t>
            </a:r>
            <a:endParaRPr lang="ar-EG" sz="2400" b="1" dirty="0"/>
          </a:p>
          <a:p>
            <a:pPr marL="171450" lvl="0" indent="-171450" rtl="1">
              <a:spcBef>
                <a:spcPct val="30000"/>
              </a:spcBef>
              <a:buFont typeface="Arial" panose="020B0604020202020204" pitchFamily="34" charset="0"/>
              <a:buChar char="•"/>
              <a:defRPr/>
            </a:pPr>
            <a:r>
              <a:rPr lang="ar-EG" dirty="0"/>
              <a:t>تحديد تكاليف عالية جدًا / إيرادات منخفضة جدًا لجعل عرض الشركة جديرًا بالاهتمام.</a:t>
            </a:r>
          </a:p>
          <a:p>
            <a:pPr marL="171450" lvl="0" indent="-171450" rtl="1">
              <a:spcBef>
                <a:spcPct val="30000"/>
              </a:spcBef>
              <a:buFont typeface="Arial" panose="020B0604020202020204" pitchFamily="34" charset="0"/>
              <a:buChar char="•"/>
              <a:defRPr/>
            </a:pPr>
            <a:r>
              <a:rPr lang="ar-EG" sz="2400" dirty="0">
                <a:effectLst/>
                <a:ea typeface="Times New Roman" panose="02020603050405020304" pitchFamily="18" charset="0"/>
              </a:rPr>
              <a:t>الجهل بعدد المنتجات التي يجب بيعها لتحقيق ربح.</a:t>
            </a:r>
          </a:p>
          <a:p>
            <a:pPr marL="171450" marR="0" lvl="0" indent="-171450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ar-EG" dirty="0"/>
              <a:t>إنفاق أكثر من اللازم / انخفاض الشحن للغاية، وبالتالي عدم تحقيق ربح أو احتمال تكبد خسارة. </a:t>
            </a:r>
          </a:p>
          <a:p>
            <a:pPr marL="171450" marR="0" lvl="0" indent="-171450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ar-EG" dirty="0"/>
              <a:t>عدم معرفة هامش الأمان</a:t>
            </a:r>
          </a:p>
          <a:p>
            <a:pPr marL="171450" marR="0" lvl="0" indent="-171450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ar-EG" sz="2400" dirty="0">
                <a:effectLst/>
                <a:ea typeface="Times New Roman" panose="02020603050405020304" pitchFamily="18" charset="0"/>
              </a:rPr>
              <a:t>قد يكلف المخزون الكثير، وتُباع المنتجات بسعر خاطئ (ربما بسعر أقل من سعر التكلفة)، وقد يفشل عرض الشركة.</a:t>
            </a:r>
          </a:p>
          <a:p>
            <a:pPr rtl="1">
              <a:buFont typeface="Arial" panose="020B0604020202020204" pitchFamily="34" charset="0"/>
              <a:buChar char="•"/>
            </a:pPr>
            <a:endParaRPr lang="ar-EG" sz="1600" dirty="0">
              <a:effectLst/>
              <a:latin typeface="SymbolMT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82934E6-A640-1AD2-8083-9BC347CFB87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5708036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369516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/>
              <a:t> </a:t>
            </a:r>
            <a:br>
              <a:rPr lang="en-US" altLang="en-US" dirty="0"/>
            </a:br>
            <a:br>
              <a:rPr lang="en-US" altLang="en-US" dirty="0"/>
            </a:br>
            <a:r>
              <a:rPr lang="ar"/>
              <a:t>(ب3) إعداد تنبؤ بالتدفق النقدي (1)</a:t>
            </a:r>
            <a:br>
              <a:rPr lang="en-GB" sz="4400" dirty="0"/>
            </a:br>
            <a:br>
              <a:rPr lang="en-GB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2564904"/>
            <a:ext cx="8147248" cy="388843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التنبؤ بالتدفق النقدي </a:t>
            </a:r>
            <a:r>
              <a:rPr lang="ar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- يُقصد به تقدير المبيعات والمصروفات المستقبلية. </a:t>
            </a: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dirty="0">
                <a:effectLst/>
                <a:ea typeface="Times New Roman" panose="02020603050405020304" pitchFamily="18" charset="0"/>
              </a:rPr>
              <a:t>التدفق النقدي الوارد- يُقصد به الأموال التي تتلقاها الشركة مثل مبيعات السلع والخدمات ورأس المال من المستثمرين والقروض المصرفية والدخل الإيجاري والمنح.</a:t>
            </a: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b="1" dirty="0">
                <a:effectLst/>
                <a:ea typeface="Times New Roman" panose="02020603050405020304" pitchFamily="18" charset="0"/>
              </a:rPr>
              <a:t>التدفق النقدي الصادر </a:t>
            </a:r>
            <a:r>
              <a:rPr lang="ar" dirty="0">
                <a:effectLst/>
                <a:ea typeface="Times New Roman" panose="02020603050405020304" pitchFamily="18" charset="0"/>
              </a:rPr>
              <a:t>- يُقصد به الأموال التي تدفعها الشركة مثل شراء المواد أو المخزون والأجور وسداد القروض وأقساط التأمين ومدفوعات الإيجار والرهن العقاري وفواتير الخدمات.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6A59ACE-B66A-45A6-63BF-94DFF14DF67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94986060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7931224" cy="1369516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/>
              <a:t> </a:t>
            </a:r>
            <a:br>
              <a:rPr lang="en-US" altLang="en-US" dirty="0"/>
            </a:br>
            <a:br>
              <a:rPr lang="en-US" altLang="en-US" dirty="0"/>
            </a:br>
            <a:r>
              <a:rPr lang="ar"/>
              <a:t>(ب3) إعداد تنبؤ بالتدفق النقدي (2)</a:t>
            </a:r>
            <a:br>
              <a:rPr lang="en-GB" sz="4400" dirty="0"/>
            </a:b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3038407"/>
            <a:ext cx="8147248" cy="388843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2800" b="1" dirty="0" err="1"/>
              <a:t>التنبؤ</a:t>
            </a:r>
            <a:r>
              <a:rPr sz="2800" b="1" dirty="0"/>
              <a:t> </a:t>
            </a:r>
            <a:r>
              <a:rPr sz="2800" b="1" dirty="0" err="1"/>
              <a:t>بالتدفق</a:t>
            </a:r>
            <a:r>
              <a:rPr sz="2800" b="1" dirty="0"/>
              <a:t> </a:t>
            </a:r>
            <a:r>
              <a:rPr sz="2800" b="1" dirty="0" err="1"/>
              <a:t>النقدي</a:t>
            </a:r>
            <a:r>
              <a:rPr sz="2800" b="1" dirty="0"/>
              <a:t>:</a:t>
            </a:r>
          </a:p>
          <a:p>
            <a:pPr marL="285750" marR="0" lvl="0" indent="-285750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ar" sz="2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مجرد </a:t>
            </a:r>
            <a:r>
              <a:rPr lang="ar" sz="2800" b="1" u="none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تقدير</a:t>
            </a:r>
            <a:r>
              <a:rPr lang="ar" sz="2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لمقدار المال الذي سيأتي للشركة ويخرج منها. </a:t>
            </a:r>
            <a:r>
              <a:rPr lang="ar" sz="2800" dirty="0"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</a:p>
          <a:p>
            <a:pPr marL="285750" marR="0" lvl="0" indent="-285750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ar" sz="2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يظهر الأموال المتدفقة داخل الشركة وخارجها و</a:t>
            </a:r>
            <a:r>
              <a:rPr lang="ar" sz="2800" b="1" u="none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لا علاقة لها بالربح.</a:t>
            </a:r>
            <a:endParaRPr lang="en-GB" sz="2800" b="1" u="none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C337B4C-E407-12FE-ADA2-60C91FE2732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7807543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1369516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/>
              <a:t> </a:t>
            </a:r>
            <a:br>
              <a:rPr lang="en-US" altLang="en-US" dirty="0"/>
            </a:br>
            <a:br>
              <a:rPr lang="en-US" altLang="en-US" dirty="0"/>
            </a:br>
            <a:r>
              <a:rPr lang="ar"/>
              <a:t>(ب3) إعداد تنبؤ بالتدفق النقدي (3)</a:t>
            </a:r>
            <a:br>
              <a:rPr lang="en-GB" sz="4400" dirty="0"/>
            </a:br>
            <a:br>
              <a:rPr lang="en-GB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2564904"/>
            <a:ext cx="8147248" cy="388843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2800" b="1" dirty="0">
                <a:effectLst/>
                <a:ea typeface="Times New Roman" panose="02020603050405020304" pitchFamily="18" charset="0"/>
              </a:rPr>
              <a:t>قد</a:t>
            </a:r>
            <a:r>
              <a:rPr lang="ar" sz="2800" dirty="0">
                <a:effectLst/>
                <a:ea typeface="Times New Roman" panose="02020603050405020304" pitchFamily="18" charset="0"/>
              </a:rPr>
              <a:t> يسبب توقيت التدفقات النقدية الواردة والصادرة مشكلات للشركة في التدفق.</a:t>
            </a: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2800" dirty="0">
                <a:effectLst/>
                <a:ea typeface="Times New Roman" panose="02020603050405020304" pitchFamily="18" charset="0"/>
              </a:rPr>
              <a:t>يجب أن يكون لدى الشركة </a:t>
            </a:r>
            <a:r>
              <a:rPr lang="ar" sz="2800" b="1" dirty="0">
                <a:effectLst/>
                <a:ea typeface="Times New Roman" panose="02020603050405020304" pitchFamily="18" charset="0"/>
              </a:rPr>
              <a:t>أموال كافية متوفرة</a:t>
            </a:r>
            <a:r>
              <a:rPr lang="ar" sz="2800" dirty="0">
                <a:effectLst/>
                <a:ea typeface="Times New Roman" panose="02020603050405020304" pitchFamily="18" charset="0"/>
              </a:rPr>
              <a:t> لتغطية مصاريف التشغيل اليومي للأعمال مثل دفع الأجور وتكاليف الموردين ودفع ثمن المواد الاستهلاكية مثل القرطاسية أو حبر الطابعة أو وقود المركبات. </a:t>
            </a:r>
            <a:endParaRPr lang="en-GB" sz="2800" b="1" u="none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F12B7DC-C222-A8C7-7219-6DC537EE654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81607194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1E3F0-25E1-9DBA-5651-BB2A6D3A2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109263"/>
            <a:ext cx="8229600" cy="864000"/>
          </a:xfrm>
        </p:spPr>
        <p:txBody>
          <a:bodyPr rtlCol="1">
            <a:normAutofit/>
          </a:bodyPr>
          <a:lstStyle/>
          <a:p>
            <a:pPr rtl="1"/>
            <a:r>
              <a:rPr lang="ar" sz="3600"/>
              <a:t>(ب3) إعداد تنبؤ بالتدفق النقدي (4)</a:t>
            </a:r>
            <a:endParaRPr lang="en-US" sz="36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2FEE650-A26E-2BEA-C2A0-E9BB351FE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251075" y="17885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569AB4-21AF-6FBA-AA9B-8C6E5547B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414331"/>
              </p:ext>
            </p:extLst>
          </p:nvPr>
        </p:nvGraphicFramePr>
        <p:xfrm>
          <a:off x="2123727" y="1973263"/>
          <a:ext cx="5185556" cy="4494132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116281">
                  <a:extLst>
                    <a:ext uri="{9D8B030D-6E8A-4147-A177-3AD203B41FA5}">
                      <a16:colId xmlns:a16="http://schemas.microsoft.com/office/drawing/2014/main" val="4027618819"/>
                    </a:ext>
                  </a:extLst>
                </a:gridCol>
                <a:gridCol w="991937">
                  <a:extLst>
                    <a:ext uri="{9D8B030D-6E8A-4147-A177-3AD203B41FA5}">
                      <a16:colId xmlns:a16="http://schemas.microsoft.com/office/drawing/2014/main" val="988733518"/>
                    </a:ext>
                  </a:extLst>
                </a:gridCol>
                <a:gridCol w="998057">
                  <a:extLst>
                    <a:ext uri="{9D8B030D-6E8A-4147-A177-3AD203B41FA5}">
                      <a16:colId xmlns:a16="http://schemas.microsoft.com/office/drawing/2014/main" val="4255828106"/>
                    </a:ext>
                  </a:extLst>
                </a:gridCol>
                <a:gridCol w="1079281">
                  <a:extLst>
                    <a:ext uri="{9D8B030D-6E8A-4147-A177-3AD203B41FA5}">
                      <a16:colId xmlns:a16="http://schemas.microsoft.com/office/drawing/2014/main" val="1556823264"/>
                    </a:ext>
                  </a:extLst>
                </a:gridCol>
              </a:tblGrid>
              <a:tr h="469173">
                <a:tc>
                  <a:txBody>
                    <a:bodyPr/>
                    <a:lstStyle/>
                    <a:p>
                      <a:pPr marR="221615"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ar" sz="12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الشهر 1</a:t>
                      </a:r>
                    </a:p>
                    <a:p>
                      <a:pPr algn="ctr"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جنيه استرليني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الشهر 2</a:t>
                      </a:r>
                    </a:p>
                    <a:p>
                      <a:pPr algn="ctr"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جنيه استرليني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الشهر 3</a:t>
                      </a:r>
                    </a:p>
                    <a:p>
                      <a:pPr algn="ctr"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جنيه استرليني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extLst>
                  <a:ext uri="{0D108BD9-81ED-4DB2-BD59-A6C34878D82A}">
                    <a16:rowId xmlns:a16="http://schemas.microsoft.com/office/drawing/2014/main" val="1570261595"/>
                  </a:ext>
                </a:extLst>
              </a:tr>
              <a:tr h="364627">
                <a:tc gridSpan="4"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2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التدفقات النقدية الواردة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768144"/>
                  </a:ext>
                </a:extLst>
              </a:tr>
              <a:tr h="364627"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2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extLst>
                  <a:ext uri="{0D108BD9-81ED-4DB2-BD59-A6C34878D82A}">
                    <a16:rowId xmlns:a16="http://schemas.microsoft.com/office/drawing/2014/main" val="1301866149"/>
                  </a:ext>
                </a:extLst>
              </a:tr>
              <a:tr h="364627"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2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extLst>
                  <a:ext uri="{0D108BD9-81ED-4DB2-BD59-A6C34878D82A}">
                    <a16:rowId xmlns:a16="http://schemas.microsoft.com/office/drawing/2014/main" val="78733438"/>
                  </a:ext>
                </a:extLst>
              </a:tr>
              <a:tr h="364627"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2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إجمالي التدفقات النقدية الواردة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extLst>
                  <a:ext uri="{0D108BD9-81ED-4DB2-BD59-A6C34878D82A}">
                    <a16:rowId xmlns:a16="http://schemas.microsoft.com/office/drawing/2014/main" val="589197020"/>
                  </a:ext>
                </a:extLst>
              </a:tr>
              <a:tr h="364627">
                <a:tc gridSpan="4"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2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التدفقات النقدية الصادرة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961345"/>
                  </a:ext>
                </a:extLst>
              </a:tr>
              <a:tr h="364627"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2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extLst>
                  <a:ext uri="{0D108BD9-81ED-4DB2-BD59-A6C34878D82A}">
                    <a16:rowId xmlns:a16="http://schemas.microsoft.com/office/drawing/2014/main" val="1906882170"/>
                  </a:ext>
                </a:extLst>
              </a:tr>
              <a:tr h="364627"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2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extLst>
                  <a:ext uri="{0D108BD9-81ED-4DB2-BD59-A6C34878D82A}">
                    <a16:rowId xmlns:a16="http://schemas.microsoft.com/office/drawing/2014/main" val="1765674213"/>
                  </a:ext>
                </a:extLst>
              </a:tr>
              <a:tr h="364627"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2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إجمالي التدفقات النقدية الصادرة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extLst>
                  <a:ext uri="{0D108BD9-81ED-4DB2-BD59-A6C34878D82A}">
                    <a16:rowId xmlns:a16="http://schemas.microsoft.com/office/drawing/2014/main" val="2035354621"/>
                  </a:ext>
                </a:extLst>
              </a:tr>
              <a:tr h="364627"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2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صافي التدفقات النقدية الواردة/ الصادرة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extLst>
                  <a:ext uri="{0D108BD9-81ED-4DB2-BD59-A6C34878D82A}">
                    <a16:rowId xmlns:a16="http://schemas.microsoft.com/office/drawing/2014/main" val="4283584479"/>
                  </a:ext>
                </a:extLst>
              </a:tr>
              <a:tr h="364627"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2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الرصيد الافتتاحي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extLst>
                  <a:ext uri="{0D108BD9-81ED-4DB2-BD59-A6C34878D82A}">
                    <a16:rowId xmlns:a16="http://schemas.microsoft.com/office/drawing/2014/main" val="3147247522"/>
                  </a:ext>
                </a:extLst>
              </a:tr>
              <a:tr h="364627"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2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الرصيد الختامي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tc>
                  <a:txBody>
                    <a:bodyPr/>
                    <a:lstStyle/>
                    <a:p>
                      <a:pPr rtl="1">
                        <a:lnSpc>
                          <a:spcPts val="1300"/>
                        </a:lnSpc>
                      </a:pPr>
                      <a:r>
                        <a:rPr lang="ar" sz="11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1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9322" marR="49322" marT="0" marB="0" anchor="ctr"/>
                </a:tc>
                <a:extLst>
                  <a:ext uri="{0D108BD9-81ED-4DB2-BD59-A6C34878D82A}">
                    <a16:rowId xmlns:a16="http://schemas.microsoft.com/office/drawing/2014/main" val="725466277"/>
                  </a:ext>
                </a:extLst>
              </a:tr>
            </a:tbl>
          </a:graphicData>
        </a:graphic>
      </p:graphicFrame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F52740A-F692-3E22-3ED1-372BA80FCD3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12571565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435280" cy="86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/>
              <a:t> 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sz="3600" dirty="0"/>
            </a:br>
            <a:r>
              <a:rPr lang="ar" sz="3600"/>
              <a:t>ب-4 إعداد تنبؤ بالتدفق النقدي (1) </a:t>
            </a:r>
            <a:br>
              <a:rPr lang="en-GB" altLang="en-US" dirty="0"/>
            </a:br>
            <a:r>
              <a:rPr lang="ar" sz="4400" b="1">
                <a:effectLst/>
              </a:rPr>
              <a:t> </a:t>
            </a:r>
            <a:br>
              <a:rPr lang="en-GB" dirty="0"/>
            </a:br>
            <a:br>
              <a:rPr lang="en-GB" sz="4400" dirty="0"/>
            </a:br>
            <a:br>
              <a:rPr lang="en-GB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2623990"/>
            <a:ext cx="8147248" cy="423401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3200" b="1"/>
              <a:t>الغرض من/ فوائد استخدام التنبؤ بالتدفق النقدي</a:t>
            </a:r>
          </a:p>
          <a:p>
            <a:pPr rtl="1"/>
            <a:r>
              <a:rPr lang="ar" sz="3200">
                <a:effectLst/>
                <a:ea typeface="Times New Roman" panose="02020603050405020304" pitchFamily="18" charset="0"/>
              </a:rPr>
              <a:t>يساعد التنبؤ بالتدفق النقدي المديرين / المُلاك على تخطيط شؤونهم المالية للتأكد من حصولهم على أموال كافية لدفع الفواتير ومصروفات الشركة</a:t>
            </a:r>
            <a:r>
              <a:rPr lang="ar" sz="3200"/>
              <a:t> </a:t>
            </a:r>
          </a:p>
          <a:p>
            <a:pPr marL="0" indent="0" rtl="1">
              <a:buNone/>
            </a:pPr>
            <a:endParaRPr lang="en-GB" sz="2000" dirty="0">
              <a:effectLst/>
            </a:endParaRPr>
          </a:p>
          <a:p>
            <a:pPr rtl="1">
              <a:buFont typeface="Arial" panose="020B0604020202020204" pitchFamily="34" charset="0"/>
              <a:buChar char="•"/>
            </a:pPr>
            <a:endParaRPr lang="en-GB" sz="2000" dirty="0">
              <a:effectLst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4D2FCA1-730B-16AD-FCA5-594D97E84AA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11048310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-324544" y="1196752"/>
            <a:ext cx="9587408" cy="86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 dirty="0"/>
              <a:t> 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ar" sz="3600" dirty="0"/>
              <a:t>ب-4 تحليل التنبؤ بالتدفق النقدي (2) </a:t>
            </a:r>
            <a:br>
              <a:rPr lang="en-GB" altLang="en-US" sz="3600" dirty="0">
                <a:latin typeface="OpenSans"/>
              </a:rPr>
            </a:br>
            <a:r>
              <a:rPr lang="ar" sz="4400" b="1" dirty="0">
                <a:effectLst/>
                <a:latin typeface="OpenSans"/>
              </a:rPr>
              <a:t> </a:t>
            </a:r>
            <a:br>
              <a:rPr lang="en-GB" dirty="0"/>
            </a:br>
            <a:br>
              <a:rPr lang="en-GB" sz="4400" dirty="0"/>
            </a:br>
            <a:br>
              <a:rPr lang="en-GB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39552" y="2219326"/>
            <a:ext cx="8147248" cy="430601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indent="0" rtl="1">
              <a:spcBef>
                <a:spcPct val="30000"/>
              </a:spcBef>
              <a:buNone/>
              <a:defRPr/>
            </a:pPr>
            <a:r>
              <a:rPr lang="ar" sz="3200" b="1" dirty="0"/>
              <a:t>إجراءات تحسين التنبؤ بالتدفق النقدي</a:t>
            </a:r>
          </a:p>
          <a:p>
            <a:pPr marL="0" indent="0" rtl="1">
              <a:spcBef>
                <a:spcPct val="30000"/>
              </a:spcBef>
              <a:buNone/>
              <a:defRPr/>
            </a:pPr>
            <a:r>
              <a:rPr lang="ar" sz="3200" dirty="0"/>
              <a:t>على سبيل المثال:</a:t>
            </a:r>
          </a:p>
          <a:p>
            <a:pPr rtl="1">
              <a:spcBef>
                <a:spcPct val="30000"/>
              </a:spcBef>
              <a:defRPr/>
            </a:pPr>
            <a:r>
              <a:rPr lang="ar" sz="3200" dirty="0"/>
              <a:t>خفض التكاليف</a:t>
            </a:r>
          </a:p>
          <a:p>
            <a:pPr rtl="1">
              <a:spcBef>
                <a:spcPct val="30000"/>
              </a:spcBef>
              <a:defRPr/>
            </a:pPr>
            <a:r>
              <a:rPr lang="ar" sz="3200" dirty="0"/>
              <a:t>زيادة التدفقات النقدية</a:t>
            </a:r>
          </a:p>
          <a:p>
            <a:pPr rtl="1">
              <a:spcBef>
                <a:spcPct val="30000"/>
              </a:spcBef>
              <a:defRPr/>
            </a:pPr>
            <a:r>
              <a:rPr lang="ar" sz="3200" dirty="0"/>
              <a:t>الحصول على قروض للأعمال</a:t>
            </a:r>
          </a:p>
          <a:p>
            <a:pPr rtl="1">
              <a:spcBef>
                <a:spcPct val="30000"/>
              </a:spcBef>
              <a:defRPr/>
            </a:pPr>
            <a:r>
              <a:rPr lang="ar" sz="3200" dirty="0"/>
              <a:t>مطالبة البنك بإجراء سحب على المكشوف.</a:t>
            </a:r>
          </a:p>
          <a:p>
            <a:pPr rtl="1">
              <a:spcBef>
                <a:spcPct val="30000"/>
              </a:spcBef>
              <a:defRPr/>
            </a:pPr>
            <a:r>
              <a:rPr lang="ar" sz="3200" dirty="0"/>
              <a:t>تقليل عدد الموظفين</a:t>
            </a:r>
          </a:p>
          <a:p>
            <a:pPr rtl="1">
              <a:spcBef>
                <a:spcPct val="30000"/>
              </a:spcBef>
              <a:defRPr/>
            </a:pPr>
            <a:endParaRPr lang="en-GB" sz="2800" dirty="0"/>
          </a:p>
          <a:p>
            <a:pPr rtl="1">
              <a:buFont typeface="Arial" panose="020B0604020202020204" pitchFamily="34" charset="0"/>
              <a:buChar char="•"/>
            </a:pPr>
            <a:endParaRPr lang="en-GB" sz="1800" dirty="0">
              <a:effectLst/>
              <a:latin typeface="SymbolMT"/>
            </a:endParaRPr>
          </a:p>
          <a:p>
            <a:pPr rtl="1">
              <a:buFont typeface="Arial" panose="020B0604020202020204" pitchFamily="34" charset="0"/>
              <a:buChar char="•"/>
            </a:pPr>
            <a:endParaRPr lang="en-GB" sz="1800" dirty="0">
              <a:effectLst/>
              <a:latin typeface="SymbolMT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4F6DC00-086E-02B6-0F89-E7A13A979D4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50241588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-257708" y="1196752"/>
            <a:ext cx="9659416" cy="86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/>
              <a:t> 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ar" sz="3600"/>
              <a:t>ب-4 تحليل التنبؤ بالتدفق النقدي (3) </a:t>
            </a:r>
            <a:br>
              <a:rPr lang="en-GB" altLang="en-US" sz="3600" dirty="0"/>
            </a:br>
            <a:r>
              <a:rPr lang="ar" sz="4400" b="1">
                <a:effectLst/>
              </a:rPr>
              <a:t> </a:t>
            </a:r>
            <a:br>
              <a:rPr lang="en-GB" dirty="0"/>
            </a:br>
            <a:br>
              <a:rPr lang="en-GB" sz="4400" dirty="0"/>
            </a:br>
            <a:br>
              <a:rPr lang="en-GB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2219326"/>
            <a:ext cx="8147248" cy="430601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1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2800" b="1" dirty="0"/>
              <a:t>يُحتمل ألا يكون التنبؤ بالتدفق النقدي دقيقًا للغاية للأسباب التالية:</a:t>
            </a:r>
          </a:p>
          <a:p>
            <a:pPr rtl="1"/>
            <a:r>
              <a:rPr lang="ar" sz="2800"/>
              <a:t>يمكن حدوث تدفقات نقدية صادرة بشكل غير متوقع؛ مثل تعطل قطعة من المعدات أو مركبة والحاجة إلى إصلاح. </a:t>
            </a:r>
          </a:p>
          <a:p>
            <a:pPr rtl="1"/>
            <a:r>
              <a:rPr lang="ar" sz="2800" dirty="0"/>
              <a:t>قد توجد حالات لا تحدث فيها التدفقات النقدية الواردة المتوقعة أو لا تحدث في الوقت المحدد.  </a:t>
            </a:r>
          </a:p>
          <a:p>
            <a:pPr rtl="1"/>
            <a:r>
              <a:rPr lang="ar" sz="2800" dirty="0"/>
              <a:t>قد تخسر الشركة عميلاً دائمًا أو تبدأ المبيعات في التراجع. </a:t>
            </a:r>
          </a:p>
          <a:p>
            <a:pPr rtl="1">
              <a:buFont typeface="Arial" panose="020B0604020202020204" pitchFamily="34" charset="0"/>
              <a:buChar char="•"/>
            </a:pPr>
            <a:endParaRPr lang="en-GB" sz="1800" dirty="0">
              <a:effectLst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F0D08C8-91D3-2EB5-8587-CAB1FA8DFD7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911030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20" ma:contentTypeDescription="Create a new document." ma:contentTypeScope="" ma:versionID="7d267daa26e24eee3a5f4b0eb9224b47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144a094b618d5dc1a3294a7bede64c09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AdditionalInf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" ma:index="27" nillable="true" ma:displayName="Additional Info" ma:format="Dropdown" ma:internalName="AdditionalInfo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  <AdditionalInfo xmlns="f63d1639-2e8e-4dfe-b2d4-ff2deac92409" xsi:nil="true"/>
  </documentManagement>
</p:properties>
</file>

<file path=customXml/itemProps1.xml><?xml version="1.0" encoding="utf-8"?>
<ds:datastoreItem xmlns:ds="http://schemas.openxmlformats.org/officeDocument/2006/customXml" ds:itemID="{BB811204-8D35-4D72-BCC5-67BE38C9287B}"/>
</file>

<file path=customXml/itemProps2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14A0BF-5B8A-4BB2-A352-95B86537ECC0}">
  <ds:schemaRefs>
    <ds:schemaRef ds:uri="http://schemas.microsoft.com/office/2006/metadata/properties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7c1bd8dc-4e40-424f-a15f-9ffcd522197f"/>
    <ds:schemaRef ds:uri="6125ffc9-2c56-435e-8267-1393444907b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9172</TotalTime>
  <Words>1500</Words>
  <Application>Microsoft Office PowerPoint</Application>
  <PresentationFormat>On-screen Show (4:3)</PresentationFormat>
  <Paragraphs>270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28</vt:i4>
      </vt:variant>
    </vt:vector>
  </HeadingPairs>
  <TitlesOfParts>
    <vt:vector size="49" baseType="lpstr">
      <vt:lpstr>Arial</vt:lpstr>
      <vt:lpstr>Calibri</vt:lpstr>
      <vt:lpstr>Courier New</vt:lpstr>
      <vt:lpstr>OpenSans</vt:lpstr>
      <vt:lpstr>ReithSans</vt:lpstr>
      <vt:lpstr>Sakkal Majalla</vt:lpstr>
      <vt:lpstr>Symbol</vt:lpstr>
      <vt:lpstr>SymbolMT</vt:lpstr>
      <vt:lpstr>Times New Roman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3 التنبؤ بالأداء المالي للشركة   </vt:lpstr>
      <vt:lpstr>التنبؤ بالأداء المالي للشركة</vt:lpstr>
      <vt:lpstr>أهداف التعلم (أ) و(ب)</vt:lpstr>
      <vt:lpstr>مجالات الدراسة لهدف التعلم (أ)  </vt:lpstr>
      <vt:lpstr>    (أ1) تكاليف الشركة (1)    </vt:lpstr>
      <vt:lpstr>    (أ1) تكاليف الشركة (2)    </vt:lpstr>
      <vt:lpstr>   (أ1) تكاليف الشركة (3)    </vt:lpstr>
      <vt:lpstr> (أ2) الإيرادات (1)   </vt:lpstr>
      <vt:lpstr> (أ2) الإيرادات (2)   </vt:lpstr>
      <vt:lpstr> (أ2) الإيرادات (3)   </vt:lpstr>
      <vt:lpstr>    (أ3) الربح (1)   </vt:lpstr>
      <vt:lpstr>    (أ3) الربح (2)   </vt:lpstr>
      <vt:lpstr>(أ3) الربح (3) نموذج قائمة الدخل</vt:lpstr>
      <vt:lpstr>مجالات الدراسة لهدف التعلم (ب)  </vt:lpstr>
      <vt:lpstr>   (ب1) حساب نقطة التعادل (1)     </vt:lpstr>
      <vt:lpstr>    (ب1) حساب نقطة التعادل (2)     </vt:lpstr>
      <vt:lpstr>     (ب1) حساب نقطة التعادل (3)     </vt:lpstr>
      <vt:lpstr>  (ب2) استخدام نقطة التعادل (1) </vt:lpstr>
      <vt:lpstr>   (ب2) استخدام نقطة التعادل (2)     </vt:lpstr>
      <vt:lpstr>   (ب3) استخدام نقطة التعادل (3)     </vt:lpstr>
      <vt:lpstr>   (ب2) استخدام نقطة التعادل (4)     </vt:lpstr>
      <vt:lpstr>   (ب3) إعداد تنبؤ بالتدفق النقدي (1)    </vt:lpstr>
      <vt:lpstr>   (ب3) إعداد تنبؤ بالتدفق النقدي (2)   </vt:lpstr>
      <vt:lpstr>   (ب3) إعداد تنبؤ بالتدفق النقدي (3)    </vt:lpstr>
      <vt:lpstr>(ب3) إعداد تنبؤ بالتدفق النقدي (4)</vt:lpstr>
      <vt:lpstr>      ب-4 إعداد تنبؤ بالتدفق النقدي (1)        </vt:lpstr>
      <vt:lpstr>     ب-4 تحليل التنبؤ بالتدفق النقدي (2)        </vt:lpstr>
      <vt:lpstr>     ب-4 تحليل التنبؤ بالتدفق النقدي (3)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107</cp:revision>
  <dcterms:created xsi:type="dcterms:W3CDTF">2020-07-15T07:14:47Z</dcterms:created>
  <dcterms:modified xsi:type="dcterms:W3CDTF">2023-08-23T14:38:32Z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