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1"/>
  </p:notesMasterIdLst>
  <p:sldIdLst>
    <p:sldId id="256" r:id="rId14"/>
    <p:sldId id="257" r:id="rId15"/>
    <p:sldId id="258" r:id="rId16"/>
    <p:sldId id="272" r:id="rId17"/>
    <p:sldId id="305" r:id="rId18"/>
    <p:sldId id="344" r:id="rId19"/>
    <p:sldId id="345" r:id="rId20"/>
    <p:sldId id="346" r:id="rId21"/>
    <p:sldId id="359" r:id="rId22"/>
    <p:sldId id="348" r:id="rId23"/>
    <p:sldId id="349" r:id="rId24"/>
    <p:sldId id="340" r:id="rId25"/>
    <p:sldId id="307" r:id="rId26"/>
    <p:sldId id="358" r:id="rId27"/>
    <p:sldId id="363" r:id="rId28"/>
    <p:sldId id="360" r:id="rId29"/>
    <p:sldId id="364" r:id="rId30"/>
    <p:sldId id="361" r:id="rId31"/>
    <p:sldId id="362" r:id="rId32"/>
    <p:sldId id="365" r:id="rId33"/>
    <p:sldId id="341" r:id="rId34"/>
    <p:sldId id="309" r:id="rId35"/>
    <p:sldId id="367" r:id="rId36"/>
    <p:sldId id="368" r:id="rId37"/>
    <p:sldId id="366" r:id="rId38"/>
    <p:sldId id="369" r:id="rId39"/>
    <p:sldId id="370" r:id="rId40"/>
    <p:sldId id="342" r:id="rId41"/>
    <p:sldId id="343" r:id="rId42"/>
    <p:sldId id="350" r:id="rId43"/>
    <p:sldId id="373" r:id="rId44"/>
    <p:sldId id="352" r:id="rId45"/>
    <p:sldId id="371" r:id="rId46"/>
    <p:sldId id="372" r:id="rId47"/>
    <p:sldId id="353" r:id="rId48"/>
    <p:sldId id="356" r:id="rId49"/>
    <p:sldId id="374" r:id="rId50"/>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E58A21-73BE-8CCF-9B7C-342AF999FA9B}" name="Sarah Langley" initials="SL" userId="S::sarah.langley@pearson.com::239c5547-87b3-47be-8ff1-783a9a4cc88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5DA286-6AF9-8D33-1C47-553F76AEE1E2}" v="107" dt="2023-10-19T15:32:37.499"/>
    <p1510:client id="{6A6625F0-7149-47D0-9237-FCF4E78BF766}" v="6" dt="2023-10-18T20:25:52.251"/>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8" autoAdjust="0"/>
    <p:restoredTop sz="95314" autoAdjust="0"/>
  </p:normalViewPr>
  <p:slideViewPr>
    <p:cSldViewPr snapToGrid="0">
      <p:cViewPr varScale="1">
        <p:scale>
          <a:sx n="162" d="100"/>
          <a:sy n="162" d="100"/>
        </p:scale>
        <p:origin x="1788" y="144"/>
      </p:cViewPr>
      <p:guideLst>
        <p:guide orient="horz" pos="1933"/>
        <p:guide pos="2880"/>
        <p:guide pos="1791"/>
        <p:guide orient="horz" pos="3657"/>
        <p:guide pos="106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8/10/relationships/authors" Target="author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Langley" userId="S::sarah.langley@pearson.com::239c5547-87b3-47be-8ff1-783a9a4cc887" providerId="AD" clId="Web-{285DA286-6AF9-8D33-1C47-553F76AEE1E2}"/>
    <pc:docChg chg="mod modSld sldOrd">
      <pc:chgData name="Sarah Langley" userId="S::sarah.langley@pearson.com::239c5547-87b3-47be-8ff1-783a9a4cc887" providerId="AD" clId="Web-{285DA286-6AF9-8D33-1C47-553F76AEE1E2}" dt="2023-10-19T15:32:37.499" v="95" actId="1076"/>
      <pc:docMkLst>
        <pc:docMk/>
      </pc:docMkLst>
      <pc:sldChg chg="addSp modSp">
        <pc:chgData name="Sarah Langley" userId="S::sarah.langley@pearson.com::239c5547-87b3-47be-8ff1-783a9a4cc887" providerId="AD" clId="Web-{285DA286-6AF9-8D33-1C47-553F76AEE1E2}" dt="2023-10-19T15:01:48.607" v="14" actId="1076"/>
        <pc:sldMkLst>
          <pc:docMk/>
          <pc:sldMk cId="0" sldId="256"/>
        </pc:sldMkLst>
        <pc:spChg chg="mod">
          <ac:chgData name="Sarah Langley" userId="S::sarah.langley@pearson.com::239c5547-87b3-47be-8ff1-783a9a4cc887" providerId="AD" clId="Web-{285DA286-6AF9-8D33-1C47-553F76AEE1E2}" dt="2023-10-19T15:01:48.607" v="14" actId="1076"/>
          <ac:spMkLst>
            <pc:docMk/>
            <pc:sldMk cId="0" sldId="256"/>
            <ac:spMk id="3" creationId="{986D29E0-B089-110D-BF1E-B3C37F2C37F9}"/>
          </ac:spMkLst>
        </pc:spChg>
        <pc:picChg chg="add mod">
          <ac:chgData name="Sarah Langley" userId="S::sarah.langley@pearson.com::239c5547-87b3-47be-8ff1-783a9a4cc887" providerId="AD" clId="Web-{285DA286-6AF9-8D33-1C47-553F76AEE1E2}" dt="2023-10-19T15:01:42.200" v="13" actId="1076"/>
          <ac:picMkLst>
            <pc:docMk/>
            <pc:sldMk cId="0" sldId="256"/>
            <ac:picMk id="2" creationId="{D7BB244B-9D55-0729-284A-D01DCCB33028}"/>
          </ac:picMkLst>
        </pc:picChg>
      </pc:sldChg>
      <pc:sldChg chg="addSp delSp modSp mod modClrScheme chgLayout">
        <pc:chgData name="Sarah Langley" userId="S::sarah.langley@pearson.com::239c5547-87b3-47be-8ff1-783a9a4cc887" providerId="AD" clId="Web-{285DA286-6AF9-8D33-1C47-553F76AEE1E2}" dt="2023-10-19T15:01:55.795" v="15"/>
        <pc:sldMkLst>
          <pc:docMk/>
          <pc:sldMk cId="0" sldId="258"/>
        </pc:sldMkLst>
        <pc:spChg chg="mod">
          <ac:chgData name="Sarah Langley" userId="S::sarah.langley@pearson.com::239c5547-87b3-47be-8ff1-783a9a4cc887" providerId="AD" clId="Web-{285DA286-6AF9-8D33-1C47-553F76AEE1E2}" dt="2023-10-19T15:01:55.795" v="15"/>
          <ac:spMkLst>
            <pc:docMk/>
            <pc:sldMk cId="0" sldId="258"/>
            <ac:spMk id="32770" creationId="{CD9316BF-B3CE-8341-5A0A-249747D6C6E1}"/>
          </ac:spMkLst>
        </pc:spChg>
        <pc:spChg chg="del">
          <ac:chgData name="Sarah Langley" userId="S::sarah.langley@pearson.com::239c5547-87b3-47be-8ff1-783a9a4cc887" providerId="AD" clId="Web-{285DA286-6AF9-8D33-1C47-553F76AEE1E2}" dt="2023-10-19T15:01:55.795" v="15"/>
          <ac:spMkLst>
            <pc:docMk/>
            <pc:sldMk cId="0" sldId="258"/>
            <ac:spMk id="32771" creationId="{44DFA49F-83B7-E61C-00EB-D6046D571A05}"/>
          </ac:spMkLst>
        </pc:spChg>
        <pc:spChg chg="add mod">
          <ac:chgData name="Sarah Langley" userId="S::sarah.langley@pearson.com::239c5547-87b3-47be-8ff1-783a9a4cc887" providerId="AD" clId="Web-{285DA286-6AF9-8D33-1C47-553F76AEE1E2}" dt="2023-10-19T15:01:55.795" v="15"/>
          <ac:spMkLst>
            <pc:docMk/>
            <pc:sldMk cId="0" sldId="258"/>
            <ac:spMk id="32777" creationId="{3F32A14D-3D45-B453-209E-2BB2FE22D343}"/>
          </ac:spMkLst>
        </pc:spChg>
        <pc:graphicFrameChg chg="add mod">
          <ac:chgData name="Sarah Langley" userId="S::sarah.langley@pearson.com::239c5547-87b3-47be-8ff1-783a9a4cc887" providerId="AD" clId="Web-{285DA286-6AF9-8D33-1C47-553F76AEE1E2}" dt="2023-10-19T15:01:55.795" v="15"/>
          <ac:graphicFrameMkLst>
            <pc:docMk/>
            <pc:sldMk cId="0" sldId="258"/>
            <ac:graphicFrameMk id="32773" creationId="{42853EBB-D37D-97A2-E7EF-8D6821BC4D31}"/>
          </ac:graphicFrameMkLst>
        </pc:graphicFrameChg>
      </pc:sldChg>
      <pc:sldChg chg="addSp modSp">
        <pc:chgData name="Sarah Langley" userId="S::sarah.langley@pearson.com::239c5547-87b3-47be-8ff1-783a9a4cc887" providerId="AD" clId="Web-{285DA286-6AF9-8D33-1C47-553F76AEE1E2}" dt="2023-10-19T15:18:55.731" v="68" actId="1076"/>
        <pc:sldMkLst>
          <pc:docMk/>
          <pc:sldMk cId="2983112429" sldId="345"/>
        </pc:sldMkLst>
        <pc:spChg chg="mod">
          <ac:chgData name="Sarah Langley" userId="S::sarah.langley@pearson.com::239c5547-87b3-47be-8ff1-783a9a4cc887" providerId="AD" clId="Web-{285DA286-6AF9-8D33-1C47-553F76AEE1E2}" dt="2023-10-19T15:18:42.262" v="63" actId="1076"/>
          <ac:spMkLst>
            <pc:docMk/>
            <pc:sldMk cId="2983112429" sldId="345"/>
            <ac:spMk id="2" creationId="{2B8AF5D6-2E25-46EF-76B1-E4B8ABBA6070}"/>
          </ac:spMkLst>
        </pc:spChg>
        <pc:spChg chg="mod">
          <ac:chgData name="Sarah Langley" userId="S::sarah.langley@pearson.com::239c5547-87b3-47be-8ff1-783a9a4cc887" providerId="AD" clId="Web-{285DA286-6AF9-8D33-1C47-553F76AEE1E2}" dt="2023-10-19T15:18:34.324" v="59" actId="20577"/>
          <ac:spMkLst>
            <pc:docMk/>
            <pc:sldMk cId="2983112429" sldId="345"/>
            <ac:spMk id="3" creationId="{DDABD9BD-155E-85EC-EF2E-9C5FA4589637}"/>
          </ac:spMkLst>
        </pc:spChg>
        <pc:spChg chg="mod">
          <ac:chgData name="Sarah Langley" userId="S::sarah.langley@pearson.com::239c5547-87b3-47be-8ff1-783a9a4cc887" providerId="AD" clId="Web-{285DA286-6AF9-8D33-1C47-553F76AEE1E2}" dt="2023-10-19T15:18:52.061" v="67" actId="20577"/>
          <ac:spMkLst>
            <pc:docMk/>
            <pc:sldMk cId="2983112429" sldId="345"/>
            <ac:spMk id="4" creationId="{4B6E2D1A-72AD-E8CA-B45D-ADD9314A7C45}"/>
          </ac:spMkLst>
        </pc:spChg>
        <pc:picChg chg="add mod">
          <ac:chgData name="Sarah Langley" userId="S::sarah.langley@pearson.com::239c5547-87b3-47be-8ff1-783a9a4cc887" providerId="AD" clId="Web-{285DA286-6AF9-8D33-1C47-553F76AEE1E2}" dt="2023-10-19T15:18:36.433" v="60" actId="1076"/>
          <ac:picMkLst>
            <pc:docMk/>
            <pc:sldMk cId="2983112429" sldId="345"/>
            <ac:picMk id="6" creationId="{FA2CB4EC-7083-3B02-8190-E350C569B138}"/>
          </ac:picMkLst>
        </pc:picChg>
        <pc:picChg chg="add mod">
          <ac:chgData name="Sarah Langley" userId="S::sarah.langley@pearson.com::239c5547-87b3-47be-8ff1-783a9a4cc887" providerId="AD" clId="Web-{285DA286-6AF9-8D33-1C47-553F76AEE1E2}" dt="2023-10-19T15:18:55.731" v="68" actId="1076"/>
          <ac:picMkLst>
            <pc:docMk/>
            <pc:sldMk cId="2983112429" sldId="345"/>
            <ac:picMk id="7" creationId="{7ABE8E89-4ACE-0832-BA1F-0ABB6D57C284}"/>
          </ac:picMkLst>
        </pc:picChg>
      </pc:sldChg>
      <pc:sldChg chg="addSp modSp">
        <pc:chgData name="Sarah Langley" userId="S::sarah.langley@pearson.com::239c5547-87b3-47be-8ff1-783a9a4cc887" providerId="AD" clId="Web-{285DA286-6AF9-8D33-1C47-553F76AEE1E2}" dt="2023-10-19T15:19:02.232" v="69" actId="14100"/>
        <pc:sldMkLst>
          <pc:docMk/>
          <pc:sldMk cId="3705146589" sldId="346"/>
        </pc:sldMkLst>
        <pc:spChg chg="mod">
          <ac:chgData name="Sarah Langley" userId="S::sarah.langley@pearson.com::239c5547-87b3-47be-8ff1-783a9a4cc887" providerId="AD" clId="Web-{285DA286-6AF9-8D33-1C47-553F76AEE1E2}" dt="2023-10-19T15:12:58.960" v="24" actId="20577"/>
          <ac:spMkLst>
            <pc:docMk/>
            <pc:sldMk cId="3705146589" sldId="346"/>
            <ac:spMk id="3" creationId="{DDABD9BD-155E-85EC-EF2E-9C5FA4589637}"/>
          </ac:spMkLst>
        </pc:spChg>
        <pc:picChg chg="add mod">
          <ac:chgData name="Sarah Langley" userId="S::sarah.langley@pearson.com::239c5547-87b3-47be-8ff1-783a9a4cc887" providerId="AD" clId="Web-{285DA286-6AF9-8D33-1C47-553F76AEE1E2}" dt="2023-10-19T15:19:02.232" v="69" actId="14100"/>
          <ac:picMkLst>
            <pc:docMk/>
            <pc:sldMk cId="3705146589" sldId="346"/>
            <ac:picMk id="6" creationId="{20ABE0AE-DCEE-81AD-30FE-CDFA5BF7124D}"/>
          </ac:picMkLst>
        </pc:picChg>
      </pc:sldChg>
      <pc:sldChg chg="addSp modSp">
        <pc:chgData name="Sarah Langley" userId="S::sarah.langley@pearson.com::239c5547-87b3-47be-8ff1-783a9a4cc887" providerId="AD" clId="Web-{285DA286-6AF9-8D33-1C47-553F76AEE1E2}" dt="2023-10-19T15:31:24.620" v="92" actId="1076"/>
        <pc:sldMkLst>
          <pc:docMk/>
          <pc:sldMk cId="370667284" sldId="352"/>
        </pc:sldMkLst>
        <pc:picChg chg="add mod">
          <ac:chgData name="Sarah Langley" userId="S::sarah.langley@pearson.com::239c5547-87b3-47be-8ff1-783a9a4cc887" providerId="AD" clId="Web-{285DA286-6AF9-8D33-1C47-553F76AEE1E2}" dt="2023-10-19T15:31:24.620" v="92" actId="1076"/>
          <ac:picMkLst>
            <pc:docMk/>
            <pc:sldMk cId="370667284" sldId="352"/>
            <ac:picMk id="6" creationId="{D44DB899-78B0-D6B7-617C-B41E14109E1A}"/>
          </ac:picMkLst>
        </pc:picChg>
      </pc:sldChg>
      <pc:sldChg chg="addSp modSp ord addCm delCm">
        <pc:chgData name="Sarah Langley" userId="S::sarah.langley@pearson.com::239c5547-87b3-47be-8ff1-783a9a4cc887" providerId="AD" clId="Web-{285DA286-6AF9-8D33-1C47-553F76AEE1E2}" dt="2023-10-19T15:27:47.497" v="86" actId="1076"/>
        <pc:sldMkLst>
          <pc:docMk/>
          <pc:sldMk cId="151708076" sldId="360"/>
        </pc:sldMkLst>
        <pc:spChg chg="mod">
          <ac:chgData name="Sarah Langley" userId="S::sarah.langley@pearson.com::239c5547-87b3-47be-8ff1-783a9a4cc887" providerId="AD" clId="Web-{285DA286-6AF9-8D33-1C47-553F76AEE1E2}" dt="2023-10-19T15:13:36.618" v="28" actId="1076"/>
          <ac:spMkLst>
            <pc:docMk/>
            <pc:sldMk cId="151708076" sldId="360"/>
            <ac:spMk id="2" creationId="{59E886B7-0A20-4390-8F8F-277AA92726D9}"/>
          </ac:spMkLst>
        </pc:spChg>
        <pc:spChg chg="mod">
          <ac:chgData name="Sarah Langley" userId="S::sarah.langley@pearson.com::239c5547-87b3-47be-8ff1-783a9a4cc887" providerId="AD" clId="Web-{285DA286-6AF9-8D33-1C47-553F76AEE1E2}" dt="2023-10-19T15:16:39.036" v="34" actId="20577"/>
          <ac:spMkLst>
            <pc:docMk/>
            <pc:sldMk cId="151708076" sldId="360"/>
            <ac:spMk id="3" creationId="{81F36EE2-BD9F-7E65-D0DB-29A5BDEAD880}"/>
          </ac:spMkLst>
        </pc:spChg>
        <pc:spChg chg="mod">
          <ac:chgData name="Sarah Langley" userId="S::sarah.langley@pearson.com::239c5547-87b3-47be-8ff1-783a9a4cc887" providerId="AD" clId="Web-{285DA286-6AF9-8D33-1C47-553F76AEE1E2}" dt="2023-10-19T15:13:39.212" v="29" actId="1076"/>
          <ac:spMkLst>
            <pc:docMk/>
            <pc:sldMk cId="151708076" sldId="360"/>
            <ac:spMk id="4" creationId="{2D40E29C-0E59-956F-B4A9-E97BE3698D69}"/>
          </ac:spMkLst>
        </pc:spChg>
        <pc:picChg chg="add mod">
          <ac:chgData name="Sarah Langley" userId="S::sarah.langley@pearson.com::239c5547-87b3-47be-8ff1-783a9a4cc887" providerId="AD" clId="Web-{285DA286-6AF9-8D33-1C47-553F76AEE1E2}" dt="2023-10-19T15:27:47.497" v="86" actId="1076"/>
          <ac:picMkLst>
            <pc:docMk/>
            <pc:sldMk cId="151708076" sldId="360"/>
            <ac:picMk id="6" creationId="{EC60D0B6-12A2-FD71-06FB-F42037D543DC}"/>
          </ac:picMkLst>
        </pc:picChg>
        <pc:extLst>
          <p:ext xmlns:p="http://schemas.openxmlformats.org/presentationml/2006/main" uri="{D6D511B9-2390-475A-947B-AFAB55BFBCF1}">
            <pc226:cmChg xmlns:pc226="http://schemas.microsoft.com/office/powerpoint/2022/06/main/command" xmlns="" chg="add del">
              <pc226:chgData name="Sarah Langley" userId="S::sarah.langley@pearson.com::239c5547-87b3-47be-8ff1-783a9a4cc887" providerId="AD" clId="Web-{285DA286-6AF9-8D33-1C47-553F76AEE1E2}" dt="2023-10-19T15:26:21.274" v="80"/>
              <pc2:cmMkLst xmlns:pc2="http://schemas.microsoft.com/office/powerpoint/2019/9/main/command">
                <pc:docMk/>
                <pc:sldMk cId="151708076" sldId="360"/>
                <pc2:cmMk id="{8EE27112-418E-425F-ABF2-88BDEEAA7E8F}"/>
              </pc2:cmMkLst>
            </pc226:cmChg>
          </p:ext>
        </pc:extLst>
      </pc:sldChg>
      <pc:sldChg chg="addSp modSp">
        <pc:chgData name="Sarah Langley" userId="S::sarah.langley@pearson.com::239c5547-87b3-47be-8ff1-783a9a4cc887" providerId="AD" clId="Web-{285DA286-6AF9-8D33-1C47-553F76AEE1E2}" dt="2023-10-19T15:23:16.763" v="79" actId="1076"/>
        <pc:sldMkLst>
          <pc:docMk/>
          <pc:sldMk cId="3862710052" sldId="362"/>
        </pc:sldMkLst>
        <pc:picChg chg="add mod">
          <ac:chgData name="Sarah Langley" userId="S::sarah.langley@pearson.com::239c5547-87b3-47be-8ff1-783a9a4cc887" providerId="AD" clId="Web-{285DA286-6AF9-8D33-1C47-553F76AEE1E2}" dt="2023-10-19T15:23:16.763" v="79" actId="1076"/>
          <ac:picMkLst>
            <pc:docMk/>
            <pc:sldMk cId="3862710052" sldId="362"/>
            <ac:picMk id="6" creationId="{E276BE60-F5EC-B56B-2360-817E5A96FE4D}"/>
          </ac:picMkLst>
        </pc:picChg>
      </pc:sldChg>
      <pc:sldChg chg="modSp">
        <pc:chgData name="Sarah Langley" userId="S::sarah.langley@pearson.com::239c5547-87b3-47be-8ff1-783a9a4cc887" providerId="AD" clId="Web-{285DA286-6AF9-8D33-1C47-553F76AEE1E2}" dt="2023-10-19T15:19:42.062" v="74" actId="1076"/>
        <pc:sldMkLst>
          <pc:docMk/>
          <pc:sldMk cId="598974688" sldId="363"/>
        </pc:sldMkLst>
        <pc:spChg chg="mod">
          <ac:chgData name="Sarah Langley" userId="S::sarah.langley@pearson.com::239c5547-87b3-47be-8ff1-783a9a4cc887" providerId="AD" clId="Web-{285DA286-6AF9-8D33-1C47-553F76AEE1E2}" dt="2023-10-19T15:19:35.749" v="72" actId="1076"/>
          <ac:spMkLst>
            <pc:docMk/>
            <pc:sldMk cId="598974688" sldId="363"/>
            <ac:spMk id="2" creationId="{59E886B7-0A20-4390-8F8F-277AA92726D9}"/>
          </ac:spMkLst>
        </pc:spChg>
        <pc:spChg chg="mod">
          <ac:chgData name="Sarah Langley" userId="S::sarah.langley@pearson.com::239c5547-87b3-47be-8ff1-783a9a4cc887" providerId="AD" clId="Web-{285DA286-6AF9-8D33-1C47-553F76AEE1E2}" dt="2023-10-19T15:19:42.062" v="74" actId="1076"/>
          <ac:spMkLst>
            <pc:docMk/>
            <pc:sldMk cId="598974688" sldId="363"/>
            <ac:spMk id="3" creationId="{81F36EE2-BD9F-7E65-D0DB-29A5BDEAD880}"/>
          </ac:spMkLst>
        </pc:spChg>
        <pc:picChg chg="mod">
          <ac:chgData name="Sarah Langley" userId="S::sarah.langley@pearson.com::239c5547-87b3-47be-8ff1-783a9a4cc887" providerId="AD" clId="Web-{285DA286-6AF9-8D33-1C47-553F76AEE1E2}" dt="2023-10-19T15:19:38.609" v="73" actId="1076"/>
          <ac:picMkLst>
            <pc:docMk/>
            <pc:sldMk cId="598974688" sldId="363"/>
            <ac:picMk id="2052" creationId="{45DBD9D5-F51B-71FE-8B27-CF87D104EDED}"/>
          </ac:picMkLst>
        </pc:picChg>
      </pc:sldChg>
      <pc:sldChg chg="modSp">
        <pc:chgData name="Sarah Langley" userId="S::sarah.langley@pearson.com::239c5547-87b3-47be-8ff1-783a9a4cc887" providerId="AD" clId="Web-{285DA286-6AF9-8D33-1C47-553F76AEE1E2}" dt="2023-10-19T15:20:01.767" v="75" actId="1076"/>
        <pc:sldMkLst>
          <pc:docMk/>
          <pc:sldMk cId="1492953663" sldId="364"/>
        </pc:sldMkLst>
        <pc:picChg chg="mod">
          <ac:chgData name="Sarah Langley" userId="S::sarah.langley@pearson.com::239c5547-87b3-47be-8ff1-783a9a4cc887" providerId="AD" clId="Web-{285DA286-6AF9-8D33-1C47-553F76AEE1E2}" dt="2023-10-19T15:20:01.767" v="75" actId="1076"/>
          <ac:picMkLst>
            <pc:docMk/>
            <pc:sldMk cId="1492953663" sldId="364"/>
            <ac:picMk id="6146" creationId="{5BE7FFB9-99AE-5767-FE91-EB756F8E2B5F}"/>
          </ac:picMkLst>
        </pc:picChg>
      </pc:sldChg>
      <pc:sldChg chg="addSp modSp">
        <pc:chgData name="Sarah Langley" userId="S::sarah.langley@pearson.com::239c5547-87b3-47be-8ff1-783a9a4cc887" providerId="AD" clId="Web-{285DA286-6AF9-8D33-1C47-553F76AEE1E2}" dt="2023-10-19T15:30:55.368" v="89" actId="1076"/>
        <pc:sldMkLst>
          <pc:docMk/>
          <pc:sldMk cId="1062585782" sldId="368"/>
        </pc:sldMkLst>
        <pc:picChg chg="add mod">
          <ac:chgData name="Sarah Langley" userId="S::sarah.langley@pearson.com::239c5547-87b3-47be-8ff1-783a9a4cc887" providerId="AD" clId="Web-{285DA286-6AF9-8D33-1C47-553F76AEE1E2}" dt="2023-10-19T15:30:55.368" v="89" actId="1076"/>
          <ac:picMkLst>
            <pc:docMk/>
            <pc:sldMk cId="1062585782" sldId="368"/>
            <ac:picMk id="6" creationId="{A964DD64-EDE2-E0DC-F0F3-63791968BB10}"/>
          </ac:picMkLst>
        </pc:picChg>
      </pc:sldChg>
      <pc:sldChg chg="modSp">
        <pc:chgData name="Sarah Langley" userId="S::sarah.langley@pearson.com::239c5547-87b3-47be-8ff1-783a9a4cc887" providerId="AD" clId="Web-{285DA286-6AF9-8D33-1C47-553F76AEE1E2}" dt="2023-10-19T15:27:10.136" v="81" actId="1076"/>
        <pc:sldMkLst>
          <pc:docMk/>
          <pc:sldMk cId="531694385" sldId="370"/>
        </pc:sldMkLst>
        <pc:picChg chg="mod">
          <ac:chgData name="Sarah Langley" userId="S::sarah.langley@pearson.com::239c5547-87b3-47be-8ff1-783a9a4cc887" providerId="AD" clId="Web-{285DA286-6AF9-8D33-1C47-553F76AEE1E2}" dt="2023-10-19T15:27:10.136" v="81" actId="1076"/>
          <ac:picMkLst>
            <pc:docMk/>
            <pc:sldMk cId="531694385" sldId="370"/>
            <ac:picMk id="4098" creationId="{FD444B01-0194-84CC-5C35-E0190EC3FEE6}"/>
          </ac:picMkLst>
        </pc:picChg>
      </pc:sldChg>
      <pc:sldChg chg="addSp modSp">
        <pc:chgData name="Sarah Langley" userId="S::sarah.langley@pearson.com::239c5547-87b3-47be-8ff1-783a9a4cc887" providerId="AD" clId="Web-{285DA286-6AF9-8D33-1C47-553F76AEE1E2}" dt="2023-10-19T15:32:37.499" v="95" actId="1076"/>
        <pc:sldMkLst>
          <pc:docMk/>
          <pc:sldMk cId="3958654896" sldId="371"/>
        </pc:sldMkLst>
        <pc:picChg chg="add mod">
          <ac:chgData name="Sarah Langley" userId="S::sarah.langley@pearson.com::239c5547-87b3-47be-8ff1-783a9a4cc887" providerId="AD" clId="Web-{285DA286-6AF9-8D33-1C47-553F76AEE1E2}" dt="2023-10-19T15:32:37.499" v="95" actId="1076"/>
          <ac:picMkLst>
            <pc:docMk/>
            <pc:sldMk cId="3958654896" sldId="371"/>
            <ac:picMk id="6" creationId="{0DD75039-2600-9E96-12E9-7D7A551D3F04}"/>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C2C61F-A609-4202-962F-1AD1FD43B5CC}"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AB6FCC8-E95F-44C7-9785-DD4DE79BB85B}">
      <dgm:prSet/>
      <dgm:spPr/>
      <dgm:t>
        <a:bodyPr rtlCol="1"/>
        <a:lstStyle/>
        <a:p>
          <a:pPr rtl="1"/>
          <a:r>
            <a:rPr lang="ar" b="1" dirty="0"/>
            <a:t>أ	اكتشف فوائد إدارة الأعمال وأفكار الشركة الناشئة</a:t>
          </a:r>
          <a:endParaRPr lang="en-US" dirty="0"/>
        </a:p>
      </dgm:t>
    </dgm:pt>
    <dgm:pt modelId="{DDA7A998-555B-4FD0-BCE4-E884E474A61D}" type="parTrans" cxnId="{89B2670D-F1A7-432C-935B-8BAAB1155EDD}">
      <dgm:prSet/>
      <dgm:spPr/>
      <dgm:t>
        <a:bodyPr rtlCol="1"/>
        <a:lstStyle/>
        <a:p>
          <a:pPr rtl="1"/>
          <a:endParaRPr lang="en-US"/>
        </a:p>
      </dgm:t>
    </dgm:pt>
    <dgm:pt modelId="{ABD69193-C350-42F2-8E83-65E85C047000}" type="sibTrans" cxnId="{89B2670D-F1A7-432C-935B-8BAAB1155EDD}">
      <dgm:prSet/>
      <dgm:spPr/>
      <dgm:t>
        <a:bodyPr rtlCol="1"/>
        <a:lstStyle/>
        <a:p>
          <a:pPr rtl="1"/>
          <a:endParaRPr lang="en-US"/>
        </a:p>
      </dgm:t>
    </dgm:pt>
    <dgm:pt modelId="{8C54088B-B08B-42BE-A339-D226B6150AFD}">
      <dgm:prSet/>
      <dgm:spPr/>
      <dgm:t>
        <a:bodyPr rtlCol="1"/>
        <a:lstStyle/>
        <a:p>
          <a:pPr rtl="1"/>
          <a:r>
            <a:rPr lang="ar" b="1" dirty="0"/>
            <a:t>ب	اجرِ بحثًا في السوق وحضِّر خطة ترويجية لشركة جديدة </a:t>
          </a:r>
          <a:endParaRPr lang="en-US" dirty="0"/>
        </a:p>
      </dgm:t>
    </dgm:pt>
    <dgm:pt modelId="{7AB7F8A9-7601-40A9-B7B0-EF7C7A3FC883}" type="parTrans" cxnId="{E66AF2AF-F5B4-42A2-B315-844AC8127027}">
      <dgm:prSet/>
      <dgm:spPr/>
      <dgm:t>
        <a:bodyPr rtlCol="1"/>
        <a:lstStyle/>
        <a:p>
          <a:pPr rtl="1"/>
          <a:endParaRPr lang="en-US"/>
        </a:p>
      </dgm:t>
    </dgm:pt>
    <dgm:pt modelId="{7FF38407-91BB-4CF3-B8A9-174C434C8FE9}" type="sibTrans" cxnId="{E66AF2AF-F5B4-42A2-B315-844AC8127027}">
      <dgm:prSet/>
      <dgm:spPr/>
      <dgm:t>
        <a:bodyPr rtlCol="1"/>
        <a:lstStyle/>
        <a:p>
          <a:pPr rtl="1"/>
          <a:endParaRPr lang="en-US"/>
        </a:p>
      </dgm:t>
    </dgm:pt>
    <dgm:pt modelId="{40B9794E-B767-4A88-BC94-4FAFD903FE37}">
      <dgm:prSet/>
      <dgm:spPr/>
      <dgm:t>
        <a:bodyPr rtlCol="1"/>
        <a:lstStyle/>
        <a:p>
          <a:pPr rtl="1"/>
          <a:r>
            <a:rPr lang="ar" b="1" dirty="0"/>
            <a:t>ج	وضع خطة مالية لتأسيس شركة صغيرة</a:t>
          </a:r>
          <a:endParaRPr lang="en-US" dirty="0"/>
        </a:p>
      </dgm:t>
    </dgm:pt>
    <dgm:pt modelId="{5AC50D7D-5D74-4CBE-B7E0-4BECE89811DE}" type="parTrans" cxnId="{E3BB6779-7DD9-4291-88CD-DCC3980C3C3B}">
      <dgm:prSet/>
      <dgm:spPr/>
      <dgm:t>
        <a:bodyPr rtlCol="1"/>
        <a:lstStyle/>
        <a:p>
          <a:pPr rtl="1"/>
          <a:endParaRPr lang="en-US"/>
        </a:p>
      </dgm:t>
    </dgm:pt>
    <dgm:pt modelId="{F070B08F-680B-403E-88B0-02D2EAEF9A68}" type="sibTrans" cxnId="{E3BB6779-7DD9-4291-88CD-DCC3980C3C3B}">
      <dgm:prSet/>
      <dgm:spPr/>
      <dgm:t>
        <a:bodyPr rtlCol="1"/>
        <a:lstStyle/>
        <a:p>
          <a:pPr rtl="1"/>
          <a:endParaRPr lang="en-US"/>
        </a:p>
      </dgm:t>
    </dgm:pt>
    <dgm:pt modelId="{D14C214B-3531-4054-8E4F-5CE03C3379A8}">
      <dgm:prSet/>
      <dgm:spPr/>
      <dgm:t>
        <a:bodyPr rtlCol="1"/>
        <a:lstStyle/>
        <a:p>
          <a:pPr rtl="1"/>
          <a:r>
            <a:rPr lang="ar" b="1" dirty="0"/>
            <a:t>د	وضع خطة عمل</a:t>
          </a:r>
          <a:endParaRPr lang="en-US" dirty="0"/>
        </a:p>
      </dgm:t>
    </dgm:pt>
    <dgm:pt modelId="{D8233433-A686-443C-9A18-5FC52AD17D99}" type="parTrans" cxnId="{68073B7D-4115-4209-83CD-5163FB2C0C03}">
      <dgm:prSet/>
      <dgm:spPr/>
      <dgm:t>
        <a:bodyPr rtlCol="1"/>
        <a:lstStyle/>
        <a:p>
          <a:pPr rtl="1"/>
          <a:endParaRPr lang="en-US"/>
        </a:p>
      </dgm:t>
    </dgm:pt>
    <dgm:pt modelId="{6A6D6E97-F335-42F7-9B62-B653960FFB8A}" type="sibTrans" cxnId="{68073B7D-4115-4209-83CD-5163FB2C0C03}">
      <dgm:prSet/>
      <dgm:spPr/>
      <dgm:t>
        <a:bodyPr rtlCol="1"/>
        <a:lstStyle/>
        <a:p>
          <a:pPr rtl="1"/>
          <a:endParaRPr lang="en-US"/>
        </a:p>
      </dgm:t>
    </dgm:pt>
    <dgm:pt modelId="{02128DB9-A5AB-42DC-8A69-5D007501A48B}" type="pres">
      <dgm:prSet presAssocID="{32C2C61F-A609-4202-962F-1AD1FD43B5CC}" presName="root" presStyleCnt="0">
        <dgm:presLayoutVars>
          <dgm:dir/>
          <dgm:resizeHandles val="exact"/>
        </dgm:presLayoutVars>
      </dgm:prSet>
      <dgm:spPr/>
    </dgm:pt>
    <dgm:pt modelId="{92DF80D6-403A-420E-BD25-71AB6B20F9ED}" type="pres">
      <dgm:prSet presAssocID="{1AB6FCC8-E95F-44C7-9785-DD4DE79BB85B}" presName="compNode" presStyleCnt="0"/>
      <dgm:spPr/>
    </dgm:pt>
    <dgm:pt modelId="{463832DC-2548-4E54-9BA7-C4ED9528C85F}" type="pres">
      <dgm:prSet presAssocID="{1AB6FCC8-E95F-44C7-9785-DD4DE79BB85B}" presName="bgRect" presStyleLbl="bgShp" presStyleIdx="0" presStyleCnt="4"/>
      <dgm:spPr/>
    </dgm:pt>
    <dgm:pt modelId="{637D88F8-5FAC-43E5-9F3F-B11AF23944F7}" type="pres">
      <dgm:prSet presAssocID="{1AB6FCC8-E95F-44C7-9785-DD4DE79BB85B}" presName="iconRect" presStyleLbl="node1" presStyleIdx="0" presStyleCnt="4" custLinFactX="800000" custLinFactNeighborX="83461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5B67A1D8-60F5-4F9E-80AF-C8FFB8F6B2ED}" type="pres">
      <dgm:prSet presAssocID="{1AB6FCC8-E95F-44C7-9785-DD4DE79BB85B}" presName="spaceRect" presStyleCnt="0"/>
      <dgm:spPr/>
    </dgm:pt>
    <dgm:pt modelId="{75BAC736-4978-422F-A9B0-E4B79E3027A9}" type="pres">
      <dgm:prSet presAssocID="{1AB6FCC8-E95F-44C7-9785-DD4DE79BB85B}" presName="parTx" presStyleLbl="revTx" presStyleIdx="0" presStyleCnt="4" custLinFactNeighborX="-12702">
        <dgm:presLayoutVars>
          <dgm:chMax val="0"/>
          <dgm:chPref val="0"/>
        </dgm:presLayoutVars>
      </dgm:prSet>
      <dgm:spPr/>
    </dgm:pt>
    <dgm:pt modelId="{76C638A8-C7AE-4987-B1B2-FF3F058020F2}" type="pres">
      <dgm:prSet presAssocID="{ABD69193-C350-42F2-8E83-65E85C047000}" presName="sibTrans" presStyleCnt="0"/>
      <dgm:spPr/>
    </dgm:pt>
    <dgm:pt modelId="{1E5012A0-BA5F-4841-B1C1-A8FBDD423367}" type="pres">
      <dgm:prSet presAssocID="{8C54088B-B08B-42BE-A339-D226B6150AFD}" presName="compNode" presStyleCnt="0"/>
      <dgm:spPr/>
    </dgm:pt>
    <dgm:pt modelId="{4F51662A-3A90-479E-A184-2F328B3C13B6}" type="pres">
      <dgm:prSet presAssocID="{8C54088B-B08B-42BE-A339-D226B6150AFD}" presName="bgRect" presStyleLbl="bgShp" presStyleIdx="1" presStyleCnt="4"/>
      <dgm:spPr/>
    </dgm:pt>
    <dgm:pt modelId="{EC91B378-1A04-4D30-AE7C-FF4414C13DA2}" type="pres">
      <dgm:prSet presAssocID="{8C54088B-B08B-42BE-A339-D226B6150AFD}" presName="iconRect" presStyleLbl="node1" presStyleIdx="1" presStyleCnt="4" custLinFactX="800000" custLinFactNeighborX="83461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6BD2FB37-46CB-4289-9A01-242C9EA445F7}" type="pres">
      <dgm:prSet presAssocID="{8C54088B-B08B-42BE-A339-D226B6150AFD}" presName="spaceRect" presStyleCnt="0"/>
      <dgm:spPr/>
    </dgm:pt>
    <dgm:pt modelId="{94945FAB-4C37-4684-9F4A-54B7D6A7BEA8}" type="pres">
      <dgm:prSet presAssocID="{8C54088B-B08B-42BE-A339-D226B6150AFD}" presName="parTx" presStyleLbl="revTx" presStyleIdx="1" presStyleCnt="4" custLinFactNeighborX="-12702">
        <dgm:presLayoutVars>
          <dgm:chMax val="0"/>
          <dgm:chPref val="0"/>
        </dgm:presLayoutVars>
      </dgm:prSet>
      <dgm:spPr/>
    </dgm:pt>
    <dgm:pt modelId="{7500E104-F93C-403D-93E7-07A9F034B395}" type="pres">
      <dgm:prSet presAssocID="{7FF38407-91BB-4CF3-B8A9-174C434C8FE9}" presName="sibTrans" presStyleCnt="0"/>
      <dgm:spPr/>
    </dgm:pt>
    <dgm:pt modelId="{E8F56737-3246-4B84-A820-CA225137D79B}" type="pres">
      <dgm:prSet presAssocID="{40B9794E-B767-4A88-BC94-4FAFD903FE37}" presName="compNode" presStyleCnt="0"/>
      <dgm:spPr/>
    </dgm:pt>
    <dgm:pt modelId="{16A3421E-DD50-45E9-9207-5D5FF3AF5E12}" type="pres">
      <dgm:prSet presAssocID="{40B9794E-B767-4A88-BC94-4FAFD903FE37}" presName="bgRect" presStyleLbl="bgShp" presStyleIdx="2" presStyleCnt="4"/>
      <dgm:spPr/>
    </dgm:pt>
    <dgm:pt modelId="{7AD0C2AA-EE51-4CF6-A5B2-D9910ACC1E18}" type="pres">
      <dgm:prSet presAssocID="{40B9794E-B767-4A88-BC94-4FAFD903FE37}" presName="iconRect" presStyleLbl="node1" presStyleIdx="2" presStyleCnt="4" custLinFactX="800000" custLinFactNeighborX="83461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31D97782-70AE-4310-A079-034E0FDAC4DD}" type="pres">
      <dgm:prSet presAssocID="{40B9794E-B767-4A88-BC94-4FAFD903FE37}" presName="spaceRect" presStyleCnt="0"/>
      <dgm:spPr/>
    </dgm:pt>
    <dgm:pt modelId="{F6778E04-F404-45D7-A9FD-18240F21FD62}" type="pres">
      <dgm:prSet presAssocID="{40B9794E-B767-4A88-BC94-4FAFD903FE37}" presName="parTx" presStyleLbl="revTx" presStyleIdx="2" presStyleCnt="4" custLinFactNeighborX="-12702">
        <dgm:presLayoutVars>
          <dgm:chMax val="0"/>
          <dgm:chPref val="0"/>
        </dgm:presLayoutVars>
      </dgm:prSet>
      <dgm:spPr/>
    </dgm:pt>
    <dgm:pt modelId="{25A3A049-4E5D-4B90-B59F-6C408A32C887}" type="pres">
      <dgm:prSet presAssocID="{F070B08F-680B-403E-88B0-02D2EAEF9A68}" presName="sibTrans" presStyleCnt="0"/>
      <dgm:spPr/>
    </dgm:pt>
    <dgm:pt modelId="{FA5A89C1-CB70-4FFC-B25D-891FEF987375}" type="pres">
      <dgm:prSet presAssocID="{D14C214B-3531-4054-8E4F-5CE03C3379A8}" presName="compNode" presStyleCnt="0"/>
      <dgm:spPr/>
    </dgm:pt>
    <dgm:pt modelId="{968B7AFC-043F-47C0-BCF3-35A23124C718}" type="pres">
      <dgm:prSet presAssocID="{D14C214B-3531-4054-8E4F-5CE03C3379A8}" presName="bgRect" presStyleLbl="bgShp" presStyleIdx="3" presStyleCnt="4"/>
      <dgm:spPr/>
    </dgm:pt>
    <dgm:pt modelId="{EAB62E31-CD28-4E33-BD31-DE96157A9D4F}" type="pres">
      <dgm:prSet presAssocID="{D14C214B-3531-4054-8E4F-5CE03C3379A8}" presName="iconRect" presStyleLbl="node1" presStyleIdx="3" presStyleCnt="4" custLinFactX="800000" custLinFactNeighborX="834612"/>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List"/>
        </a:ext>
      </dgm:extLst>
    </dgm:pt>
    <dgm:pt modelId="{DC63AE14-E9F8-4C53-A7FD-C5D4EED5A535}" type="pres">
      <dgm:prSet presAssocID="{D14C214B-3531-4054-8E4F-5CE03C3379A8}" presName="spaceRect" presStyleCnt="0"/>
      <dgm:spPr/>
    </dgm:pt>
    <dgm:pt modelId="{2AA1A084-533F-4E67-8DF1-2C3BDF770E9D}" type="pres">
      <dgm:prSet presAssocID="{D14C214B-3531-4054-8E4F-5CE03C3379A8}" presName="parTx" presStyleLbl="revTx" presStyleIdx="3" presStyleCnt="4" custLinFactNeighborX="-12702">
        <dgm:presLayoutVars>
          <dgm:chMax val="0"/>
          <dgm:chPref val="0"/>
        </dgm:presLayoutVars>
      </dgm:prSet>
      <dgm:spPr/>
    </dgm:pt>
  </dgm:ptLst>
  <dgm:cxnLst>
    <dgm:cxn modelId="{C068C408-2813-4344-9A13-E97F23929FEC}" type="presOf" srcId="{40B9794E-B767-4A88-BC94-4FAFD903FE37}" destId="{F6778E04-F404-45D7-A9FD-18240F21FD62}" srcOrd="0" destOrd="0" presId="urn:microsoft.com/office/officeart/2018/2/layout/IconVerticalSolidList"/>
    <dgm:cxn modelId="{89B2670D-F1A7-432C-935B-8BAAB1155EDD}" srcId="{32C2C61F-A609-4202-962F-1AD1FD43B5CC}" destId="{1AB6FCC8-E95F-44C7-9785-DD4DE79BB85B}" srcOrd="0" destOrd="0" parTransId="{DDA7A998-555B-4FD0-BCE4-E884E474A61D}" sibTransId="{ABD69193-C350-42F2-8E83-65E85C047000}"/>
    <dgm:cxn modelId="{903D6141-691F-4A0A-8950-0D745AD0980F}" type="presOf" srcId="{32C2C61F-A609-4202-962F-1AD1FD43B5CC}" destId="{02128DB9-A5AB-42DC-8A69-5D007501A48B}" srcOrd="0" destOrd="0" presId="urn:microsoft.com/office/officeart/2018/2/layout/IconVerticalSolidList"/>
    <dgm:cxn modelId="{97D85262-8656-4A89-9FB6-C2BD39A8BFBD}" type="presOf" srcId="{1AB6FCC8-E95F-44C7-9785-DD4DE79BB85B}" destId="{75BAC736-4978-422F-A9B0-E4B79E3027A9}" srcOrd="0" destOrd="0" presId="urn:microsoft.com/office/officeart/2018/2/layout/IconVerticalSolidList"/>
    <dgm:cxn modelId="{816AE44F-6A44-43A0-BA3A-BEF8F8BB6EFE}" type="presOf" srcId="{8C54088B-B08B-42BE-A339-D226B6150AFD}" destId="{94945FAB-4C37-4684-9F4A-54B7D6A7BEA8}" srcOrd="0" destOrd="0" presId="urn:microsoft.com/office/officeart/2018/2/layout/IconVerticalSolidList"/>
    <dgm:cxn modelId="{E3BB6779-7DD9-4291-88CD-DCC3980C3C3B}" srcId="{32C2C61F-A609-4202-962F-1AD1FD43B5CC}" destId="{40B9794E-B767-4A88-BC94-4FAFD903FE37}" srcOrd="2" destOrd="0" parTransId="{5AC50D7D-5D74-4CBE-B7E0-4BECE89811DE}" sibTransId="{F070B08F-680B-403E-88B0-02D2EAEF9A68}"/>
    <dgm:cxn modelId="{68073B7D-4115-4209-83CD-5163FB2C0C03}" srcId="{32C2C61F-A609-4202-962F-1AD1FD43B5CC}" destId="{D14C214B-3531-4054-8E4F-5CE03C3379A8}" srcOrd="3" destOrd="0" parTransId="{D8233433-A686-443C-9A18-5FC52AD17D99}" sibTransId="{6A6D6E97-F335-42F7-9B62-B653960FFB8A}"/>
    <dgm:cxn modelId="{4E3B2A9E-63B9-4D14-A134-0B96705E0C6C}" type="presOf" srcId="{D14C214B-3531-4054-8E4F-5CE03C3379A8}" destId="{2AA1A084-533F-4E67-8DF1-2C3BDF770E9D}" srcOrd="0" destOrd="0" presId="urn:microsoft.com/office/officeart/2018/2/layout/IconVerticalSolidList"/>
    <dgm:cxn modelId="{E66AF2AF-F5B4-42A2-B315-844AC8127027}" srcId="{32C2C61F-A609-4202-962F-1AD1FD43B5CC}" destId="{8C54088B-B08B-42BE-A339-D226B6150AFD}" srcOrd="1" destOrd="0" parTransId="{7AB7F8A9-7601-40A9-B7B0-EF7C7A3FC883}" sibTransId="{7FF38407-91BB-4CF3-B8A9-174C434C8FE9}"/>
    <dgm:cxn modelId="{9CDBF46D-6B3F-4AF9-8C74-669DDE493E4D}" type="presParOf" srcId="{02128DB9-A5AB-42DC-8A69-5D007501A48B}" destId="{92DF80D6-403A-420E-BD25-71AB6B20F9ED}" srcOrd="0" destOrd="0" presId="urn:microsoft.com/office/officeart/2018/2/layout/IconVerticalSolidList"/>
    <dgm:cxn modelId="{CD13050D-0D44-419C-8C75-CD8EFC89E860}" type="presParOf" srcId="{92DF80D6-403A-420E-BD25-71AB6B20F9ED}" destId="{463832DC-2548-4E54-9BA7-C4ED9528C85F}" srcOrd="0" destOrd="0" presId="urn:microsoft.com/office/officeart/2018/2/layout/IconVerticalSolidList"/>
    <dgm:cxn modelId="{120D699F-E569-4F70-B2A4-25BF3748E5A8}" type="presParOf" srcId="{92DF80D6-403A-420E-BD25-71AB6B20F9ED}" destId="{637D88F8-5FAC-43E5-9F3F-B11AF23944F7}" srcOrd="1" destOrd="0" presId="urn:microsoft.com/office/officeart/2018/2/layout/IconVerticalSolidList"/>
    <dgm:cxn modelId="{D1F45BE1-1331-4C43-9E57-9E1E186F90C1}" type="presParOf" srcId="{92DF80D6-403A-420E-BD25-71AB6B20F9ED}" destId="{5B67A1D8-60F5-4F9E-80AF-C8FFB8F6B2ED}" srcOrd="2" destOrd="0" presId="urn:microsoft.com/office/officeart/2018/2/layout/IconVerticalSolidList"/>
    <dgm:cxn modelId="{AFD5CE32-FCCD-4957-A704-864C677A1F43}" type="presParOf" srcId="{92DF80D6-403A-420E-BD25-71AB6B20F9ED}" destId="{75BAC736-4978-422F-A9B0-E4B79E3027A9}" srcOrd="3" destOrd="0" presId="urn:microsoft.com/office/officeart/2018/2/layout/IconVerticalSolidList"/>
    <dgm:cxn modelId="{8C58C05F-6EC8-4CA5-9728-64B122B7FFB0}" type="presParOf" srcId="{02128DB9-A5AB-42DC-8A69-5D007501A48B}" destId="{76C638A8-C7AE-4987-B1B2-FF3F058020F2}" srcOrd="1" destOrd="0" presId="urn:microsoft.com/office/officeart/2018/2/layout/IconVerticalSolidList"/>
    <dgm:cxn modelId="{95A984AD-D459-4342-AF48-40EA81F71747}" type="presParOf" srcId="{02128DB9-A5AB-42DC-8A69-5D007501A48B}" destId="{1E5012A0-BA5F-4841-B1C1-A8FBDD423367}" srcOrd="2" destOrd="0" presId="urn:microsoft.com/office/officeart/2018/2/layout/IconVerticalSolidList"/>
    <dgm:cxn modelId="{1BDD5332-644D-4634-BDA4-A03D6EEB2AD1}" type="presParOf" srcId="{1E5012A0-BA5F-4841-B1C1-A8FBDD423367}" destId="{4F51662A-3A90-479E-A184-2F328B3C13B6}" srcOrd="0" destOrd="0" presId="urn:microsoft.com/office/officeart/2018/2/layout/IconVerticalSolidList"/>
    <dgm:cxn modelId="{B12E23D3-5651-4B0D-B293-E825272B4D70}" type="presParOf" srcId="{1E5012A0-BA5F-4841-B1C1-A8FBDD423367}" destId="{EC91B378-1A04-4D30-AE7C-FF4414C13DA2}" srcOrd="1" destOrd="0" presId="urn:microsoft.com/office/officeart/2018/2/layout/IconVerticalSolidList"/>
    <dgm:cxn modelId="{7F6DAC3D-4EA2-45C1-8198-2B704D1F9E00}" type="presParOf" srcId="{1E5012A0-BA5F-4841-B1C1-A8FBDD423367}" destId="{6BD2FB37-46CB-4289-9A01-242C9EA445F7}" srcOrd="2" destOrd="0" presId="urn:microsoft.com/office/officeart/2018/2/layout/IconVerticalSolidList"/>
    <dgm:cxn modelId="{57255A0B-FC74-4199-8B0B-91F50FB1053A}" type="presParOf" srcId="{1E5012A0-BA5F-4841-B1C1-A8FBDD423367}" destId="{94945FAB-4C37-4684-9F4A-54B7D6A7BEA8}" srcOrd="3" destOrd="0" presId="urn:microsoft.com/office/officeart/2018/2/layout/IconVerticalSolidList"/>
    <dgm:cxn modelId="{B13A45FC-A75F-43E1-A63A-CFC674FFBFF1}" type="presParOf" srcId="{02128DB9-A5AB-42DC-8A69-5D007501A48B}" destId="{7500E104-F93C-403D-93E7-07A9F034B395}" srcOrd="3" destOrd="0" presId="urn:microsoft.com/office/officeart/2018/2/layout/IconVerticalSolidList"/>
    <dgm:cxn modelId="{BA030533-5FBB-4E3A-95FB-16BCAC7D6E43}" type="presParOf" srcId="{02128DB9-A5AB-42DC-8A69-5D007501A48B}" destId="{E8F56737-3246-4B84-A820-CA225137D79B}" srcOrd="4" destOrd="0" presId="urn:microsoft.com/office/officeart/2018/2/layout/IconVerticalSolidList"/>
    <dgm:cxn modelId="{EC5D2A38-5596-4D98-B6DC-CB900557FD25}" type="presParOf" srcId="{E8F56737-3246-4B84-A820-CA225137D79B}" destId="{16A3421E-DD50-45E9-9207-5D5FF3AF5E12}" srcOrd="0" destOrd="0" presId="urn:microsoft.com/office/officeart/2018/2/layout/IconVerticalSolidList"/>
    <dgm:cxn modelId="{DE8D72B2-7A5E-4B55-AE1A-9662EE019B7E}" type="presParOf" srcId="{E8F56737-3246-4B84-A820-CA225137D79B}" destId="{7AD0C2AA-EE51-4CF6-A5B2-D9910ACC1E18}" srcOrd="1" destOrd="0" presId="urn:microsoft.com/office/officeart/2018/2/layout/IconVerticalSolidList"/>
    <dgm:cxn modelId="{AA45AED3-8A20-49A5-A714-253AD1139F2B}" type="presParOf" srcId="{E8F56737-3246-4B84-A820-CA225137D79B}" destId="{31D97782-70AE-4310-A079-034E0FDAC4DD}" srcOrd="2" destOrd="0" presId="urn:microsoft.com/office/officeart/2018/2/layout/IconVerticalSolidList"/>
    <dgm:cxn modelId="{B1E64A16-0FE8-495B-9220-4981AA2054C3}" type="presParOf" srcId="{E8F56737-3246-4B84-A820-CA225137D79B}" destId="{F6778E04-F404-45D7-A9FD-18240F21FD62}" srcOrd="3" destOrd="0" presId="urn:microsoft.com/office/officeart/2018/2/layout/IconVerticalSolidList"/>
    <dgm:cxn modelId="{171A12E9-56F3-435E-BA9C-8F76FF8E94A8}" type="presParOf" srcId="{02128DB9-A5AB-42DC-8A69-5D007501A48B}" destId="{25A3A049-4E5D-4B90-B59F-6C408A32C887}" srcOrd="5" destOrd="0" presId="urn:microsoft.com/office/officeart/2018/2/layout/IconVerticalSolidList"/>
    <dgm:cxn modelId="{E99D27C6-A75F-42F4-B77A-E9FDBAFF575E}" type="presParOf" srcId="{02128DB9-A5AB-42DC-8A69-5D007501A48B}" destId="{FA5A89C1-CB70-4FFC-B25D-891FEF987375}" srcOrd="6" destOrd="0" presId="urn:microsoft.com/office/officeart/2018/2/layout/IconVerticalSolidList"/>
    <dgm:cxn modelId="{55765B62-F6ED-4925-AEC1-A65469129486}" type="presParOf" srcId="{FA5A89C1-CB70-4FFC-B25D-891FEF987375}" destId="{968B7AFC-043F-47C0-BCF3-35A23124C718}" srcOrd="0" destOrd="0" presId="urn:microsoft.com/office/officeart/2018/2/layout/IconVerticalSolidList"/>
    <dgm:cxn modelId="{2AD997D6-9C7F-4619-95B8-9DB41CD0728B}" type="presParOf" srcId="{FA5A89C1-CB70-4FFC-B25D-891FEF987375}" destId="{EAB62E31-CD28-4E33-BD31-DE96157A9D4F}" srcOrd="1" destOrd="0" presId="urn:microsoft.com/office/officeart/2018/2/layout/IconVerticalSolidList"/>
    <dgm:cxn modelId="{D7C749AA-F442-4533-8002-2D4D84666379}" type="presParOf" srcId="{FA5A89C1-CB70-4FFC-B25D-891FEF987375}" destId="{DC63AE14-E9F8-4C53-A7FD-C5D4EED5A535}" srcOrd="2" destOrd="0" presId="urn:microsoft.com/office/officeart/2018/2/layout/IconVerticalSolidList"/>
    <dgm:cxn modelId="{CB76A28F-3735-47D8-99F8-7E3E2C7EBB42}" type="presParOf" srcId="{FA5A89C1-CB70-4FFC-B25D-891FEF987375}" destId="{2AA1A084-533F-4E67-8DF1-2C3BDF770E9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4C253E-E990-0548-8692-C3116E410949}" type="doc">
      <dgm:prSet loTypeId="urn:microsoft.com/office/officeart/2005/8/layout/venn1" loCatId="" qsTypeId="urn:microsoft.com/office/officeart/2005/8/quickstyle/simple1" qsCatId="simple" csTypeId="urn:microsoft.com/office/officeart/2005/8/colors/colorful5" csCatId="colorful" phldr="1"/>
      <dgm:spPr/>
    </dgm:pt>
    <dgm:pt modelId="{FD17A6C2-FBA7-5A45-91A3-32A748AA3622}">
      <dgm:prSet phldrT="[Text]" custT="1"/>
      <dgm:spPr/>
      <dgm:t>
        <a:bodyPr rtlCol="1"/>
        <a:lstStyle/>
        <a:p>
          <a:pPr rtl="1"/>
          <a:r>
            <a:rPr lang="ar" sz="2500" dirty="0"/>
            <a:t>الموارد </a:t>
          </a:r>
          <a:br>
            <a:rPr lang="ar-EG" sz="2500" dirty="0"/>
          </a:br>
          <a:r>
            <a:rPr lang="ar" sz="2500" dirty="0"/>
            <a:t>البشرية</a:t>
          </a:r>
        </a:p>
      </dgm:t>
    </dgm:pt>
    <dgm:pt modelId="{F0B575BE-959C-4D40-8714-C67F42E1AED1}" type="parTrans" cxnId="{9BA9A6E7-4626-144D-A2B5-AAA31D7ADB6B}">
      <dgm:prSet/>
      <dgm:spPr/>
      <dgm:t>
        <a:bodyPr rtlCol="1"/>
        <a:lstStyle/>
        <a:p>
          <a:pPr rtl="1"/>
          <a:endParaRPr lang="en-GB"/>
        </a:p>
      </dgm:t>
    </dgm:pt>
    <dgm:pt modelId="{B4EF1438-4E2B-3241-B956-A59F49C7A254}" type="sibTrans" cxnId="{9BA9A6E7-4626-144D-A2B5-AAA31D7ADB6B}">
      <dgm:prSet/>
      <dgm:spPr/>
      <dgm:t>
        <a:bodyPr rtlCol="1"/>
        <a:lstStyle/>
        <a:p>
          <a:pPr rtl="1"/>
          <a:endParaRPr lang="en-GB"/>
        </a:p>
      </dgm:t>
    </dgm:pt>
    <dgm:pt modelId="{FC8159E0-7644-0642-BBCC-AA2A24C68F93}">
      <dgm:prSet phldrT="[Text]" custT="1"/>
      <dgm:spPr/>
      <dgm:t>
        <a:bodyPr rtlCol="1"/>
        <a:lstStyle/>
        <a:p>
          <a:pPr rtl="1"/>
          <a:r>
            <a:rPr lang="ar" sz="2500" dirty="0"/>
            <a:t>الموارد </a:t>
          </a:r>
          <a:br>
            <a:rPr lang="ar-EG" sz="2500" dirty="0"/>
          </a:br>
          <a:r>
            <a:rPr lang="ar" sz="2500" dirty="0"/>
            <a:t>المالية</a:t>
          </a:r>
        </a:p>
      </dgm:t>
    </dgm:pt>
    <dgm:pt modelId="{0D3A404F-919A-154B-8B1F-B3756A393F72}" type="parTrans" cxnId="{67E8A76E-0C19-4942-8A9F-ED6937A49DEA}">
      <dgm:prSet/>
      <dgm:spPr/>
      <dgm:t>
        <a:bodyPr rtlCol="1"/>
        <a:lstStyle/>
        <a:p>
          <a:pPr rtl="1"/>
          <a:endParaRPr lang="en-GB"/>
        </a:p>
      </dgm:t>
    </dgm:pt>
    <dgm:pt modelId="{C727010D-306B-8B40-816F-79274721250E}" type="sibTrans" cxnId="{67E8A76E-0C19-4942-8A9F-ED6937A49DEA}">
      <dgm:prSet/>
      <dgm:spPr/>
      <dgm:t>
        <a:bodyPr rtlCol="1"/>
        <a:lstStyle/>
        <a:p>
          <a:pPr rtl="1"/>
          <a:endParaRPr lang="en-GB"/>
        </a:p>
      </dgm:t>
    </dgm:pt>
    <dgm:pt modelId="{10B6708B-FC99-D240-93AA-5F9AE37A5D32}">
      <dgm:prSet phldrT="[Text]" custT="1"/>
      <dgm:spPr/>
      <dgm:t>
        <a:bodyPr rtlCol="1"/>
        <a:lstStyle/>
        <a:p>
          <a:pPr rtl="1"/>
          <a:r>
            <a:rPr lang="ar" sz="2500" dirty="0"/>
            <a:t>الموارد </a:t>
          </a:r>
          <a:br>
            <a:rPr lang="ar-EG" sz="2500" dirty="0"/>
          </a:br>
          <a:r>
            <a:rPr lang="ar" sz="2500" dirty="0"/>
            <a:t>المادية</a:t>
          </a:r>
        </a:p>
      </dgm:t>
    </dgm:pt>
    <dgm:pt modelId="{20B59382-C139-AC4C-A7AD-2AC9E36393F4}" type="parTrans" cxnId="{82974B1A-2F3A-9344-8E53-52B38D3E999F}">
      <dgm:prSet/>
      <dgm:spPr/>
      <dgm:t>
        <a:bodyPr rtlCol="1"/>
        <a:lstStyle/>
        <a:p>
          <a:pPr rtl="1"/>
          <a:endParaRPr lang="en-GB"/>
        </a:p>
      </dgm:t>
    </dgm:pt>
    <dgm:pt modelId="{C88FA750-107E-0D43-8DF6-0F9211FD68F3}" type="sibTrans" cxnId="{82974B1A-2F3A-9344-8E53-52B38D3E999F}">
      <dgm:prSet/>
      <dgm:spPr/>
      <dgm:t>
        <a:bodyPr rtlCol="1"/>
        <a:lstStyle/>
        <a:p>
          <a:pPr rtl="1"/>
          <a:endParaRPr lang="en-GB"/>
        </a:p>
      </dgm:t>
    </dgm:pt>
    <dgm:pt modelId="{5D734AF8-03B1-2D48-B953-03465AEB0C22}" type="pres">
      <dgm:prSet presAssocID="{134C253E-E990-0548-8692-C3116E410949}" presName="compositeShape" presStyleCnt="0">
        <dgm:presLayoutVars>
          <dgm:chMax val="7"/>
          <dgm:dir/>
          <dgm:resizeHandles val="exact"/>
        </dgm:presLayoutVars>
      </dgm:prSet>
      <dgm:spPr/>
    </dgm:pt>
    <dgm:pt modelId="{7126BEAA-187B-C543-AE42-63B9659DFD5D}" type="pres">
      <dgm:prSet presAssocID="{FD17A6C2-FBA7-5A45-91A3-32A748AA3622}" presName="circ1" presStyleLbl="vennNode1" presStyleIdx="0" presStyleCnt="3"/>
      <dgm:spPr/>
    </dgm:pt>
    <dgm:pt modelId="{C9DEF0B9-4510-4448-9AC7-93709323E3D1}" type="pres">
      <dgm:prSet presAssocID="{FD17A6C2-FBA7-5A45-91A3-32A748AA3622}" presName="circ1Tx" presStyleLbl="revTx" presStyleIdx="0" presStyleCnt="0">
        <dgm:presLayoutVars>
          <dgm:chMax val="0"/>
          <dgm:chPref val="0"/>
          <dgm:bulletEnabled val="1"/>
        </dgm:presLayoutVars>
      </dgm:prSet>
      <dgm:spPr/>
    </dgm:pt>
    <dgm:pt modelId="{787C7BC1-0CB5-0341-A0C3-F2FB9E46CDE6}" type="pres">
      <dgm:prSet presAssocID="{FC8159E0-7644-0642-BBCC-AA2A24C68F93}" presName="circ2" presStyleLbl="vennNode1" presStyleIdx="1" presStyleCnt="3"/>
      <dgm:spPr/>
    </dgm:pt>
    <dgm:pt modelId="{7D1AA133-9520-6645-AF81-736E7E0CB173}" type="pres">
      <dgm:prSet presAssocID="{FC8159E0-7644-0642-BBCC-AA2A24C68F93}" presName="circ2Tx" presStyleLbl="revTx" presStyleIdx="0" presStyleCnt="0">
        <dgm:presLayoutVars>
          <dgm:chMax val="0"/>
          <dgm:chPref val="0"/>
          <dgm:bulletEnabled val="1"/>
        </dgm:presLayoutVars>
      </dgm:prSet>
      <dgm:spPr/>
    </dgm:pt>
    <dgm:pt modelId="{444F2B70-17F8-E148-AFBD-2A4064EC36C5}" type="pres">
      <dgm:prSet presAssocID="{10B6708B-FC99-D240-93AA-5F9AE37A5D32}" presName="circ3" presStyleLbl="vennNode1" presStyleIdx="2" presStyleCnt="3"/>
      <dgm:spPr/>
    </dgm:pt>
    <dgm:pt modelId="{1836AC83-3A69-3148-A95B-873994C7E22F}" type="pres">
      <dgm:prSet presAssocID="{10B6708B-FC99-D240-93AA-5F9AE37A5D32}" presName="circ3Tx" presStyleLbl="revTx" presStyleIdx="0" presStyleCnt="0">
        <dgm:presLayoutVars>
          <dgm:chMax val="0"/>
          <dgm:chPref val="0"/>
          <dgm:bulletEnabled val="1"/>
        </dgm:presLayoutVars>
      </dgm:prSet>
      <dgm:spPr/>
    </dgm:pt>
  </dgm:ptLst>
  <dgm:cxnLst>
    <dgm:cxn modelId="{F91E6F18-F6DC-BE40-BC43-D56F6287F9CB}" type="presOf" srcId="{10B6708B-FC99-D240-93AA-5F9AE37A5D32}" destId="{1836AC83-3A69-3148-A95B-873994C7E22F}" srcOrd="1" destOrd="0" presId="urn:microsoft.com/office/officeart/2005/8/layout/venn1"/>
    <dgm:cxn modelId="{82974B1A-2F3A-9344-8E53-52B38D3E999F}" srcId="{134C253E-E990-0548-8692-C3116E410949}" destId="{10B6708B-FC99-D240-93AA-5F9AE37A5D32}" srcOrd="2" destOrd="0" parTransId="{20B59382-C139-AC4C-A7AD-2AC9E36393F4}" sibTransId="{C88FA750-107E-0D43-8DF6-0F9211FD68F3}"/>
    <dgm:cxn modelId="{9F61DD28-40F7-0F43-AE34-81C1A6FF1252}" type="presOf" srcId="{134C253E-E990-0548-8692-C3116E410949}" destId="{5D734AF8-03B1-2D48-B953-03465AEB0C22}" srcOrd="0" destOrd="0" presId="urn:microsoft.com/office/officeart/2005/8/layout/venn1"/>
    <dgm:cxn modelId="{01C9E935-4A13-C94C-976A-F86AF8BC6C8E}" type="presOf" srcId="{FC8159E0-7644-0642-BBCC-AA2A24C68F93}" destId="{787C7BC1-0CB5-0341-A0C3-F2FB9E46CDE6}" srcOrd="0" destOrd="0" presId="urn:microsoft.com/office/officeart/2005/8/layout/venn1"/>
    <dgm:cxn modelId="{40E5FE65-CF04-5C42-AB45-01899F7FA673}" type="presOf" srcId="{FD17A6C2-FBA7-5A45-91A3-32A748AA3622}" destId="{C9DEF0B9-4510-4448-9AC7-93709323E3D1}" srcOrd="1" destOrd="0" presId="urn:microsoft.com/office/officeart/2005/8/layout/venn1"/>
    <dgm:cxn modelId="{67E8A76E-0C19-4942-8A9F-ED6937A49DEA}" srcId="{134C253E-E990-0548-8692-C3116E410949}" destId="{FC8159E0-7644-0642-BBCC-AA2A24C68F93}" srcOrd="1" destOrd="0" parTransId="{0D3A404F-919A-154B-8B1F-B3756A393F72}" sibTransId="{C727010D-306B-8B40-816F-79274721250E}"/>
    <dgm:cxn modelId="{48004EA5-A744-E146-91CF-1AE5250BFDCA}" type="presOf" srcId="{FC8159E0-7644-0642-BBCC-AA2A24C68F93}" destId="{7D1AA133-9520-6645-AF81-736E7E0CB173}" srcOrd="1" destOrd="0" presId="urn:microsoft.com/office/officeart/2005/8/layout/venn1"/>
    <dgm:cxn modelId="{BEECB5E1-7124-0448-AD9A-251A5E762E0A}" type="presOf" srcId="{FD17A6C2-FBA7-5A45-91A3-32A748AA3622}" destId="{7126BEAA-187B-C543-AE42-63B9659DFD5D}" srcOrd="0" destOrd="0" presId="urn:microsoft.com/office/officeart/2005/8/layout/venn1"/>
    <dgm:cxn modelId="{9BA9A6E7-4626-144D-A2B5-AAA31D7ADB6B}" srcId="{134C253E-E990-0548-8692-C3116E410949}" destId="{FD17A6C2-FBA7-5A45-91A3-32A748AA3622}" srcOrd="0" destOrd="0" parTransId="{F0B575BE-959C-4D40-8714-C67F42E1AED1}" sibTransId="{B4EF1438-4E2B-3241-B956-A59F49C7A254}"/>
    <dgm:cxn modelId="{001937F9-5FEE-7541-BF2F-FAC4CA518E9E}" type="presOf" srcId="{10B6708B-FC99-D240-93AA-5F9AE37A5D32}" destId="{444F2B70-17F8-E148-AFBD-2A4064EC36C5}" srcOrd="0" destOrd="0" presId="urn:microsoft.com/office/officeart/2005/8/layout/venn1"/>
    <dgm:cxn modelId="{A7AA58FA-0F7F-B04F-B325-2B115DFDC5A6}" type="presParOf" srcId="{5D734AF8-03B1-2D48-B953-03465AEB0C22}" destId="{7126BEAA-187B-C543-AE42-63B9659DFD5D}" srcOrd="0" destOrd="0" presId="urn:microsoft.com/office/officeart/2005/8/layout/venn1"/>
    <dgm:cxn modelId="{26419710-E27C-4344-8172-572F1E33E453}" type="presParOf" srcId="{5D734AF8-03B1-2D48-B953-03465AEB0C22}" destId="{C9DEF0B9-4510-4448-9AC7-93709323E3D1}" srcOrd="1" destOrd="0" presId="urn:microsoft.com/office/officeart/2005/8/layout/venn1"/>
    <dgm:cxn modelId="{77B24C58-9701-9B47-A27A-C2FBEFAF0FF4}" type="presParOf" srcId="{5D734AF8-03B1-2D48-B953-03465AEB0C22}" destId="{787C7BC1-0CB5-0341-A0C3-F2FB9E46CDE6}" srcOrd="2" destOrd="0" presId="urn:microsoft.com/office/officeart/2005/8/layout/venn1"/>
    <dgm:cxn modelId="{2E0FCB2E-0CF1-F444-9EA2-53A442B52C1A}" type="presParOf" srcId="{5D734AF8-03B1-2D48-B953-03465AEB0C22}" destId="{7D1AA133-9520-6645-AF81-736E7E0CB173}" srcOrd="3" destOrd="0" presId="urn:microsoft.com/office/officeart/2005/8/layout/venn1"/>
    <dgm:cxn modelId="{F0753F5A-5294-EC45-AD69-A2732EF4A7AC}" type="presParOf" srcId="{5D734AF8-03B1-2D48-B953-03465AEB0C22}" destId="{444F2B70-17F8-E148-AFBD-2A4064EC36C5}" srcOrd="4" destOrd="0" presId="urn:microsoft.com/office/officeart/2005/8/layout/venn1"/>
    <dgm:cxn modelId="{17FAB54F-CFEE-C040-9FB6-1019FBF8AE59}" type="presParOf" srcId="{5D734AF8-03B1-2D48-B953-03465AEB0C22}" destId="{1836AC83-3A69-3148-A95B-873994C7E22F}"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575BF8-D0CC-4047-9771-988EA571B0EF}" type="doc">
      <dgm:prSet loTypeId="urn:microsoft.com/office/officeart/2005/8/layout/pyramid4" loCatId="" qsTypeId="urn:microsoft.com/office/officeart/2005/8/quickstyle/simple1" qsCatId="simple" csTypeId="urn:microsoft.com/office/officeart/2005/8/colors/accent2_4" csCatId="accent2" phldr="1"/>
      <dgm:spPr/>
      <dgm:t>
        <a:bodyPr rtlCol="1"/>
        <a:lstStyle/>
        <a:p>
          <a:pPr rtl="1"/>
          <a:endParaRPr lang="en-GB"/>
        </a:p>
      </dgm:t>
    </dgm:pt>
    <dgm:pt modelId="{FC4853C8-26B6-944A-9A7C-BB655764F654}">
      <dgm:prSet phldrT="[Text]"/>
      <dgm:spPr/>
      <dgm:t>
        <a:bodyPr rtlCol="1"/>
        <a:lstStyle/>
        <a:p>
          <a:pPr rtl="1"/>
          <a:r>
            <a:rPr lang="ar" dirty="0"/>
            <a:t>المنتج</a:t>
          </a:r>
        </a:p>
      </dgm:t>
    </dgm:pt>
    <dgm:pt modelId="{24ED5989-A0EC-7941-8E3E-07DC7B2DEA87}" type="parTrans" cxnId="{90FA66A5-381C-6B4D-ABF6-DDF32FA8422F}">
      <dgm:prSet/>
      <dgm:spPr/>
      <dgm:t>
        <a:bodyPr rtlCol="1"/>
        <a:lstStyle/>
        <a:p>
          <a:pPr rtl="1"/>
          <a:endParaRPr lang="en-GB"/>
        </a:p>
      </dgm:t>
    </dgm:pt>
    <dgm:pt modelId="{63C49DC4-A495-AC47-92C5-6FE33F9E4A09}" type="sibTrans" cxnId="{90FA66A5-381C-6B4D-ABF6-DDF32FA8422F}">
      <dgm:prSet/>
      <dgm:spPr/>
      <dgm:t>
        <a:bodyPr rtlCol="1"/>
        <a:lstStyle/>
        <a:p>
          <a:pPr rtl="1"/>
          <a:endParaRPr lang="en-GB"/>
        </a:p>
      </dgm:t>
    </dgm:pt>
    <dgm:pt modelId="{52E20111-80CB-A748-A292-56B1BC21EBC1}">
      <dgm:prSet phldrT="[Text]"/>
      <dgm:spPr/>
      <dgm:t>
        <a:bodyPr rtlCol="1"/>
        <a:lstStyle/>
        <a:p>
          <a:pPr rtl="1"/>
          <a:r>
            <a:rPr lang="ar"/>
            <a:t>الترويج</a:t>
          </a:r>
        </a:p>
      </dgm:t>
    </dgm:pt>
    <dgm:pt modelId="{24BB8C4B-23EE-7F4F-9E7D-F0A067DE0AF0}" type="parTrans" cxnId="{13F161DF-C5C4-5440-9EC2-37BE5F7644B1}">
      <dgm:prSet/>
      <dgm:spPr/>
      <dgm:t>
        <a:bodyPr rtlCol="1"/>
        <a:lstStyle/>
        <a:p>
          <a:pPr rtl="1"/>
          <a:endParaRPr lang="en-GB"/>
        </a:p>
      </dgm:t>
    </dgm:pt>
    <dgm:pt modelId="{1BFA5616-EE76-F34F-B612-EF928A628601}" type="sibTrans" cxnId="{13F161DF-C5C4-5440-9EC2-37BE5F7644B1}">
      <dgm:prSet/>
      <dgm:spPr/>
      <dgm:t>
        <a:bodyPr rtlCol="1"/>
        <a:lstStyle/>
        <a:p>
          <a:pPr rtl="1"/>
          <a:endParaRPr lang="en-GB"/>
        </a:p>
      </dgm:t>
    </dgm:pt>
    <dgm:pt modelId="{B4B5806C-2AA9-6C4F-B363-492ACCDF7819}">
      <dgm:prSet phldrT="[Text]"/>
      <dgm:spPr/>
      <dgm:t>
        <a:bodyPr rtlCol="1"/>
        <a:lstStyle/>
        <a:p>
          <a:pPr rtl="1"/>
          <a:r>
            <a:rPr lang="ar"/>
            <a:t>السعر</a:t>
          </a:r>
        </a:p>
      </dgm:t>
    </dgm:pt>
    <dgm:pt modelId="{9A3F872D-6150-734B-8AB3-E99390D6BB9E}" type="parTrans" cxnId="{5B54FE13-0370-4E48-9310-5778716E1FD4}">
      <dgm:prSet/>
      <dgm:spPr/>
      <dgm:t>
        <a:bodyPr rtlCol="1"/>
        <a:lstStyle/>
        <a:p>
          <a:pPr rtl="1"/>
          <a:endParaRPr lang="en-GB"/>
        </a:p>
      </dgm:t>
    </dgm:pt>
    <dgm:pt modelId="{393B6C60-C1AB-6E4C-AF0C-CEA3BB830CF0}" type="sibTrans" cxnId="{5B54FE13-0370-4E48-9310-5778716E1FD4}">
      <dgm:prSet/>
      <dgm:spPr/>
      <dgm:t>
        <a:bodyPr rtlCol="1"/>
        <a:lstStyle/>
        <a:p>
          <a:pPr rtl="1"/>
          <a:endParaRPr lang="en-GB"/>
        </a:p>
      </dgm:t>
    </dgm:pt>
    <dgm:pt modelId="{D0D6C298-3E1D-0F4E-BE5F-9DBF127AABA2}">
      <dgm:prSet phldrT="[Text]"/>
      <dgm:spPr/>
      <dgm:t>
        <a:bodyPr rtlCol="1"/>
        <a:lstStyle/>
        <a:p>
          <a:pPr rtl="1"/>
          <a:r>
            <a:rPr lang="ar"/>
            <a:t>المكان</a:t>
          </a:r>
        </a:p>
      </dgm:t>
    </dgm:pt>
    <dgm:pt modelId="{4402BE67-D528-C844-ADE8-E83C2647E0DF}" type="parTrans" cxnId="{4FF6042D-FF76-F44E-A8EA-B01A7F856E05}">
      <dgm:prSet/>
      <dgm:spPr/>
      <dgm:t>
        <a:bodyPr rtlCol="1"/>
        <a:lstStyle/>
        <a:p>
          <a:pPr rtl="1"/>
          <a:endParaRPr lang="en-GB"/>
        </a:p>
      </dgm:t>
    </dgm:pt>
    <dgm:pt modelId="{4996D5DD-AD52-324B-B075-567D60E86938}" type="sibTrans" cxnId="{4FF6042D-FF76-F44E-A8EA-B01A7F856E05}">
      <dgm:prSet/>
      <dgm:spPr/>
      <dgm:t>
        <a:bodyPr rtlCol="1"/>
        <a:lstStyle/>
        <a:p>
          <a:pPr rtl="1"/>
          <a:endParaRPr lang="en-GB"/>
        </a:p>
      </dgm:t>
    </dgm:pt>
    <dgm:pt modelId="{59E87C93-C935-DA4A-BC92-B27FE6178AA5}" type="pres">
      <dgm:prSet presAssocID="{64575BF8-D0CC-4047-9771-988EA571B0EF}" presName="compositeShape" presStyleCnt="0">
        <dgm:presLayoutVars>
          <dgm:chMax val="9"/>
          <dgm:dir val="rev"/>
          <dgm:resizeHandles val="exact"/>
        </dgm:presLayoutVars>
      </dgm:prSet>
      <dgm:spPr/>
    </dgm:pt>
    <dgm:pt modelId="{088BA06A-7B96-F24D-8FA1-DFAEB30EC1AC}" type="pres">
      <dgm:prSet presAssocID="{64575BF8-D0CC-4047-9771-988EA571B0EF}" presName="triangle1" presStyleLbl="node1" presStyleIdx="0" presStyleCnt="4">
        <dgm:presLayoutVars>
          <dgm:bulletEnabled val="1"/>
        </dgm:presLayoutVars>
      </dgm:prSet>
      <dgm:spPr/>
    </dgm:pt>
    <dgm:pt modelId="{248ACE14-9FED-5A4F-B73F-A4A6BEBE4A08}" type="pres">
      <dgm:prSet presAssocID="{64575BF8-D0CC-4047-9771-988EA571B0EF}" presName="triangle2" presStyleLbl="node1" presStyleIdx="1" presStyleCnt="4">
        <dgm:presLayoutVars>
          <dgm:bulletEnabled val="1"/>
        </dgm:presLayoutVars>
      </dgm:prSet>
      <dgm:spPr/>
    </dgm:pt>
    <dgm:pt modelId="{0CF51515-2810-A743-ABFF-799529A0AF8B}" type="pres">
      <dgm:prSet presAssocID="{64575BF8-D0CC-4047-9771-988EA571B0EF}" presName="triangle3" presStyleLbl="node1" presStyleIdx="2" presStyleCnt="4">
        <dgm:presLayoutVars>
          <dgm:bulletEnabled val="1"/>
        </dgm:presLayoutVars>
      </dgm:prSet>
      <dgm:spPr/>
    </dgm:pt>
    <dgm:pt modelId="{51C7A415-0A3A-CE48-B866-52B6046A28D0}" type="pres">
      <dgm:prSet presAssocID="{64575BF8-D0CC-4047-9771-988EA571B0EF}" presName="triangle4" presStyleLbl="node1" presStyleIdx="3" presStyleCnt="4">
        <dgm:presLayoutVars>
          <dgm:bulletEnabled val="1"/>
        </dgm:presLayoutVars>
      </dgm:prSet>
      <dgm:spPr/>
    </dgm:pt>
  </dgm:ptLst>
  <dgm:cxnLst>
    <dgm:cxn modelId="{2F486501-4101-9845-BA31-E8D5515FC9BF}" type="presOf" srcId="{FC4853C8-26B6-944A-9A7C-BB655764F654}" destId="{088BA06A-7B96-F24D-8FA1-DFAEB30EC1AC}" srcOrd="0" destOrd="0" presId="urn:microsoft.com/office/officeart/2005/8/layout/pyramid4"/>
    <dgm:cxn modelId="{5B54FE13-0370-4E48-9310-5778716E1FD4}" srcId="{64575BF8-D0CC-4047-9771-988EA571B0EF}" destId="{B4B5806C-2AA9-6C4F-B363-492ACCDF7819}" srcOrd="2" destOrd="0" parTransId="{9A3F872D-6150-734B-8AB3-E99390D6BB9E}" sibTransId="{393B6C60-C1AB-6E4C-AF0C-CEA3BB830CF0}"/>
    <dgm:cxn modelId="{1C2C4F1C-E27E-46B1-A3D2-323FB1627789}" type="presOf" srcId="{52E20111-80CB-A748-A292-56B1BC21EBC1}" destId="{51C7A415-0A3A-CE48-B866-52B6046A28D0}" srcOrd="0" destOrd="0" presId="urn:microsoft.com/office/officeart/2005/8/layout/pyramid4"/>
    <dgm:cxn modelId="{4FF6042D-FF76-F44E-A8EA-B01A7F856E05}" srcId="{64575BF8-D0CC-4047-9771-988EA571B0EF}" destId="{D0D6C298-3E1D-0F4E-BE5F-9DBF127AABA2}" srcOrd="3" destOrd="0" parTransId="{4402BE67-D528-C844-ADE8-E83C2647E0DF}" sibTransId="{4996D5DD-AD52-324B-B075-567D60E86938}"/>
    <dgm:cxn modelId="{D12C71A0-275D-CC41-8C27-D92796614089}" type="presOf" srcId="{64575BF8-D0CC-4047-9771-988EA571B0EF}" destId="{59E87C93-C935-DA4A-BC92-B27FE6178AA5}" srcOrd="0" destOrd="0" presId="urn:microsoft.com/office/officeart/2005/8/layout/pyramid4"/>
    <dgm:cxn modelId="{90FA66A5-381C-6B4D-ABF6-DDF32FA8422F}" srcId="{64575BF8-D0CC-4047-9771-988EA571B0EF}" destId="{FC4853C8-26B6-944A-9A7C-BB655764F654}" srcOrd="0" destOrd="0" parTransId="{24ED5989-A0EC-7941-8E3E-07DC7B2DEA87}" sibTransId="{63C49DC4-A495-AC47-92C5-6FE33F9E4A09}"/>
    <dgm:cxn modelId="{48257BB2-BBCE-4C1D-B1E3-2129B88502EF}" type="presOf" srcId="{D0D6C298-3E1D-0F4E-BE5F-9DBF127AABA2}" destId="{248ACE14-9FED-5A4F-B73F-A4A6BEBE4A08}" srcOrd="0" destOrd="0" presId="urn:microsoft.com/office/officeart/2005/8/layout/pyramid4"/>
    <dgm:cxn modelId="{13F161DF-C5C4-5440-9EC2-37BE5F7644B1}" srcId="{64575BF8-D0CC-4047-9771-988EA571B0EF}" destId="{52E20111-80CB-A748-A292-56B1BC21EBC1}" srcOrd="1" destOrd="0" parTransId="{24BB8C4B-23EE-7F4F-9E7D-F0A067DE0AF0}" sibTransId="{1BFA5616-EE76-F34F-B612-EF928A628601}"/>
    <dgm:cxn modelId="{5DB149F9-E548-9446-8302-3D75DFDD8480}" type="presOf" srcId="{B4B5806C-2AA9-6C4F-B363-492ACCDF7819}" destId="{0CF51515-2810-A743-ABFF-799529A0AF8B}" srcOrd="0" destOrd="0" presId="urn:microsoft.com/office/officeart/2005/8/layout/pyramid4"/>
    <dgm:cxn modelId="{B2D66C90-E85B-AA4D-94B8-F2DC3DC60AB9}" type="presParOf" srcId="{59E87C93-C935-DA4A-BC92-B27FE6178AA5}" destId="{088BA06A-7B96-F24D-8FA1-DFAEB30EC1AC}" srcOrd="0" destOrd="0" presId="urn:microsoft.com/office/officeart/2005/8/layout/pyramid4"/>
    <dgm:cxn modelId="{E1FFC1FA-BF0C-4C41-99AC-4D53DDE56985}" type="presParOf" srcId="{59E87C93-C935-DA4A-BC92-B27FE6178AA5}" destId="{248ACE14-9FED-5A4F-B73F-A4A6BEBE4A08}" srcOrd="1" destOrd="0" presId="urn:microsoft.com/office/officeart/2005/8/layout/pyramid4"/>
    <dgm:cxn modelId="{61C04277-E085-D24B-BE45-F52C6462A21F}" type="presParOf" srcId="{59E87C93-C935-DA4A-BC92-B27FE6178AA5}" destId="{0CF51515-2810-A743-ABFF-799529A0AF8B}" srcOrd="2" destOrd="0" presId="urn:microsoft.com/office/officeart/2005/8/layout/pyramid4"/>
    <dgm:cxn modelId="{A8E99FB0-CF7A-014B-9AF7-CB35B143318E}" type="presParOf" srcId="{59E87C93-C935-DA4A-BC92-B27FE6178AA5}" destId="{51C7A415-0A3A-CE48-B866-52B6046A28D0}"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832DC-2548-4E54-9BA7-C4ED9528C85F}">
      <dsp:nvSpPr>
        <dsp:cNvPr id="0" name=""/>
        <dsp:cNvSpPr/>
      </dsp:nvSpPr>
      <dsp:spPr>
        <a:xfrm>
          <a:off x="0" y="1609"/>
          <a:ext cx="8207375" cy="81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7D88F8-5FAC-43E5-9F3F-B11AF23944F7}">
      <dsp:nvSpPr>
        <dsp:cNvPr id="0" name=""/>
        <dsp:cNvSpPr/>
      </dsp:nvSpPr>
      <dsp:spPr>
        <a:xfrm>
          <a:off x="7581446" y="185172"/>
          <a:ext cx="448709" cy="4487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BAC736-4978-422F-A9B0-E4B79E3027A9}">
      <dsp:nvSpPr>
        <dsp:cNvPr id="0" name=""/>
        <dsp:cNvSpPr/>
      </dsp:nvSpPr>
      <dsp:spPr>
        <a:xfrm>
          <a:off x="19478" y="1609"/>
          <a:ext cx="7265085" cy="81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2200" b="1" kern="1200" dirty="0"/>
            <a:t>أ	اكتشف فوائد إدارة الأعمال وأفكار الشركة الناشئة</a:t>
          </a:r>
          <a:endParaRPr lang="en-US" sz="2200" kern="1200" dirty="0"/>
        </a:p>
      </dsp:txBody>
      <dsp:txXfrm>
        <a:off x="19478" y="1609"/>
        <a:ext cx="7265085" cy="815835"/>
      </dsp:txXfrm>
    </dsp:sp>
    <dsp:sp modelId="{4F51662A-3A90-479E-A184-2F328B3C13B6}">
      <dsp:nvSpPr>
        <dsp:cNvPr id="0" name=""/>
        <dsp:cNvSpPr/>
      </dsp:nvSpPr>
      <dsp:spPr>
        <a:xfrm>
          <a:off x="0" y="1021403"/>
          <a:ext cx="8207375" cy="81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91B378-1A04-4D30-AE7C-FF4414C13DA2}">
      <dsp:nvSpPr>
        <dsp:cNvPr id="0" name=""/>
        <dsp:cNvSpPr/>
      </dsp:nvSpPr>
      <dsp:spPr>
        <a:xfrm>
          <a:off x="7581446" y="1204966"/>
          <a:ext cx="448709" cy="4487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945FAB-4C37-4684-9F4A-54B7D6A7BEA8}">
      <dsp:nvSpPr>
        <dsp:cNvPr id="0" name=""/>
        <dsp:cNvSpPr/>
      </dsp:nvSpPr>
      <dsp:spPr>
        <a:xfrm>
          <a:off x="19478" y="1021403"/>
          <a:ext cx="7265085" cy="81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2200" b="1" kern="1200" dirty="0"/>
            <a:t>ب	اجرِ بحثًا في السوق وحضِّر خطة ترويجية لشركة جديدة </a:t>
          </a:r>
          <a:endParaRPr lang="en-US" sz="2200" kern="1200" dirty="0"/>
        </a:p>
      </dsp:txBody>
      <dsp:txXfrm>
        <a:off x="19478" y="1021403"/>
        <a:ext cx="7265085" cy="815835"/>
      </dsp:txXfrm>
    </dsp:sp>
    <dsp:sp modelId="{16A3421E-DD50-45E9-9207-5D5FF3AF5E12}">
      <dsp:nvSpPr>
        <dsp:cNvPr id="0" name=""/>
        <dsp:cNvSpPr/>
      </dsp:nvSpPr>
      <dsp:spPr>
        <a:xfrm>
          <a:off x="0" y="2041197"/>
          <a:ext cx="8207375" cy="81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D0C2AA-EE51-4CF6-A5B2-D9910ACC1E18}">
      <dsp:nvSpPr>
        <dsp:cNvPr id="0" name=""/>
        <dsp:cNvSpPr/>
      </dsp:nvSpPr>
      <dsp:spPr>
        <a:xfrm>
          <a:off x="7581446" y="2224760"/>
          <a:ext cx="448709" cy="4487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778E04-F404-45D7-A9FD-18240F21FD62}">
      <dsp:nvSpPr>
        <dsp:cNvPr id="0" name=""/>
        <dsp:cNvSpPr/>
      </dsp:nvSpPr>
      <dsp:spPr>
        <a:xfrm>
          <a:off x="19478" y="2041197"/>
          <a:ext cx="7265085" cy="81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2200" b="1" kern="1200" dirty="0"/>
            <a:t>ج	وضع خطة مالية لتأسيس شركة صغيرة</a:t>
          </a:r>
          <a:endParaRPr lang="en-US" sz="2200" kern="1200" dirty="0"/>
        </a:p>
      </dsp:txBody>
      <dsp:txXfrm>
        <a:off x="19478" y="2041197"/>
        <a:ext cx="7265085" cy="815835"/>
      </dsp:txXfrm>
    </dsp:sp>
    <dsp:sp modelId="{968B7AFC-043F-47C0-BCF3-35A23124C718}">
      <dsp:nvSpPr>
        <dsp:cNvPr id="0" name=""/>
        <dsp:cNvSpPr/>
      </dsp:nvSpPr>
      <dsp:spPr>
        <a:xfrm>
          <a:off x="0" y="3060991"/>
          <a:ext cx="8207375" cy="81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B62E31-CD28-4E33-BD31-DE96157A9D4F}">
      <dsp:nvSpPr>
        <dsp:cNvPr id="0" name=""/>
        <dsp:cNvSpPr/>
      </dsp:nvSpPr>
      <dsp:spPr>
        <a:xfrm>
          <a:off x="7581446" y="3244554"/>
          <a:ext cx="448709" cy="4487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A1A084-533F-4E67-8DF1-2C3BDF770E9D}">
      <dsp:nvSpPr>
        <dsp:cNvPr id="0" name=""/>
        <dsp:cNvSpPr/>
      </dsp:nvSpPr>
      <dsp:spPr>
        <a:xfrm>
          <a:off x="19478" y="3060991"/>
          <a:ext cx="7265085" cy="81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2200" b="1" kern="1200" dirty="0"/>
            <a:t>د	وضع خطة عمل</a:t>
          </a:r>
          <a:endParaRPr lang="en-US" sz="2200" kern="1200" dirty="0"/>
        </a:p>
      </dsp:txBody>
      <dsp:txXfrm>
        <a:off x="19478" y="3060991"/>
        <a:ext cx="7265085" cy="8158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6BEAA-187B-C543-AE42-63B9659DFD5D}">
      <dsp:nvSpPr>
        <dsp:cNvPr id="0" name=""/>
        <dsp:cNvSpPr/>
      </dsp:nvSpPr>
      <dsp:spPr>
        <a:xfrm>
          <a:off x="845018" y="112976"/>
          <a:ext cx="2337451" cy="2337451"/>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rtlCol="1" anchor="ctr" anchorCtr="0">
          <a:noAutofit/>
        </a:bodyPr>
        <a:lstStyle/>
        <a:p>
          <a:pPr marL="0" lvl="0" indent="0" algn="ctr" defTabSz="1111250" rtl="1">
            <a:lnSpc>
              <a:spcPct val="90000"/>
            </a:lnSpc>
            <a:spcBef>
              <a:spcPct val="0"/>
            </a:spcBef>
            <a:spcAft>
              <a:spcPct val="35000"/>
            </a:spcAft>
            <a:buNone/>
          </a:pPr>
          <a:r>
            <a:rPr lang="ar" sz="2500" kern="1200" dirty="0"/>
            <a:t>الموارد </a:t>
          </a:r>
          <a:br>
            <a:rPr lang="ar-EG" sz="2500" kern="1200" dirty="0"/>
          </a:br>
          <a:r>
            <a:rPr lang="ar" sz="2500" kern="1200" dirty="0"/>
            <a:t>البشرية</a:t>
          </a:r>
        </a:p>
      </dsp:txBody>
      <dsp:txXfrm>
        <a:off x="1156678" y="522030"/>
        <a:ext cx="1714130" cy="1051853"/>
      </dsp:txXfrm>
    </dsp:sp>
    <dsp:sp modelId="{787C7BC1-0CB5-0341-A0C3-F2FB9E46CDE6}">
      <dsp:nvSpPr>
        <dsp:cNvPr id="0" name=""/>
        <dsp:cNvSpPr/>
      </dsp:nvSpPr>
      <dsp:spPr>
        <a:xfrm>
          <a:off x="1688448" y="1573883"/>
          <a:ext cx="2337451" cy="2337451"/>
        </a:xfrm>
        <a:prstGeom prst="ellipse">
          <a:avLst/>
        </a:prstGeom>
        <a:solidFill>
          <a:schemeClr val="accent5">
            <a:alpha val="50000"/>
            <a:hueOff val="1628513"/>
            <a:satOff val="5598"/>
            <a:lumOff val="-268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rtlCol="1" anchor="ctr" anchorCtr="0">
          <a:noAutofit/>
        </a:bodyPr>
        <a:lstStyle/>
        <a:p>
          <a:pPr marL="0" lvl="0" indent="0" algn="ctr" defTabSz="1111250" rtl="1">
            <a:lnSpc>
              <a:spcPct val="90000"/>
            </a:lnSpc>
            <a:spcBef>
              <a:spcPct val="0"/>
            </a:spcBef>
            <a:spcAft>
              <a:spcPct val="35000"/>
            </a:spcAft>
            <a:buNone/>
          </a:pPr>
          <a:r>
            <a:rPr lang="ar" sz="2500" kern="1200" dirty="0"/>
            <a:t>الموارد </a:t>
          </a:r>
          <a:br>
            <a:rPr lang="ar-EG" sz="2500" kern="1200" dirty="0"/>
          </a:br>
          <a:r>
            <a:rPr lang="ar" sz="2500" kern="1200" dirty="0"/>
            <a:t>المالية</a:t>
          </a:r>
        </a:p>
      </dsp:txBody>
      <dsp:txXfrm>
        <a:off x="2403319" y="2177725"/>
        <a:ext cx="1402470" cy="1285598"/>
      </dsp:txXfrm>
    </dsp:sp>
    <dsp:sp modelId="{444F2B70-17F8-E148-AFBD-2A4064EC36C5}">
      <dsp:nvSpPr>
        <dsp:cNvPr id="0" name=""/>
        <dsp:cNvSpPr/>
      </dsp:nvSpPr>
      <dsp:spPr>
        <a:xfrm>
          <a:off x="1588" y="1573883"/>
          <a:ext cx="2337451" cy="2337451"/>
        </a:xfrm>
        <a:prstGeom prst="ellipse">
          <a:avLst/>
        </a:prstGeom>
        <a:solidFill>
          <a:schemeClr val="accent5">
            <a:alpha val="50000"/>
            <a:hueOff val="3257026"/>
            <a:satOff val="11196"/>
            <a:lumOff val="-53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rtlCol="1" anchor="ctr" anchorCtr="0">
          <a:noAutofit/>
        </a:bodyPr>
        <a:lstStyle/>
        <a:p>
          <a:pPr marL="0" lvl="0" indent="0" algn="ctr" defTabSz="1111250" rtl="1">
            <a:lnSpc>
              <a:spcPct val="90000"/>
            </a:lnSpc>
            <a:spcBef>
              <a:spcPct val="0"/>
            </a:spcBef>
            <a:spcAft>
              <a:spcPct val="35000"/>
            </a:spcAft>
            <a:buNone/>
          </a:pPr>
          <a:r>
            <a:rPr lang="ar" sz="2500" kern="1200" dirty="0"/>
            <a:t>الموارد </a:t>
          </a:r>
          <a:br>
            <a:rPr lang="ar-EG" sz="2500" kern="1200" dirty="0"/>
          </a:br>
          <a:r>
            <a:rPr lang="ar" sz="2500" kern="1200" dirty="0"/>
            <a:t>المادية</a:t>
          </a:r>
        </a:p>
      </dsp:txBody>
      <dsp:txXfrm>
        <a:off x="221697" y="2177725"/>
        <a:ext cx="1402470" cy="12855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8BA06A-7B96-F24D-8FA1-DFAEB30EC1AC}">
      <dsp:nvSpPr>
        <dsp:cNvPr id="0" name=""/>
        <dsp:cNvSpPr/>
      </dsp:nvSpPr>
      <dsp:spPr>
        <a:xfrm>
          <a:off x="1007666" y="0"/>
          <a:ext cx="2012156" cy="2012156"/>
        </a:xfrm>
        <a:prstGeom prst="triangle">
          <a:avLst/>
        </a:prstGeom>
        <a:solidFill>
          <a:schemeClr val="accent2">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t>المنتج</a:t>
          </a:r>
        </a:p>
      </dsp:txBody>
      <dsp:txXfrm>
        <a:off x="1510705" y="1006078"/>
        <a:ext cx="1006078" cy="1006078"/>
      </dsp:txXfrm>
    </dsp:sp>
    <dsp:sp modelId="{248ACE14-9FED-5A4F-B73F-A4A6BEBE4A08}">
      <dsp:nvSpPr>
        <dsp:cNvPr id="0" name=""/>
        <dsp:cNvSpPr/>
      </dsp:nvSpPr>
      <dsp:spPr>
        <a:xfrm>
          <a:off x="1588" y="2012156"/>
          <a:ext cx="2012156" cy="2012156"/>
        </a:xfrm>
        <a:prstGeom prst="triangle">
          <a:avLst/>
        </a:prstGeom>
        <a:solidFill>
          <a:schemeClr val="accent2">
            <a:shade val="50000"/>
            <a:hueOff val="0"/>
            <a:satOff val="-16266"/>
            <a:lumOff val="263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t>المكان</a:t>
          </a:r>
        </a:p>
      </dsp:txBody>
      <dsp:txXfrm>
        <a:off x="504627" y="3018234"/>
        <a:ext cx="1006078" cy="1006078"/>
      </dsp:txXfrm>
    </dsp:sp>
    <dsp:sp modelId="{0CF51515-2810-A743-ABFF-799529A0AF8B}">
      <dsp:nvSpPr>
        <dsp:cNvPr id="0" name=""/>
        <dsp:cNvSpPr/>
      </dsp:nvSpPr>
      <dsp:spPr>
        <a:xfrm rot="10800000">
          <a:off x="1007666" y="2012156"/>
          <a:ext cx="2012156" cy="2012156"/>
        </a:xfrm>
        <a:prstGeom prst="triangle">
          <a:avLst/>
        </a:prstGeom>
        <a:solidFill>
          <a:schemeClr val="accent2">
            <a:shade val="50000"/>
            <a:hueOff val="0"/>
            <a:satOff val="-32532"/>
            <a:lumOff val="527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t>السعر</a:t>
          </a:r>
        </a:p>
      </dsp:txBody>
      <dsp:txXfrm rot="10800000">
        <a:off x="1510705" y="2012156"/>
        <a:ext cx="1006078" cy="1006078"/>
      </dsp:txXfrm>
    </dsp:sp>
    <dsp:sp modelId="{51C7A415-0A3A-CE48-B866-52B6046A28D0}">
      <dsp:nvSpPr>
        <dsp:cNvPr id="0" name=""/>
        <dsp:cNvSpPr/>
      </dsp:nvSpPr>
      <dsp:spPr>
        <a:xfrm>
          <a:off x="2013744" y="2012156"/>
          <a:ext cx="2012156" cy="2012156"/>
        </a:xfrm>
        <a:prstGeom prst="triangle">
          <a:avLst/>
        </a:prstGeom>
        <a:solidFill>
          <a:schemeClr val="accent2">
            <a:shade val="50000"/>
            <a:hueOff val="0"/>
            <a:satOff val="-16266"/>
            <a:lumOff val="263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t>الترويج</a:t>
          </a:r>
        </a:p>
      </dsp:txBody>
      <dsp:txXfrm>
        <a:off x="2516783" y="3018234"/>
        <a:ext cx="1006078" cy="10060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a:p>
            <a:pPr rtl="1"/>
            <a:endParaRPr lang="en-GB" altLang="en-US">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1025262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2520445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3369836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3938889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124506B3-85ED-D95D-4270-7C6BEFAEC79E}"/>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audio" Target="../media/audio1.bin"/><Relationship Id="rId1" Type="http://schemas.openxmlformats.org/officeDocument/2006/relationships/slideLayout" Target="../slideLayouts/slideLayout29.xml"/><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audio" Target="../media/audio1.bin"/><Relationship Id="rId1" Type="http://schemas.openxmlformats.org/officeDocument/2006/relationships/slideLayout" Target="../slideLayouts/slideLayout2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audio" Target="../media/audio1.bin"/><Relationship Id="rId1" Type="http://schemas.openxmlformats.org/officeDocument/2006/relationships/slideLayout" Target="../slideLayouts/slideLayout2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48325" y="1483975"/>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SA" dirty="0">
                <a:latin typeface="Arial"/>
                <a:cs typeface="Arial"/>
              </a:rPr>
              <a:t>الوحدة 15</a:t>
            </a:r>
            <a:br>
              <a:rPr lang="ar-SA" altLang="en-US" dirty="0"/>
            </a:br>
            <a:r>
              <a:rPr lang="ar-SA" dirty="0">
                <a:latin typeface="Arial"/>
                <a:cs typeface="Arial"/>
              </a:rPr>
              <a:t>إنشاء شركة صغيرة</a:t>
            </a:r>
            <a:r>
              <a:rPr lang="ar-EG">
                <a:latin typeface="Arial"/>
                <a:cs typeface="Arial"/>
              </a:rPr>
              <a:t> </a:t>
            </a:r>
            <a:r>
              <a:rPr lang="ar-SA">
                <a:latin typeface="Arial"/>
                <a:cs typeface="Arial"/>
              </a:rPr>
              <a:t> </a:t>
            </a:r>
            <a:br>
              <a:rPr lang="ar-SA" altLang="en-US" dirty="0"/>
            </a:br>
            <a:br>
              <a:rPr lang="ar-SA" altLang="en-US" dirty="0"/>
            </a:br>
            <a:endParaRPr lang="ar-SA" dirty="0">
              <a:latin typeface="Arial"/>
              <a:cs typeface="Arial"/>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SA" sz="1400" dirty="0"/>
              <a:t>© شركة بيرسون إيديوكيشن ليمتد 2023. لا يُسمح بالنسخ إلا للمؤسسة المُشترية فقط </a:t>
            </a:r>
          </a:p>
        </p:txBody>
      </p:sp>
      <p:pic>
        <p:nvPicPr>
          <p:cNvPr id="2" name="Picture 1" descr="A person using a computer&#10;&#10;Description automatically generated">
            <a:extLst>
              <a:ext uri="{FF2B5EF4-FFF2-40B4-BE49-F238E27FC236}">
                <a16:creationId xmlns:a16="http://schemas.microsoft.com/office/drawing/2014/main" id="{D7BB244B-9D55-0729-284A-D01DCCB33028}"/>
              </a:ext>
            </a:extLst>
          </p:cNvPr>
          <p:cNvPicPr>
            <a:picLocks noChangeAspect="1"/>
          </p:cNvPicPr>
          <p:nvPr/>
        </p:nvPicPr>
        <p:blipFill>
          <a:blip r:embed="rId4"/>
          <a:stretch>
            <a:fillRect/>
          </a:stretch>
        </p:blipFill>
        <p:spPr>
          <a:xfrm>
            <a:off x="3229864" y="3281080"/>
            <a:ext cx="2684272" cy="2428407"/>
          </a:xfrm>
          <a:prstGeom prst="rect">
            <a:avLst/>
          </a:prstGeom>
        </p:spPr>
      </p:pic>
      <p:sp>
        <p:nvSpPr>
          <p:cNvPr id="4" name="TextBox 3">
            <a:extLst>
              <a:ext uri="{FF2B5EF4-FFF2-40B4-BE49-F238E27FC236}">
                <a16:creationId xmlns:a16="http://schemas.microsoft.com/office/drawing/2014/main" id="{9CAEB4D9-F753-5C31-A997-7DB76B1C1813}"/>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SA" dirty="0"/>
              <a:t>إنشاء شركة صغيرة </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59533" y="227687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SA" dirty="0">
                <a:latin typeface="Arial"/>
                <a:cs typeface="Arial"/>
              </a:rPr>
              <a:t>تبحث هذه الوحدة فوائد إدارة الأعمال وكيفية توليد الأفكار للشركات الناشئة</a:t>
            </a:r>
            <a:endParaRPr lang="ar-SA" altLang="en-US" dirty="0"/>
          </a:p>
          <a:p>
            <a:pPr marL="0" indent="0" rtl="1">
              <a:buNone/>
            </a:pPr>
            <a:endParaRPr lang="ar-SA" altLang="en-US" dirty="0">
              <a:latin typeface="Arial"/>
              <a:cs typeface="Arial"/>
            </a:endParaRPr>
          </a:p>
          <a:p>
            <a:pPr marL="0" indent="0" rtl="1">
              <a:buNone/>
            </a:pPr>
            <a:r>
              <a:rPr lang="ar-SA" dirty="0">
                <a:latin typeface="Arial"/>
                <a:cs typeface="Arial"/>
              </a:rPr>
              <a:t>سوف تتعرف على كيفية إجراء أبحاث السوق من خلال بدء الأعمال التجارية </a:t>
            </a:r>
            <a:br>
              <a:rPr lang="ar-EG" dirty="0">
                <a:latin typeface="Arial"/>
                <a:cs typeface="Arial"/>
              </a:rPr>
            </a:br>
            <a:r>
              <a:rPr lang="ar-SA" dirty="0">
                <a:latin typeface="Arial"/>
                <a:cs typeface="Arial"/>
              </a:rPr>
              <a:t>وإلقاء نظرة على المعلومات الواردة في الخطة الترويجية</a:t>
            </a:r>
            <a:endParaRPr lang="ar-SA" altLang="en-US" dirty="0"/>
          </a:p>
          <a:p>
            <a:pPr marL="0" indent="0" rtl="1">
              <a:buNone/>
            </a:pPr>
            <a:endParaRPr lang="ar-SA" altLang="en-US" dirty="0">
              <a:latin typeface="Arial"/>
              <a:cs typeface="Arial"/>
            </a:endParaRPr>
          </a:p>
          <a:p>
            <a:pPr marL="0" indent="0" rtl="1">
              <a:buNone/>
            </a:pPr>
            <a:r>
              <a:rPr lang="ar-SA" dirty="0">
                <a:latin typeface="Arial"/>
                <a:cs typeface="Arial"/>
              </a:rPr>
              <a:t>سوف تخطط لأي مشروع تجاري صغير من خلال النظر في الجوانب المالية </a:t>
            </a:r>
            <a:br>
              <a:rPr lang="ar-EG" dirty="0">
                <a:latin typeface="Arial"/>
                <a:cs typeface="Arial"/>
              </a:rPr>
            </a:br>
            <a:r>
              <a:rPr lang="ar-SA" dirty="0">
                <a:latin typeface="Arial"/>
                <a:cs typeface="Arial"/>
              </a:rPr>
              <a:t>وإعداد خطة عمل</a:t>
            </a:r>
            <a:endParaRPr lang="ar-SA" altLang="en-US" dirty="0"/>
          </a:p>
        </p:txBody>
      </p:sp>
      <p:sp>
        <p:nvSpPr>
          <p:cNvPr id="2" name="TextBox 1">
            <a:extLst>
              <a:ext uri="{FF2B5EF4-FFF2-40B4-BE49-F238E27FC236}">
                <a16:creationId xmlns:a16="http://schemas.microsoft.com/office/drawing/2014/main" id="{BF6E55F2-7BC5-E0F6-1213-97F420E2C667}"/>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dirty="0"/>
              <a:t>أهداف التعلّم</a:t>
            </a:r>
            <a:endParaRPr lang="ar" altLang="en-US" dirty="0"/>
          </a:p>
        </p:txBody>
      </p:sp>
      <p:graphicFrame>
        <p:nvGraphicFramePr>
          <p:cNvPr id="32773" name="Content Placeholder 3">
            <a:extLst>
              <a:ext uri="{FF2B5EF4-FFF2-40B4-BE49-F238E27FC236}">
                <a16:creationId xmlns:a16="http://schemas.microsoft.com/office/drawing/2014/main" id="{42853EBB-D37D-97A2-E7EF-8D6821BC4D31}"/>
              </a:ext>
            </a:extLst>
          </p:cNvPr>
          <p:cNvGraphicFramePr>
            <a:graphicFrameLocks noGrp="1"/>
          </p:cNvGraphicFramePr>
          <p:nvPr>
            <p:ph idx="1"/>
            <p:extLst>
              <p:ext uri="{D42A27DB-BD31-4B8C-83A1-F6EECF244321}">
                <p14:modId xmlns:p14="http://schemas.microsoft.com/office/powerpoint/2010/main" val="2387788052"/>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84B8F81A-D916-08EA-1575-2F21D4C3A135}"/>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dirty="0"/>
              <a:t>هدف التعلّم أ:</a:t>
            </a:r>
            <a:br>
              <a:rPr lang="ar-SA" altLang="en-US" sz="2400" dirty="0"/>
            </a:br>
            <a:br>
              <a:rPr lang="ar-SA" altLang="en-US" sz="2400" dirty="0"/>
            </a:br>
            <a:endParaRPr lang="ar-SA"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638141"/>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defTabSz="431800" rtl="1">
              <a:buNone/>
            </a:pPr>
            <a:r>
              <a:rPr lang="ar-SA" sz="3600" b="1" dirty="0"/>
              <a:t>اكتشف فوائد إدارة الأعمال </a:t>
            </a:r>
            <a:br>
              <a:rPr lang="ar-EG" sz="3600" b="1" dirty="0"/>
            </a:br>
            <a:r>
              <a:rPr lang="ar-SA" sz="3600" b="1" dirty="0"/>
              <a:t>وأفكار الشركة الناشئة</a:t>
            </a:r>
            <a:endParaRPr lang="ar-SA" altLang="en-US" sz="3600" dirty="0"/>
          </a:p>
        </p:txBody>
      </p:sp>
      <p:sp>
        <p:nvSpPr>
          <p:cNvPr id="6" name="Content Placeholder 3">
            <a:extLst>
              <a:ext uri="{FF2B5EF4-FFF2-40B4-BE49-F238E27FC236}">
                <a16:creationId xmlns:a16="http://schemas.microsoft.com/office/drawing/2014/main" id="{431A70FB-4D53-C8BD-CD15-9C30482724E7}"/>
              </a:ext>
            </a:extLst>
          </p:cNvPr>
          <p:cNvSpPr>
            <a:spLocks noGrp="1" noChangeArrowheads="1"/>
          </p:cNvSpPr>
          <p:nvPr>
            <p:ph sz="half" idx="2"/>
          </p:nvPr>
        </p:nvSpPr>
        <p:spPr bwMode="auto">
          <a:xfrm>
            <a:off x="1116012" y="3284984"/>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SA" dirty="0"/>
              <a:t>فوائد إدارة شركتك الخاصة</a:t>
            </a:r>
          </a:p>
          <a:p>
            <a:pPr marL="685800" rtl="1"/>
            <a:r>
              <a:rPr lang="ar-SA" dirty="0"/>
              <a:t>أفكار للشركة الناشئة</a:t>
            </a:r>
          </a:p>
          <a:p>
            <a:pPr marL="685800" rtl="1"/>
            <a:r>
              <a:rPr lang="ar-SA" dirty="0"/>
              <a:t>أهداف وغايات إدارة شركتك الخاصة</a:t>
            </a:r>
          </a:p>
          <a:p>
            <a:pPr marL="685800" rtl="1"/>
            <a:r>
              <a:rPr lang="ar-SA" dirty="0"/>
              <a:t>الموارد اللازمة لإدارة الشركة</a:t>
            </a:r>
          </a:p>
          <a:p>
            <a:pPr marL="685800" rtl="1"/>
            <a:r>
              <a:rPr lang="ar-SA" dirty="0"/>
              <a:t>المهارات اللازمة لإدارة الشركة </a:t>
            </a:r>
          </a:p>
        </p:txBody>
      </p:sp>
      <p:sp>
        <p:nvSpPr>
          <p:cNvPr id="2" name="TextBox 1">
            <a:extLst>
              <a:ext uri="{FF2B5EF4-FFF2-40B4-BE49-F238E27FC236}">
                <a16:creationId xmlns:a16="http://schemas.microsoft.com/office/drawing/2014/main" id="{A08BF5D7-1A66-1F90-8DD1-79D4A6AFFA49}"/>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31520" y="2780928"/>
            <a:ext cx="7908327"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SA" dirty="0">
                <a:latin typeface="Arial"/>
                <a:cs typeface="Arial"/>
              </a:rPr>
              <a:t>هدف التعلم أ يبحث الفوائد التي تعود على صاحب العمل من إدارة </a:t>
            </a:r>
            <a:br>
              <a:rPr lang="ar-EG" dirty="0">
                <a:latin typeface="Arial"/>
                <a:cs typeface="Arial"/>
              </a:rPr>
            </a:br>
            <a:r>
              <a:rPr lang="ar-SA" dirty="0">
                <a:latin typeface="Arial"/>
                <a:cs typeface="Arial"/>
              </a:rPr>
              <a:t>أعماله الخاصة.  </a:t>
            </a:r>
            <a:endParaRPr lang="ar-SA" altLang="en-US" dirty="0"/>
          </a:p>
          <a:p>
            <a:pPr indent="0" rtl="1">
              <a:buNone/>
            </a:pPr>
            <a:r>
              <a:rPr lang="ar-SA" dirty="0">
                <a:latin typeface="Arial"/>
                <a:cs typeface="Arial"/>
              </a:rPr>
              <a:t>ويأخذ في الاعتبار الأفكار الكامنة وراء بدء الأعمال التجارية والفرق </a:t>
            </a:r>
            <a:br>
              <a:rPr lang="ar-EG" dirty="0">
                <a:latin typeface="Arial"/>
                <a:cs typeface="Arial"/>
              </a:rPr>
            </a:br>
            <a:r>
              <a:rPr lang="ar-SA" dirty="0">
                <a:latin typeface="Arial"/>
                <a:cs typeface="Arial"/>
              </a:rPr>
              <a:t>بين الأهداف المالية وغير المالية</a:t>
            </a:r>
            <a:endParaRPr lang="ar-SA" altLang="en-US" dirty="0"/>
          </a:p>
          <a:p>
            <a:pPr indent="0" rtl="1">
              <a:buNone/>
            </a:pPr>
            <a:r>
              <a:rPr lang="ar-SA" dirty="0">
                <a:latin typeface="Arial"/>
                <a:cs typeface="Arial"/>
              </a:rPr>
              <a:t>يأخذ هدف التعلم أيضًا في الاعتبار الموارد والمهارات اللازمة لإدارة شركة</a:t>
            </a:r>
            <a:endParaRPr lang="ar-SA" altLang="en-US" dirty="0"/>
          </a:p>
          <a:p>
            <a:pPr indent="0" algn="ctr" rtl="1">
              <a:buNone/>
            </a:pPr>
            <a:endParaRPr lang="ar-SA" altLang="en-US" dirty="0"/>
          </a:p>
          <a:p>
            <a:pPr marL="685800" rtl="1"/>
            <a:endParaRPr lang="ar-SA"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3943"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defTabSz="431800" rtl="1">
              <a:buNone/>
            </a:pPr>
            <a:r>
              <a:rPr lang="ar-SA" sz="3600" b="1" dirty="0"/>
              <a:t>اكتشف فوائد إدارة الأعمال </a:t>
            </a:r>
            <a:br>
              <a:rPr lang="ar-EG" sz="3600" b="1" dirty="0"/>
            </a:br>
            <a:r>
              <a:rPr lang="ar-SA" sz="3600" b="1" dirty="0"/>
              <a:t>وأفكار الشركة الناشئة</a:t>
            </a:r>
            <a:endParaRPr lang="ar-SA" altLang="en-US" sz="3600" dirty="0"/>
          </a:p>
        </p:txBody>
      </p:sp>
      <p:sp>
        <p:nvSpPr>
          <p:cNvPr id="2" name="TextBox 1">
            <a:extLst>
              <a:ext uri="{FF2B5EF4-FFF2-40B4-BE49-F238E27FC236}">
                <a16:creationId xmlns:a16="http://schemas.microsoft.com/office/drawing/2014/main" id="{A71FCE4B-5F82-9A42-E877-C7F356EEF1ED}"/>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DFB-1915-5BB3-C5F2-C34798982F08}"/>
              </a:ext>
            </a:extLst>
          </p:cNvPr>
          <p:cNvSpPr>
            <a:spLocks noGrp="1"/>
          </p:cNvSpPr>
          <p:nvPr>
            <p:ph type="title"/>
          </p:nvPr>
        </p:nvSpPr>
        <p:spPr>
          <a:xfrm>
            <a:off x="457200" y="1195200"/>
            <a:ext cx="8229600" cy="864000"/>
          </a:xfrm>
        </p:spPr>
        <p:txBody>
          <a:bodyPr rtlCol="1"/>
          <a:lstStyle/>
          <a:p>
            <a:pPr rtl="1"/>
            <a:r>
              <a:rPr lang="ar" dirty="0">
                <a:latin typeface="Arial"/>
                <a:cs typeface="Arial"/>
              </a:rPr>
              <a:t>فوائد إدارة شركتك الخاصة</a:t>
            </a:r>
            <a:endParaRPr lang="ar" dirty="0"/>
          </a:p>
        </p:txBody>
      </p:sp>
      <p:sp>
        <p:nvSpPr>
          <p:cNvPr id="4" name="Content Placeholder 3">
            <a:extLst>
              <a:ext uri="{FF2B5EF4-FFF2-40B4-BE49-F238E27FC236}">
                <a16:creationId xmlns:a16="http://schemas.microsoft.com/office/drawing/2014/main" id="{A4BBF35B-13EC-6FD7-83AD-0B004415CB79}"/>
              </a:ext>
            </a:extLst>
          </p:cNvPr>
          <p:cNvSpPr>
            <a:spLocks noGrp="1"/>
          </p:cNvSpPr>
          <p:nvPr>
            <p:ph sz="half" idx="1"/>
          </p:nvPr>
        </p:nvSpPr>
        <p:spPr>
          <a:xfrm>
            <a:off x="4648199" y="2196001"/>
            <a:ext cx="4027487" cy="4024100"/>
          </a:xfrm>
        </p:spPr>
        <p:txBody>
          <a:bodyPr rtlCol="1"/>
          <a:lstStyle/>
          <a:p>
            <a:pPr rtl="1"/>
            <a:r>
              <a:rPr lang="ar" dirty="0">
                <a:latin typeface="Arial"/>
                <a:ea typeface="Verdana"/>
                <a:cs typeface="Arial"/>
              </a:rPr>
              <a:t>عندما تكون أنت رئيس نفسك. </a:t>
            </a:r>
          </a:p>
          <a:p>
            <a:pPr rtl="1"/>
            <a:r>
              <a:rPr lang="ar" dirty="0">
                <a:latin typeface="Arial"/>
                <a:ea typeface="Verdana"/>
                <a:cs typeface="Arial"/>
              </a:rPr>
              <a:t>المكانة واحترام الذات. </a:t>
            </a:r>
          </a:p>
          <a:p>
            <a:pPr rtl="1"/>
            <a:r>
              <a:rPr lang="ar" dirty="0">
                <a:latin typeface="Arial"/>
                <a:ea typeface="Verdana"/>
                <a:cs typeface="Arial"/>
              </a:rPr>
              <a:t>أن تكون مبدع. </a:t>
            </a:r>
          </a:p>
          <a:p>
            <a:pPr rtl="1"/>
            <a:r>
              <a:rPr lang="ar" dirty="0">
                <a:latin typeface="Arial"/>
                <a:ea typeface="Verdana"/>
                <a:cs typeface="Arial"/>
              </a:rPr>
              <a:t>تحقيق الذات. </a:t>
            </a:r>
          </a:p>
          <a:p>
            <a:pPr rtl="1"/>
            <a:r>
              <a:rPr lang="ar" dirty="0">
                <a:latin typeface="Arial"/>
                <a:ea typeface="Verdana"/>
                <a:cs typeface="Arial"/>
              </a:rPr>
              <a:t>الاستقلالية. </a:t>
            </a:r>
          </a:p>
          <a:p>
            <a:pPr rtl="1"/>
            <a:r>
              <a:rPr lang="ar" dirty="0">
                <a:latin typeface="Arial"/>
                <a:ea typeface="Verdana"/>
                <a:cs typeface="Arial"/>
              </a:rPr>
              <a:t>التوازن بين الحياة والعمل. </a:t>
            </a:r>
          </a:p>
          <a:p>
            <a:pPr rtl="1"/>
            <a:r>
              <a:rPr lang="ar" dirty="0">
                <a:latin typeface="Arial"/>
                <a:ea typeface="Verdana"/>
                <a:cs typeface="Arial"/>
              </a:rPr>
              <a:t>المكاسب المالية.</a:t>
            </a:r>
          </a:p>
          <a:p>
            <a:pPr rtl="1"/>
            <a:endParaRPr lang="ar" dirty="0"/>
          </a:p>
        </p:txBody>
      </p:sp>
      <p:sp>
        <p:nvSpPr>
          <p:cNvPr id="3" name="TextBox 2">
            <a:extLst>
              <a:ext uri="{FF2B5EF4-FFF2-40B4-BE49-F238E27FC236}">
                <a16:creationId xmlns:a16="http://schemas.microsoft.com/office/drawing/2014/main" id="{213E76DC-B10A-2D4A-F429-6C4D85788ED5}"/>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6" name="Picture 5" descr="A group of people sitting around a table">
            <a:extLst>
              <a:ext uri="{FF2B5EF4-FFF2-40B4-BE49-F238E27FC236}">
                <a16:creationId xmlns:a16="http://schemas.microsoft.com/office/drawing/2014/main" id="{D8823CEC-92A1-EA00-A2B2-D39A9FEC284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1134" y="2700133"/>
            <a:ext cx="3772303" cy="2829227"/>
          </a:xfrm>
          <a:prstGeom prst="rect">
            <a:avLst/>
          </a:prstGeom>
        </p:spPr>
      </p:pic>
    </p:spTree>
    <p:extLst>
      <p:ext uri="{BB962C8B-B14F-4D97-AF65-F5344CB8AC3E}">
        <p14:creationId xmlns:p14="http://schemas.microsoft.com/office/powerpoint/2010/main" val="523969466"/>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AF5D6-2E25-46EF-76B1-E4B8ABBA6070}"/>
              </a:ext>
            </a:extLst>
          </p:cNvPr>
          <p:cNvSpPr>
            <a:spLocks noGrp="1"/>
          </p:cNvSpPr>
          <p:nvPr>
            <p:ph type="title"/>
          </p:nvPr>
        </p:nvSpPr>
        <p:spPr>
          <a:xfrm>
            <a:off x="457200" y="1185831"/>
            <a:ext cx="8229600" cy="864000"/>
          </a:xfrm>
        </p:spPr>
        <p:txBody>
          <a:bodyPr rtlCol="1"/>
          <a:lstStyle/>
          <a:p>
            <a:pPr rtl="1"/>
            <a:r>
              <a:rPr lang="ar-SA" dirty="0">
                <a:latin typeface="Arial"/>
                <a:cs typeface="Arial"/>
              </a:rPr>
              <a:t>أفكار للشركة الناشئة (1)</a:t>
            </a:r>
            <a:endParaRPr lang="ar-SA" dirty="0"/>
          </a:p>
        </p:txBody>
      </p:sp>
      <p:sp>
        <p:nvSpPr>
          <p:cNvPr id="3" name="Content Placeholder 2">
            <a:extLst>
              <a:ext uri="{FF2B5EF4-FFF2-40B4-BE49-F238E27FC236}">
                <a16:creationId xmlns:a16="http://schemas.microsoft.com/office/drawing/2014/main" id="{DDABD9BD-155E-85EC-EF2E-9C5FA4589637}"/>
              </a:ext>
            </a:extLst>
          </p:cNvPr>
          <p:cNvSpPr>
            <a:spLocks noGrp="1"/>
          </p:cNvSpPr>
          <p:nvPr>
            <p:ph sz="half" idx="1"/>
          </p:nvPr>
        </p:nvSpPr>
        <p:spPr>
          <a:xfrm>
            <a:off x="4659313" y="2196001"/>
            <a:ext cx="4027487" cy="4024100"/>
          </a:xfrm>
        </p:spPr>
        <p:txBody>
          <a:bodyPr rtlCol="1"/>
          <a:lstStyle/>
          <a:p>
            <a:pPr marL="0" indent="0" rtl="1">
              <a:buNone/>
            </a:pPr>
            <a:r>
              <a:rPr lang="ar-SA" b="1" dirty="0">
                <a:latin typeface="Arial"/>
                <a:ea typeface="Verdana"/>
                <a:cs typeface="Arial"/>
              </a:rPr>
              <a:t>ابحث عن منتج/</a:t>
            </a:r>
            <a:br>
              <a:rPr lang="ar-EG" b="1" dirty="0">
                <a:latin typeface="Arial"/>
                <a:ea typeface="Verdana"/>
                <a:cs typeface="Arial"/>
              </a:rPr>
            </a:br>
            <a:r>
              <a:rPr lang="ar-SA" b="1" dirty="0">
                <a:latin typeface="Arial"/>
                <a:ea typeface="Verdana"/>
                <a:cs typeface="Arial"/>
              </a:rPr>
              <a:t>خدمة جديدة لتقدمها</a:t>
            </a:r>
          </a:p>
          <a:p>
            <a:pPr marL="0" indent="0" rtl="1">
              <a:buNone/>
            </a:pPr>
            <a:endParaRPr lang="ar-SA" b="1" dirty="0">
              <a:latin typeface="Arial"/>
              <a:ea typeface="Verdana"/>
              <a:cs typeface="Arial"/>
            </a:endParaRPr>
          </a:p>
          <a:p>
            <a:pPr marL="0" indent="0" rtl="1">
              <a:buNone/>
            </a:pPr>
            <a:endParaRPr lang="en-GB" dirty="0">
              <a:ea typeface="Verdana"/>
            </a:endParaRPr>
          </a:p>
          <a:p>
            <a:pPr marL="0" indent="0" rtl="1">
              <a:buNone/>
            </a:pPr>
            <a:endParaRPr lang="ar-SA" dirty="0">
              <a:ea typeface="Verdana"/>
            </a:endParaRPr>
          </a:p>
          <a:p>
            <a:pPr marL="0" indent="0" rtl="1">
              <a:buNone/>
            </a:pPr>
            <a:endParaRPr lang="ar-SA" dirty="0">
              <a:ea typeface="Verdana"/>
            </a:endParaRPr>
          </a:p>
          <a:p>
            <a:pPr marL="0" indent="0" rtl="1">
              <a:buNone/>
            </a:pPr>
            <a:endParaRPr lang="ar-SA" dirty="0">
              <a:latin typeface="Arial"/>
              <a:ea typeface="Verdana"/>
              <a:cs typeface="Arial"/>
            </a:endParaRPr>
          </a:p>
          <a:p>
            <a:pPr marL="0" indent="0" rtl="1">
              <a:buNone/>
            </a:pPr>
            <a:endParaRPr lang="ar-SA" sz="1800" b="1" dirty="0">
              <a:latin typeface="Arial"/>
              <a:ea typeface="Verdana"/>
              <a:cs typeface="Arial"/>
            </a:endParaRPr>
          </a:p>
          <a:p>
            <a:pPr marL="0" indent="0" rtl="1">
              <a:buNone/>
            </a:pPr>
            <a:endParaRPr lang="ar-SA" sz="1800" b="1" dirty="0">
              <a:latin typeface="Arial"/>
              <a:ea typeface="Verdana"/>
              <a:cs typeface="Arial"/>
            </a:endParaRPr>
          </a:p>
          <a:p>
            <a:pPr marL="0" indent="0" rtl="1">
              <a:buNone/>
            </a:pPr>
            <a:r>
              <a:rPr lang="ar-SA" sz="1800" b="1" dirty="0">
                <a:latin typeface="Arial"/>
                <a:ea typeface="Verdana"/>
                <a:cs typeface="Arial"/>
              </a:rPr>
              <a:t>هل يمكنك التفكير في علامة تجارية لمستحضرات التجميل أطلقت منتجًا جديدًا؟</a:t>
            </a:r>
            <a:br>
              <a:rPr lang="ar-SA" sz="1800" dirty="0">
                <a:latin typeface="Arial"/>
                <a:ea typeface="Verdana"/>
                <a:cs typeface="Arial"/>
              </a:rPr>
            </a:br>
            <a:br>
              <a:rPr lang="ar-SA" sz="1800" dirty="0">
                <a:latin typeface="Arial"/>
                <a:ea typeface="Verdana"/>
                <a:cs typeface="Arial"/>
              </a:rPr>
            </a:br>
            <a:br>
              <a:rPr lang="ar-SA" dirty="0">
                <a:latin typeface="Arial"/>
                <a:ea typeface="Verdana"/>
                <a:cs typeface="Arial"/>
              </a:rPr>
            </a:br>
            <a:endParaRPr lang="ar-SA" dirty="0">
              <a:latin typeface="Arial"/>
              <a:ea typeface="Verdana"/>
              <a:cs typeface="Arial"/>
            </a:endParaRPr>
          </a:p>
          <a:p>
            <a:pPr rtl="1"/>
            <a:endParaRPr lang="ar-SA" dirty="0">
              <a:latin typeface="Arial"/>
              <a:ea typeface="Verdana"/>
              <a:cs typeface="Arial"/>
            </a:endParaRPr>
          </a:p>
          <a:p>
            <a:pPr marL="0" indent="0" rtl="1">
              <a:buNone/>
            </a:pPr>
            <a:endParaRPr lang="ar-SA" dirty="0">
              <a:latin typeface="Verdana"/>
              <a:ea typeface="Verdana"/>
              <a:cs typeface="Arial"/>
            </a:endParaRPr>
          </a:p>
        </p:txBody>
      </p:sp>
      <p:sp>
        <p:nvSpPr>
          <p:cNvPr id="4" name="Content Placeholder 3">
            <a:extLst>
              <a:ext uri="{FF2B5EF4-FFF2-40B4-BE49-F238E27FC236}">
                <a16:creationId xmlns:a16="http://schemas.microsoft.com/office/drawing/2014/main" id="{4B6E2D1A-72AD-E8CA-B45D-ADD9314A7C45}"/>
              </a:ext>
            </a:extLst>
          </p:cNvPr>
          <p:cNvSpPr>
            <a:spLocks noGrp="1"/>
          </p:cNvSpPr>
          <p:nvPr>
            <p:ph sz="half" idx="2"/>
          </p:nvPr>
        </p:nvSpPr>
        <p:spPr>
          <a:xfrm>
            <a:off x="598357" y="1877460"/>
            <a:ext cx="4141033" cy="4867296"/>
          </a:xfrm>
        </p:spPr>
        <p:txBody>
          <a:bodyPr rtlCol="1"/>
          <a:lstStyle/>
          <a:p>
            <a:pPr marL="0" indent="0" rtl="1">
              <a:spcBef>
                <a:spcPts val="20"/>
              </a:spcBef>
              <a:buNone/>
            </a:pPr>
            <a:endParaRPr lang="ar-SA" b="1" dirty="0">
              <a:latin typeface="Arial"/>
              <a:cs typeface="Arial"/>
            </a:endParaRPr>
          </a:p>
          <a:p>
            <a:pPr marL="0" indent="0" rtl="1">
              <a:spcBef>
                <a:spcPts val="20"/>
              </a:spcBef>
              <a:buNone/>
            </a:pPr>
            <a:r>
              <a:rPr lang="ar-SA" b="1" dirty="0">
                <a:latin typeface="Arial"/>
                <a:cs typeface="Arial"/>
              </a:rPr>
              <a:t>خُذ منتجًا موجودًا إلى سوق مختلف، مثل الامتياز </a:t>
            </a:r>
            <a:endParaRPr lang="ar-SA" dirty="0"/>
          </a:p>
          <a:p>
            <a:pPr rtl="1">
              <a:spcBef>
                <a:spcPts val="20"/>
              </a:spcBef>
            </a:pPr>
            <a:endParaRPr lang="ar-EG" dirty="0"/>
          </a:p>
          <a:p>
            <a:pPr rtl="1">
              <a:spcBef>
                <a:spcPts val="20"/>
              </a:spcBef>
            </a:pPr>
            <a:endParaRPr lang="ar-SA" dirty="0"/>
          </a:p>
          <a:p>
            <a:pPr marL="0" indent="0" rtl="1">
              <a:buNone/>
            </a:pPr>
            <a:r>
              <a:rPr lang="ar-SA" sz="2000" i="1" dirty="0"/>
              <a:t>P</a:t>
            </a:r>
          </a:p>
          <a:p>
            <a:pPr marL="0" indent="0" rtl="1">
              <a:buNone/>
            </a:pPr>
            <a:endParaRPr lang="ar-SA" sz="2000" b="1" dirty="0"/>
          </a:p>
          <a:p>
            <a:pPr marL="0" indent="0" rtl="1">
              <a:buNone/>
            </a:pPr>
            <a:endParaRPr lang="ar-SA" sz="1800" b="1" dirty="0">
              <a:latin typeface="Arial"/>
              <a:ea typeface="Verdana"/>
              <a:cs typeface="Arial"/>
            </a:endParaRPr>
          </a:p>
          <a:p>
            <a:pPr marL="0" indent="0" rtl="1">
              <a:buNone/>
            </a:pPr>
            <a:endParaRPr lang="ar-SA" sz="1800" b="1" dirty="0">
              <a:latin typeface="Arial"/>
              <a:ea typeface="Verdana"/>
              <a:cs typeface="Arial"/>
            </a:endParaRPr>
          </a:p>
          <a:p>
            <a:pPr marL="0" indent="0" rtl="1">
              <a:buNone/>
            </a:pPr>
            <a:endParaRPr lang="ar-SA" sz="1800" b="1" dirty="0">
              <a:latin typeface="Arial"/>
              <a:ea typeface="Verdana"/>
              <a:cs typeface="Arial"/>
            </a:endParaRPr>
          </a:p>
          <a:p>
            <a:pPr marL="0" indent="0" rtl="1">
              <a:buNone/>
            </a:pPr>
            <a:endParaRPr lang="ar-SA" sz="1800" b="1" dirty="0">
              <a:latin typeface="Arial"/>
              <a:ea typeface="Verdana"/>
              <a:cs typeface="Arial"/>
            </a:endParaRPr>
          </a:p>
          <a:p>
            <a:pPr marL="0" indent="0" rtl="1">
              <a:buNone/>
            </a:pPr>
            <a:r>
              <a:rPr lang="ar-SA" sz="1800" b="1" dirty="0">
                <a:latin typeface="Arial"/>
                <a:ea typeface="Verdana"/>
                <a:cs typeface="Arial"/>
              </a:rPr>
              <a:t>لماذا تعتقد أن بعض الناس يقررون شراء حق امتياز؟</a:t>
            </a:r>
            <a:endParaRPr lang="ar-SA" sz="1800" dirty="0"/>
          </a:p>
        </p:txBody>
      </p:sp>
      <p:sp>
        <p:nvSpPr>
          <p:cNvPr id="8" name="TextBox 7">
            <a:extLst>
              <a:ext uri="{FF2B5EF4-FFF2-40B4-BE49-F238E27FC236}">
                <a16:creationId xmlns:a16="http://schemas.microsoft.com/office/drawing/2014/main" id="{403E24C5-A850-43EF-B739-BFA32A5C36A4}"/>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9" name="Picture 8" descr="A close-up of a white tube&#10;&#10;Description automatically generated">
            <a:extLst>
              <a:ext uri="{FF2B5EF4-FFF2-40B4-BE49-F238E27FC236}">
                <a16:creationId xmlns:a16="http://schemas.microsoft.com/office/drawing/2014/main" id="{FDFE4EBB-A51C-8021-E9DF-B0803920842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73056" y="3049234"/>
            <a:ext cx="1682796" cy="2523748"/>
          </a:xfrm>
          <a:prstGeom prst="rect">
            <a:avLst/>
          </a:prstGeom>
        </p:spPr>
      </p:pic>
      <p:pic>
        <p:nvPicPr>
          <p:cNvPr id="10" name="Picture 9" descr="A hand touching a screen with a store icon">
            <a:extLst>
              <a:ext uri="{FF2B5EF4-FFF2-40B4-BE49-F238E27FC236}">
                <a16:creationId xmlns:a16="http://schemas.microsoft.com/office/drawing/2014/main" id="{F7085307-3C21-CE9B-DD9C-9EBB4602F21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8148" y="3283840"/>
            <a:ext cx="3952550" cy="2054535"/>
          </a:xfrm>
          <a:prstGeom prst="rect">
            <a:avLst/>
          </a:prstGeom>
        </p:spPr>
      </p:pic>
    </p:spTree>
    <p:extLst>
      <p:ext uri="{BB962C8B-B14F-4D97-AF65-F5344CB8AC3E}">
        <p14:creationId xmlns:p14="http://schemas.microsoft.com/office/powerpoint/2010/main" val="2983112429"/>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AF5D6-2E25-46EF-76B1-E4B8ABBA6070}"/>
              </a:ext>
            </a:extLst>
          </p:cNvPr>
          <p:cNvSpPr>
            <a:spLocks noGrp="1"/>
          </p:cNvSpPr>
          <p:nvPr>
            <p:ph type="title"/>
          </p:nvPr>
        </p:nvSpPr>
        <p:spPr>
          <a:xfrm>
            <a:off x="457200" y="1195200"/>
            <a:ext cx="8229600" cy="864000"/>
          </a:xfrm>
        </p:spPr>
        <p:txBody>
          <a:bodyPr rtlCol="1"/>
          <a:lstStyle/>
          <a:p>
            <a:pPr rtl="1"/>
            <a:r>
              <a:rPr lang="ar-SA" dirty="0">
                <a:latin typeface="Arial"/>
                <a:cs typeface="Arial"/>
              </a:rPr>
              <a:t>أفكار للشركة الناشئة (2)</a:t>
            </a:r>
            <a:endParaRPr lang="ar-SA" dirty="0"/>
          </a:p>
        </p:txBody>
      </p:sp>
      <p:sp>
        <p:nvSpPr>
          <p:cNvPr id="3" name="Content Placeholder 2">
            <a:extLst>
              <a:ext uri="{FF2B5EF4-FFF2-40B4-BE49-F238E27FC236}">
                <a16:creationId xmlns:a16="http://schemas.microsoft.com/office/drawing/2014/main" id="{DDABD9BD-155E-85EC-EF2E-9C5FA4589637}"/>
              </a:ext>
            </a:extLst>
          </p:cNvPr>
          <p:cNvSpPr>
            <a:spLocks noGrp="1"/>
          </p:cNvSpPr>
          <p:nvPr>
            <p:ph sz="half" idx="1"/>
          </p:nvPr>
        </p:nvSpPr>
        <p:spPr>
          <a:xfrm>
            <a:off x="4648199" y="2196001"/>
            <a:ext cx="4027487" cy="4024100"/>
          </a:xfrm>
        </p:spPr>
        <p:txBody>
          <a:bodyPr rtlCol="1"/>
          <a:lstStyle/>
          <a:p>
            <a:pPr marL="0" indent="0" rtl="1">
              <a:buNone/>
            </a:pPr>
            <a:br>
              <a:rPr lang="ar-SA" dirty="0">
                <a:latin typeface="Arial"/>
                <a:ea typeface="Verdana"/>
                <a:cs typeface="Arial"/>
              </a:rPr>
            </a:br>
            <a:br>
              <a:rPr lang="ar-SA" dirty="0">
                <a:latin typeface="Arial"/>
                <a:ea typeface="Verdana"/>
                <a:cs typeface="Arial"/>
              </a:rPr>
            </a:br>
            <a:r>
              <a:rPr lang="ar-SA" sz="2000" i="1" dirty="0"/>
              <a:t>PH_004</a:t>
            </a:r>
          </a:p>
          <a:p>
            <a:pPr marL="0" indent="0" rtl="1">
              <a:buNone/>
            </a:pPr>
            <a:endParaRPr lang="ar-SA" sz="2000" i="1" dirty="0"/>
          </a:p>
          <a:p>
            <a:pPr marL="0" indent="0" rtl="1">
              <a:buNone/>
            </a:pPr>
            <a:endParaRPr lang="ar-SA" b="1" dirty="0">
              <a:latin typeface="Arial"/>
              <a:cs typeface="Arial"/>
            </a:endParaRPr>
          </a:p>
          <a:p>
            <a:pPr marL="0" indent="0" rtl="1">
              <a:buNone/>
            </a:pPr>
            <a:br>
              <a:rPr lang="ar-SA" dirty="0">
                <a:latin typeface="Arial"/>
                <a:ea typeface="Verdana"/>
                <a:cs typeface="Arial"/>
              </a:rPr>
            </a:br>
            <a:br>
              <a:rPr lang="ar-SA" dirty="0">
                <a:latin typeface="Arial"/>
                <a:ea typeface="Verdana"/>
                <a:cs typeface="Arial"/>
              </a:rPr>
            </a:br>
            <a:endParaRPr lang="ar-SA" dirty="0">
              <a:latin typeface="Arial"/>
              <a:ea typeface="Verdana"/>
              <a:cs typeface="Arial"/>
            </a:endParaRPr>
          </a:p>
          <a:p>
            <a:pPr rtl="1"/>
            <a:endParaRPr lang="ar-SA" dirty="0">
              <a:latin typeface="Verdana"/>
              <a:ea typeface="Verdana"/>
              <a:cs typeface="Arial"/>
            </a:endParaRPr>
          </a:p>
          <a:p>
            <a:pPr rtl="1"/>
            <a:endParaRPr lang="ar-SA" dirty="0"/>
          </a:p>
        </p:txBody>
      </p:sp>
      <p:sp>
        <p:nvSpPr>
          <p:cNvPr id="4" name="Content Placeholder 3">
            <a:extLst>
              <a:ext uri="{FF2B5EF4-FFF2-40B4-BE49-F238E27FC236}">
                <a16:creationId xmlns:a16="http://schemas.microsoft.com/office/drawing/2014/main" id="{4B6E2D1A-72AD-E8CA-B45D-ADD9314A7C45}"/>
              </a:ext>
            </a:extLst>
          </p:cNvPr>
          <p:cNvSpPr>
            <a:spLocks noGrp="1"/>
          </p:cNvSpPr>
          <p:nvPr>
            <p:ph sz="half" idx="2"/>
          </p:nvPr>
        </p:nvSpPr>
        <p:spPr>
          <a:xfrm>
            <a:off x="468312" y="2196001"/>
            <a:ext cx="4027488" cy="2155282"/>
          </a:xfrm>
        </p:spPr>
        <p:txBody>
          <a:bodyPr rtlCol="1"/>
          <a:lstStyle/>
          <a:p>
            <a:pPr marL="0" indent="0" rtl="1">
              <a:buNone/>
            </a:pPr>
            <a:r>
              <a:rPr lang="ar-SA" sz="2000" b="1" dirty="0">
                <a:latin typeface="Arial"/>
                <a:ea typeface="Verdana"/>
                <a:cs typeface="Arial"/>
              </a:rPr>
              <a:t>تحديد الفجوات في السوق – </a:t>
            </a:r>
            <a:r>
              <a:rPr lang="ar-SA" sz="2000" dirty="0">
                <a:latin typeface="Arial"/>
                <a:ea typeface="Verdana"/>
                <a:cs typeface="Arial"/>
              </a:rPr>
              <a:t>فكر في المنتجات أو الخدمات التي تلبي الاحتياجات أو </a:t>
            </a:r>
            <a:br>
              <a:rPr lang="ar-EG" sz="2000" dirty="0">
                <a:latin typeface="Arial"/>
                <a:ea typeface="Verdana"/>
                <a:cs typeface="Arial"/>
              </a:rPr>
            </a:br>
            <a:r>
              <a:rPr lang="ar-SA" sz="2000" dirty="0">
                <a:latin typeface="Arial"/>
                <a:ea typeface="Verdana"/>
                <a:cs typeface="Arial"/>
              </a:rPr>
              <a:t>الرغبات الجديدة.</a:t>
            </a:r>
            <a:br>
              <a:rPr lang="ar-SA" sz="2000" dirty="0">
                <a:latin typeface="Arial"/>
                <a:ea typeface="Verdana"/>
                <a:cs typeface="Arial"/>
              </a:rPr>
            </a:br>
            <a:endParaRPr lang="ar-SA" sz="2000" dirty="0">
              <a:latin typeface="Arial"/>
              <a:ea typeface="Verdana"/>
              <a:cs typeface="Arial"/>
            </a:endParaRPr>
          </a:p>
          <a:p>
            <a:pPr marL="0" indent="0" rtl="1">
              <a:buNone/>
            </a:pPr>
            <a:r>
              <a:rPr lang="ar-SA" sz="2000" b="1" dirty="0">
                <a:latin typeface="Arial"/>
                <a:ea typeface="Verdana"/>
                <a:cs typeface="Arial"/>
              </a:rPr>
              <a:t>حدد اتجاهات الشركة –</a:t>
            </a:r>
            <a:r>
              <a:rPr lang="ar-SA" sz="2000" dirty="0">
                <a:latin typeface="Arial"/>
                <a:ea typeface="Verdana"/>
                <a:cs typeface="Arial"/>
              </a:rPr>
              <a:t> ابحث عن المنتجات </a:t>
            </a:r>
            <a:br>
              <a:rPr lang="ar-SA" sz="2000" dirty="0">
                <a:latin typeface="Arial"/>
                <a:ea typeface="Verdana"/>
                <a:cs typeface="Arial"/>
              </a:rPr>
            </a:br>
            <a:r>
              <a:rPr lang="ar-SA" sz="2000" dirty="0">
                <a:latin typeface="Arial"/>
                <a:ea typeface="Verdana"/>
                <a:cs typeface="Arial"/>
              </a:rPr>
              <a:t>أو الخدمات الشائعة. ما الذي يشتريه معظم الناس أو يتحدثون عنه؟</a:t>
            </a:r>
            <a:br>
              <a:rPr lang="ar-SA" sz="2000" dirty="0">
                <a:latin typeface="Arial"/>
                <a:ea typeface="Verdana"/>
                <a:cs typeface="Arial"/>
              </a:rPr>
            </a:br>
            <a:endParaRPr lang="ar-SA" sz="2000" dirty="0">
              <a:latin typeface="Arial"/>
              <a:ea typeface="Verdana"/>
              <a:cs typeface="Arial"/>
            </a:endParaRPr>
          </a:p>
          <a:p>
            <a:pPr marL="0" indent="0" rtl="1">
              <a:buNone/>
            </a:pPr>
            <a:r>
              <a:rPr lang="ar-SA" sz="2000" b="1" dirty="0">
                <a:latin typeface="Arial"/>
                <a:ea typeface="Verdana"/>
                <a:cs typeface="Arial"/>
              </a:rPr>
              <a:t>ابحث عن نقطة بيع فريدة – </a:t>
            </a:r>
            <a:r>
              <a:rPr lang="ar-SA" sz="2000" dirty="0">
                <a:latin typeface="Arial"/>
                <a:ea typeface="Verdana"/>
                <a:cs typeface="Arial"/>
              </a:rPr>
              <a:t>ما الذي يجعل شركتك ظاهرة؟ ما الذي يمكنك تقديمه </a:t>
            </a:r>
            <a:br>
              <a:rPr lang="ar-SA" sz="2000" dirty="0">
                <a:latin typeface="Arial"/>
                <a:ea typeface="Verdana"/>
                <a:cs typeface="Arial"/>
              </a:rPr>
            </a:br>
            <a:r>
              <a:rPr lang="ar-SA" sz="2000" dirty="0">
                <a:latin typeface="Arial"/>
                <a:ea typeface="Verdana"/>
                <a:cs typeface="Arial"/>
              </a:rPr>
              <a:t>ولا يستطيع الآخرون تقديمه؟</a:t>
            </a:r>
            <a:endParaRPr lang="ar-SA" sz="2000" b="1" dirty="0">
              <a:latin typeface="Arial"/>
              <a:cs typeface="Arial"/>
            </a:endParaRPr>
          </a:p>
          <a:p>
            <a:pPr rtl="1"/>
            <a:endParaRPr lang="ar-SA" dirty="0"/>
          </a:p>
        </p:txBody>
      </p:sp>
      <p:sp>
        <p:nvSpPr>
          <p:cNvPr id="7" name="TextBox 6">
            <a:extLst>
              <a:ext uri="{FF2B5EF4-FFF2-40B4-BE49-F238E27FC236}">
                <a16:creationId xmlns:a16="http://schemas.microsoft.com/office/drawing/2014/main" id="{6A0AFF82-7DA7-8311-BCC5-98566E550283}"/>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8" name="Picture 7" descr="A cell phone with icons flying out of it">
            <a:extLst>
              <a:ext uri="{FF2B5EF4-FFF2-40B4-BE49-F238E27FC236}">
                <a16:creationId xmlns:a16="http://schemas.microsoft.com/office/drawing/2014/main" id="{17620D13-ED24-1C4E-88D7-734B63A67D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79922" y="2448480"/>
            <a:ext cx="3478612" cy="2250867"/>
          </a:xfrm>
          <a:prstGeom prst="rect">
            <a:avLst/>
          </a:prstGeom>
        </p:spPr>
      </p:pic>
    </p:spTree>
    <p:extLst>
      <p:ext uri="{BB962C8B-B14F-4D97-AF65-F5344CB8AC3E}">
        <p14:creationId xmlns:p14="http://schemas.microsoft.com/office/powerpoint/2010/main" val="3705146589"/>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9E106-6814-B9A3-368D-81D4E2AB032B}"/>
              </a:ext>
            </a:extLst>
          </p:cNvPr>
          <p:cNvSpPr>
            <a:spLocks noGrp="1"/>
          </p:cNvSpPr>
          <p:nvPr>
            <p:ph type="title"/>
          </p:nvPr>
        </p:nvSpPr>
        <p:spPr>
          <a:xfrm>
            <a:off x="457200" y="1195200"/>
            <a:ext cx="8229600" cy="864000"/>
          </a:xfrm>
        </p:spPr>
        <p:txBody>
          <a:bodyPr rtlCol="1"/>
          <a:lstStyle/>
          <a:p>
            <a:pPr rtl="1"/>
            <a:r>
              <a:rPr lang="ar-SA" dirty="0">
                <a:latin typeface="Arial"/>
                <a:cs typeface="Arial"/>
              </a:rPr>
              <a:t>الأهداف والغايات</a:t>
            </a:r>
            <a:endParaRPr lang="ar-SA" dirty="0"/>
          </a:p>
        </p:txBody>
      </p:sp>
      <p:sp>
        <p:nvSpPr>
          <p:cNvPr id="3" name="Content Placeholder 2">
            <a:extLst>
              <a:ext uri="{FF2B5EF4-FFF2-40B4-BE49-F238E27FC236}">
                <a16:creationId xmlns:a16="http://schemas.microsoft.com/office/drawing/2014/main" id="{00851132-38C8-39FA-4F8B-11E7F08BBFC2}"/>
              </a:ext>
            </a:extLst>
          </p:cNvPr>
          <p:cNvSpPr>
            <a:spLocks noGrp="1"/>
          </p:cNvSpPr>
          <p:nvPr>
            <p:ph sz="half" idx="1"/>
          </p:nvPr>
        </p:nvSpPr>
        <p:spPr>
          <a:xfrm>
            <a:off x="4648199" y="2196001"/>
            <a:ext cx="4027487" cy="4024100"/>
          </a:xfrm>
        </p:spPr>
        <p:txBody>
          <a:bodyPr rtlCol="1"/>
          <a:lstStyle/>
          <a:p>
            <a:pPr rtl="1"/>
            <a:r>
              <a:rPr lang="ar-SA" dirty="0">
                <a:latin typeface="Arial"/>
                <a:cs typeface="Arial"/>
              </a:rPr>
              <a:t>الغايات المالية</a:t>
            </a:r>
            <a:endParaRPr lang="ar-SA" dirty="0"/>
          </a:p>
          <a:p>
            <a:pPr rtl="1"/>
            <a:endParaRPr lang="ar-SA" dirty="0"/>
          </a:p>
          <a:p>
            <a:pPr rtl="1">
              <a:spcBef>
                <a:spcPts val="20"/>
              </a:spcBef>
            </a:pPr>
            <a:r>
              <a:rPr lang="ar-SA" dirty="0">
                <a:latin typeface="Arial"/>
                <a:cs typeface="Arial"/>
              </a:rPr>
              <a:t>تحقيق الربح</a:t>
            </a:r>
            <a:endParaRPr lang="ar-SA" dirty="0"/>
          </a:p>
          <a:p>
            <a:pPr rtl="1">
              <a:spcBef>
                <a:spcPts val="20"/>
              </a:spcBef>
            </a:pPr>
            <a:r>
              <a:rPr lang="ar-SA" dirty="0">
                <a:latin typeface="Arial"/>
                <a:cs typeface="Arial"/>
              </a:rPr>
              <a:t>التعادل</a:t>
            </a:r>
            <a:endParaRPr lang="ar-SA" dirty="0"/>
          </a:p>
          <a:p>
            <a:pPr rtl="1">
              <a:spcBef>
                <a:spcPts val="20"/>
              </a:spcBef>
            </a:pPr>
            <a:r>
              <a:rPr lang="ar-SA" dirty="0">
                <a:latin typeface="Arial"/>
                <a:cs typeface="Arial"/>
              </a:rPr>
              <a:t>زيادة الحصة السوقية</a:t>
            </a:r>
          </a:p>
          <a:p>
            <a:pPr rtl="1"/>
            <a:endParaRPr lang="ar-SA" dirty="0"/>
          </a:p>
        </p:txBody>
      </p:sp>
      <p:sp>
        <p:nvSpPr>
          <p:cNvPr id="4" name="Content Placeholder 3">
            <a:extLst>
              <a:ext uri="{FF2B5EF4-FFF2-40B4-BE49-F238E27FC236}">
                <a16:creationId xmlns:a16="http://schemas.microsoft.com/office/drawing/2014/main" id="{BCE3C64F-E996-694E-DA30-6DB4F57CD9FC}"/>
              </a:ext>
            </a:extLst>
          </p:cNvPr>
          <p:cNvSpPr>
            <a:spLocks noGrp="1"/>
          </p:cNvSpPr>
          <p:nvPr>
            <p:ph sz="half" idx="2"/>
          </p:nvPr>
        </p:nvSpPr>
        <p:spPr>
          <a:xfrm>
            <a:off x="468312" y="2196001"/>
            <a:ext cx="4027488" cy="4024100"/>
          </a:xfrm>
        </p:spPr>
        <p:txBody>
          <a:bodyPr rtlCol="1"/>
          <a:lstStyle/>
          <a:p>
            <a:pPr rtl="1"/>
            <a:r>
              <a:rPr lang="ar-SA" dirty="0">
                <a:latin typeface="Arial"/>
                <a:cs typeface="Arial"/>
              </a:rPr>
              <a:t>الغايات غير المالية</a:t>
            </a:r>
          </a:p>
          <a:p>
            <a:pPr rtl="1"/>
            <a:endParaRPr lang="ar-SA" dirty="0"/>
          </a:p>
          <a:p>
            <a:pPr rtl="1"/>
            <a:r>
              <a:rPr lang="ar-SA" dirty="0">
                <a:latin typeface="Arial"/>
                <a:cs typeface="Arial"/>
              </a:rPr>
              <a:t>تقديم خدمة</a:t>
            </a:r>
          </a:p>
          <a:p>
            <a:pPr rtl="1"/>
            <a:r>
              <a:rPr lang="ar-SA" dirty="0">
                <a:latin typeface="Arial"/>
                <a:cs typeface="Arial"/>
              </a:rPr>
              <a:t>الغايات الاجتماعية</a:t>
            </a:r>
          </a:p>
          <a:p>
            <a:pPr rtl="1"/>
            <a:r>
              <a:rPr lang="ar-SA" dirty="0">
                <a:latin typeface="Arial"/>
                <a:cs typeface="Arial"/>
              </a:rPr>
              <a:t>رضا العملاء</a:t>
            </a:r>
          </a:p>
          <a:p>
            <a:pPr rtl="1"/>
            <a:r>
              <a:rPr lang="ar-SA" dirty="0">
                <a:latin typeface="Arial"/>
                <a:cs typeface="Arial"/>
              </a:rPr>
              <a:t>الطموح الشخصي</a:t>
            </a:r>
          </a:p>
          <a:p>
            <a:pPr rtl="1"/>
            <a:endParaRPr lang="ar-SA" dirty="0"/>
          </a:p>
        </p:txBody>
      </p:sp>
      <p:sp>
        <p:nvSpPr>
          <p:cNvPr id="6" name="TextBox 5">
            <a:extLst>
              <a:ext uri="{FF2B5EF4-FFF2-40B4-BE49-F238E27FC236}">
                <a16:creationId xmlns:a16="http://schemas.microsoft.com/office/drawing/2014/main" id="{EC7B7CE8-392E-E733-285B-0AF568905A7A}"/>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209555756"/>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9CC7-C33B-C237-ADF9-77534AE5606F}"/>
              </a:ext>
            </a:extLst>
          </p:cNvPr>
          <p:cNvSpPr>
            <a:spLocks noGrp="1"/>
          </p:cNvSpPr>
          <p:nvPr>
            <p:ph type="title"/>
          </p:nvPr>
        </p:nvSpPr>
        <p:spPr>
          <a:xfrm>
            <a:off x="457200" y="1482537"/>
            <a:ext cx="8229600" cy="864000"/>
          </a:xfrm>
        </p:spPr>
        <p:txBody>
          <a:bodyPr rtlCol="1"/>
          <a:lstStyle/>
          <a:p>
            <a:pPr rtl="1"/>
            <a:r>
              <a:rPr lang="ar-SA" dirty="0">
                <a:latin typeface="Arial"/>
                <a:cs typeface="Arial"/>
              </a:rPr>
              <a:t>الموارد اللازمة لإدارة الشركة </a:t>
            </a:r>
            <a:endParaRPr lang="ar-SA" dirty="0"/>
          </a:p>
        </p:txBody>
      </p:sp>
      <p:sp>
        <p:nvSpPr>
          <p:cNvPr id="4" name="Content Placeholder 3">
            <a:extLst>
              <a:ext uri="{FF2B5EF4-FFF2-40B4-BE49-F238E27FC236}">
                <a16:creationId xmlns:a16="http://schemas.microsoft.com/office/drawing/2014/main" id="{A4BAA0A8-A021-789C-3151-B23DC8068C80}"/>
              </a:ext>
            </a:extLst>
          </p:cNvPr>
          <p:cNvSpPr>
            <a:spLocks noGrp="1"/>
          </p:cNvSpPr>
          <p:nvPr>
            <p:ph sz="half" idx="1"/>
          </p:nvPr>
        </p:nvSpPr>
        <p:spPr>
          <a:xfrm>
            <a:off x="4648199" y="2743199"/>
            <a:ext cx="4027487" cy="3476901"/>
          </a:xfrm>
        </p:spPr>
        <p:txBody>
          <a:bodyPr rtlCol="1"/>
          <a:lstStyle/>
          <a:p>
            <a:pPr rtl="1"/>
            <a:r>
              <a:rPr lang="ar-SA" b="1" dirty="0">
                <a:latin typeface="Arial"/>
                <a:cs typeface="Arial"/>
              </a:rPr>
              <a:t>الموارد المادية</a:t>
            </a:r>
            <a:endParaRPr lang="ar-SA" dirty="0"/>
          </a:p>
          <a:p>
            <a:pPr lvl="1" rtl="1"/>
            <a:r>
              <a:rPr lang="ar-SA" sz="1800" b="1" dirty="0">
                <a:latin typeface="Arial"/>
                <a:cs typeface="Arial"/>
              </a:rPr>
              <a:t>المعدات</a:t>
            </a:r>
          </a:p>
          <a:p>
            <a:pPr lvl="1" rtl="1"/>
            <a:r>
              <a:rPr lang="ar-SA" sz="1800" b="1" dirty="0">
                <a:latin typeface="Arial"/>
                <a:cs typeface="Arial"/>
              </a:rPr>
              <a:t>المقرات</a:t>
            </a:r>
          </a:p>
          <a:p>
            <a:pPr lvl="1" rtl="1"/>
            <a:r>
              <a:rPr lang="ar-SA" sz="1800" b="1" dirty="0">
                <a:latin typeface="Arial"/>
                <a:cs typeface="Arial"/>
              </a:rPr>
              <a:t>التكنولوجيا</a:t>
            </a:r>
          </a:p>
          <a:p>
            <a:pPr rtl="1"/>
            <a:r>
              <a:rPr lang="ar-SA" b="1" dirty="0">
                <a:latin typeface="Arial"/>
                <a:cs typeface="Arial"/>
              </a:rPr>
              <a:t>الموارد المالية</a:t>
            </a:r>
            <a:endParaRPr lang="ar-SA" b="1" dirty="0"/>
          </a:p>
          <a:p>
            <a:pPr lvl="1" rtl="1"/>
            <a:r>
              <a:rPr lang="ar-SA" sz="1800" b="1" dirty="0">
                <a:latin typeface="Arial"/>
                <a:cs typeface="Arial"/>
              </a:rPr>
              <a:t>تكاليف التأسيس.</a:t>
            </a:r>
            <a:endParaRPr lang="ar-SA" sz="1800" b="1" dirty="0"/>
          </a:p>
          <a:p>
            <a:pPr lvl="1" rtl="1"/>
            <a:r>
              <a:rPr lang="ar-SA" sz="1800" b="1" dirty="0">
                <a:latin typeface="Arial"/>
                <a:cs typeface="Arial"/>
              </a:rPr>
              <a:t>تكاليف التشغيل</a:t>
            </a:r>
            <a:endParaRPr lang="ar-SA" sz="1800" b="1" dirty="0"/>
          </a:p>
          <a:p>
            <a:pPr rtl="1"/>
            <a:r>
              <a:rPr lang="ar-SA" b="1" dirty="0">
                <a:latin typeface="Arial"/>
                <a:cs typeface="Arial"/>
              </a:rPr>
              <a:t>الموارد البشرية </a:t>
            </a:r>
            <a:endParaRPr lang="ar-SA" b="1" dirty="0">
              <a:latin typeface="Arial" charset="0"/>
              <a:cs typeface="Arial"/>
            </a:endParaRPr>
          </a:p>
          <a:p>
            <a:pPr lvl="1" indent="-342900" rtl="1"/>
            <a:r>
              <a:rPr lang="ar-SA" sz="1800" b="1" dirty="0">
                <a:latin typeface="Arial"/>
                <a:cs typeface="Arial"/>
              </a:rPr>
              <a:t>الموظفون</a:t>
            </a:r>
          </a:p>
        </p:txBody>
      </p:sp>
      <p:graphicFrame>
        <p:nvGraphicFramePr>
          <p:cNvPr id="5" name="Content Placeholder 4">
            <a:extLst>
              <a:ext uri="{FF2B5EF4-FFF2-40B4-BE49-F238E27FC236}">
                <a16:creationId xmlns:a16="http://schemas.microsoft.com/office/drawing/2014/main" id="{AB0D2CDD-A393-5A3B-7FA2-8A0FDB9EB877}"/>
              </a:ext>
            </a:extLst>
          </p:cNvPr>
          <p:cNvGraphicFramePr>
            <a:graphicFrameLocks noGrp="1"/>
          </p:cNvGraphicFramePr>
          <p:nvPr>
            <p:ph sz="half" idx="2"/>
            <p:extLst>
              <p:ext uri="{D42A27DB-BD31-4B8C-83A1-F6EECF244321}">
                <p14:modId xmlns:p14="http://schemas.microsoft.com/office/powerpoint/2010/main" val="2147540051"/>
              </p:ext>
            </p:extLst>
          </p:nvPr>
        </p:nvGraphicFramePr>
        <p:xfrm>
          <a:off x="468312" y="2195513"/>
          <a:ext cx="4027488" cy="4024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61C48709-8CC3-0A58-E210-26534D96C7C3}"/>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2533740742"/>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81752-4C64-4E80-C76D-8ACFA000D9CC}"/>
              </a:ext>
            </a:extLst>
          </p:cNvPr>
          <p:cNvSpPr>
            <a:spLocks noGrp="1"/>
          </p:cNvSpPr>
          <p:nvPr>
            <p:ph type="title"/>
          </p:nvPr>
        </p:nvSpPr>
        <p:spPr>
          <a:xfrm>
            <a:off x="100709" y="1195200"/>
            <a:ext cx="8929213" cy="864000"/>
          </a:xfrm>
        </p:spPr>
        <p:txBody>
          <a:bodyPr rtlCol="1"/>
          <a:lstStyle/>
          <a:p>
            <a:pPr rtl="1"/>
            <a:r>
              <a:rPr lang="ar-SA" dirty="0">
                <a:latin typeface="Arial"/>
                <a:cs typeface="Arial"/>
              </a:rPr>
              <a:t>المهارات اللازمة لإدارة الشركة</a:t>
            </a:r>
            <a:endParaRPr lang="ar-SA" dirty="0"/>
          </a:p>
        </p:txBody>
      </p:sp>
      <p:sp>
        <p:nvSpPr>
          <p:cNvPr id="4" name="Content Placeholder 3">
            <a:extLst>
              <a:ext uri="{FF2B5EF4-FFF2-40B4-BE49-F238E27FC236}">
                <a16:creationId xmlns:a16="http://schemas.microsoft.com/office/drawing/2014/main" id="{084424A0-7728-42E5-F0C6-C127EF58FE89}"/>
              </a:ext>
            </a:extLst>
          </p:cNvPr>
          <p:cNvSpPr>
            <a:spLocks noGrp="1"/>
          </p:cNvSpPr>
          <p:nvPr>
            <p:ph sz="half" idx="1"/>
          </p:nvPr>
        </p:nvSpPr>
        <p:spPr>
          <a:xfrm>
            <a:off x="5899029" y="2196001"/>
            <a:ext cx="2776657" cy="4024100"/>
          </a:xfrm>
        </p:spPr>
        <p:txBody>
          <a:bodyPr rtlCol="1"/>
          <a:lstStyle/>
          <a:p>
            <a:pPr rtl="1"/>
            <a:r>
              <a:rPr lang="ar-SA" dirty="0">
                <a:latin typeface="Arial"/>
                <a:cs typeface="Arial"/>
              </a:rPr>
              <a:t>ما هي المهارات اللازمة لإدارة الشركة؟</a:t>
            </a:r>
          </a:p>
          <a:p>
            <a:pPr rtl="1"/>
            <a:endParaRPr lang="ar-SA" dirty="0"/>
          </a:p>
          <a:p>
            <a:pPr rtl="1"/>
            <a:r>
              <a:rPr lang="ar-SA" dirty="0">
                <a:latin typeface="Arial"/>
                <a:cs typeface="Arial"/>
              </a:rPr>
              <a:t>فكر في مالك </a:t>
            </a:r>
            <a:br>
              <a:rPr lang="ar-SA" dirty="0">
                <a:latin typeface="Arial"/>
                <a:cs typeface="Arial"/>
              </a:rPr>
            </a:br>
            <a:r>
              <a:rPr lang="ar-SA" dirty="0">
                <a:latin typeface="Arial"/>
                <a:cs typeface="Arial"/>
              </a:rPr>
              <a:t>شركة تعرفه</a:t>
            </a:r>
          </a:p>
        </p:txBody>
      </p:sp>
      <p:sp>
        <p:nvSpPr>
          <p:cNvPr id="6" name="Content Placeholder 5">
            <a:extLst>
              <a:ext uri="{FF2B5EF4-FFF2-40B4-BE49-F238E27FC236}">
                <a16:creationId xmlns:a16="http://schemas.microsoft.com/office/drawing/2014/main" id="{B2A8993C-958C-F4DB-89FE-DD31599DA8DB}"/>
              </a:ext>
            </a:extLst>
          </p:cNvPr>
          <p:cNvSpPr>
            <a:spLocks noGrp="1"/>
          </p:cNvSpPr>
          <p:nvPr>
            <p:ph sz="half" idx="2"/>
          </p:nvPr>
        </p:nvSpPr>
        <p:spPr>
          <a:xfrm>
            <a:off x="384048" y="2196001"/>
            <a:ext cx="5290695" cy="4024100"/>
          </a:xfrm>
        </p:spPr>
        <p:txBody>
          <a:bodyPr rtlCol="1"/>
          <a:lstStyle/>
          <a:p>
            <a:pPr rtl="1"/>
            <a:r>
              <a:rPr lang="ar-SA" dirty="0">
                <a:latin typeface="Arial"/>
                <a:cs typeface="Arial"/>
              </a:rPr>
              <a:t>الشخصية والعلاقات بين الأشخاص </a:t>
            </a:r>
          </a:p>
          <a:p>
            <a:pPr rtl="1"/>
            <a:endParaRPr lang="ar-SA" dirty="0">
              <a:latin typeface="Arial"/>
              <a:cs typeface="Arial"/>
            </a:endParaRPr>
          </a:p>
          <a:p>
            <a:pPr rtl="1"/>
            <a:r>
              <a:rPr lang="ar-SA" dirty="0">
                <a:latin typeface="Arial"/>
                <a:cs typeface="Arial"/>
              </a:rPr>
              <a:t>التقنية/العملية - تكنولوجيا المعلومات والاتصالات</a:t>
            </a:r>
          </a:p>
          <a:p>
            <a:pPr rtl="1"/>
            <a:endParaRPr lang="ar-SA" dirty="0">
              <a:latin typeface="Arial"/>
              <a:cs typeface="Arial"/>
            </a:endParaRPr>
          </a:p>
          <a:p>
            <a:pPr rtl="1"/>
            <a:r>
              <a:rPr lang="ar-SA" dirty="0">
                <a:latin typeface="Arial"/>
                <a:cs typeface="Arial"/>
              </a:rPr>
              <a:t>القيادة/الإدارة </a:t>
            </a:r>
          </a:p>
          <a:p>
            <a:pPr rtl="1"/>
            <a:endParaRPr lang="ar-SA" dirty="0">
              <a:latin typeface="Arial"/>
              <a:cs typeface="Arial"/>
            </a:endParaRPr>
          </a:p>
          <a:p>
            <a:pPr rtl="1"/>
            <a:r>
              <a:rPr lang="ar-SA" dirty="0">
                <a:latin typeface="Arial"/>
                <a:cs typeface="Arial"/>
              </a:rPr>
              <a:t>الخبرة/المؤهلات</a:t>
            </a:r>
          </a:p>
        </p:txBody>
      </p:sp>
      <p:sp>
        <p:nvSpPr>
          <p:cNvPr id="3" name="TextBox 2">
            <a:extLst>
              <a:ext uri="{FF2B5EF4-FFF2-40B4-BE49-F238E27FC236}">
                <a16:creationId xmlns:a16="http://schemas.microsoft.com/office/drawing/2014/main" id="{DA10BF02-8C1D-C98A-522F-204935D16309}"/>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4258524148"/>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dirty="0"/>
              <a:t>هدف التعلّم ب</a:t>
            </a:r>
            <a:br>
              <a:rPr lang="ar-SA" altLang="en-US" sz="2400" dirty="0"/>
            </a:br>
            <a:br>
              <a:rPr lang="ar-SA" altLang="en-US" sz="2400" dirty="0"/>
            </a:br>
            <a:endParaRPr lang="ar-SA"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638141"/>
            <a:ext cx="871296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algn="ctr" defTabSz="431800" rtl="1">
              <a:buNone/>
            </a:pPr>
            <a:r>
              <a:rPr lang="ar-SA" sz="3600" b="1" dirty="0"/>
              <a:t>اجرِ بحثًا في السوق وحضِّر خطة ترويجية </a:t>
            </a:r>
            <a:br>
              <a:rPr lang="ar-SA" sz="3600" b="1" dirty="0"/>
            </a:br>
            <a:r>
              <a:rPr lang="ar-SA" sz="3600" b="1" dirty="0"/>
              <a:t>لشركة جديدة </a:t>
            </a:r>
            <a:endParaRPr lang="ar-SA" altLang="en-US" sz="3600" dirty="0"/>
          </a:p>
        </p:txBody>
      </p:sp>
      <p:sp>
        <p:nvSpPr>
          <p:cNvPr id="6" name="Content Placeholder 3">
            <a:extLst>
              <a:ext uri="{FF2B5EF4-FFF2-40B4-BE49-F238E27FC236}">
                <a16:creationId xmlns:a16="http://schemas.microsoft.com/office/drawing/2014/main" id="{431A70FB-4D53-C8BD-CD15-9C30482724E7}"/>
              </a:ext>
            </a:extLst>
          </p:cNvPr>
          <p:cNvSpPr>
            <a:spLocks noGrp="1" noChangeArrowheads="1"/>
          </p:cNvSpPr>
          <p:nvPr>
            <p:ph sz="half" idx="2"/>
          </p:nvPr>
        </p:nvSpPr>
        <p:spPr bwMode="auto">
          <a:xfrm>
            <a:off x="1187451" y="3861292"/>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SA" dirty="0"/>
              <a:t>تحديد السوق المستهدف</a:t>
            </a:r>
          </a:p>
          <a:p>
            <a:pPr marL="685800" rtl="1"/>
            <a:r>
              <a:rPr lang="ar-SA" dirty="0"/>
              <a:t>تخطيط أبحاث السوق وشرحها</a:t>
            </a:r>
          </a:p>
          <a:p>
            <a:pPr marL="685800" rtl="1"/>
            <a:r>
              <a:rPr lang="ar-SA" dirty="0"/>
              <a:t>الخطة الترويجية</a:t>
            </a:r>
          </a:p>
        </p:txBody>
      </p:sp>
      <p:sp>
        <p:nvSpPr>
          <p:cNvPr id="2" name="TextBox 1">
            <a:extLst>
              <a:ext uri="{FF2B5EF4-FFF2-40B4-BE49-F238E27FC236}">
                <a16:creationId xmlns:a16="http://schemas.microsoft.com/office/drawing/2014/main" id="{3C630E11-EF90-0C44-6EC6-86DA12E72198}"/>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337417643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3212248"/>
            <a:ext cx="8208712" cy="293746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SA" dirty="0">
                <a:latin typeface="Arial"/>
                <a:cs typeface="Arial"/>
              </a:rPr>
              <a:t>هدف التعلم ب ينظر في البحث المطلوب من الشركات الناشئة من حيث تحديد السوق المستهدف. يأخذ هدف التعلم أيضًا في الاعتبار الفرق بين البحث الابتدائي والثانوي وكيف يمكن تحليل نتائج البحث وتقديمها للمساعدة في اتخاذ القرارات لصاحب العمل.</a:t>
            </a:r>
            <a:endParaRPr lang="ar-SA" altLang="en-US" dirty="0"/>
          </a:p>
          <a:p>
            <a:pPr marL="685800" rtl="1"/>
            <a:endParaRPr lang="ar-SA"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algn="ctr" defTabSz="431800" rtl="1">
              <a:buNone/>
            </a:pPr>
            <a:r>
              <a:rPr lang="ar-SA" sz="3600" b="1" dirty="0"/>
              <a:t>اجرِ بحثًا في السوق وحضِّر خطة ترويجية </a:t>
            </a:r>
            <a:br>
              <a:rPr lang="ar-EG" sz="3600" b="1" dirty="0"/>
            </a:br>
            <a:r>
              <a:rPr lang="ar-SA" sz="3600" b="1" dirty="0"/>
              <a:t>لشركة جديدة </a:t>
            </a:r>
            <a:endParaRPr lang="ar-SA" altLang="en-US" sz="3600" dirty="0"/>
          </a:p>
        </p:txBody>
      </p:sp>
      <p:sp>
        <p:nvSpPr>
          <p:cNvPr id="2" name="TextBox 1">
            <a:extLst>
              <a:ext uri="{FF2B5EF4-FFF2-40B4-BE49-F238E27FC236}">
                <a16:creationId xmlns:a16="http://schemas.microsoft.com/office/drawing/2014/main" id="{D04E358E-08B7-542E-B11B-4C9F913FD6AD}"/>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6A602-11E8-AD6E-6708-2C4511EEB9A9}"/>
              </a:ext>
            </a:extLst>
          </p:cNvPr>
          <p:cNvSpPr>
            <a:spLocks noGrp="1"/>
          </p:cNvSpPr>
          <p:nvPr>
            <p:ph type="title"/>
          </p:nvPr>
        </p:nvSpPr>
        <p:spPr>
          <a:xfrm>
            <a:off x="457200" y="1195200"/>
            <a:ext cx="8229600" cy="864000"/>
          </a:xfrm>
        </p:spPr>
        <p:txBody>
          <a:bodyPr rtlCol="1"/>
          <a:lstStyle/>
          <a:p>
            <a:pPr rtl="1"/>
            <a:r>
              <a:rPr lang="ar-SA" dirty="0">
                <a:latin typeface="Arial"/>
                <a:cs typeface="Arial"/>
              </a:rPr>
              <a:t>تحديد السوق المستهدف </a:t>
            </a:r>
            <a:endParaRPr lang="ar-SA" dirty="0"/>
          </a:p>
        </p:txBody>
      </p:sp>
      <p:sp>
        <p:nvSpPr>
          <p:cNvPr id="3" name="Content Placeholder 2">
            <a:extLst>
              <a:ext uri="{FF2B5EF4-FFF2-40B4-BE49-F238E27FC236}">
                <a16:creationId xmlns:a16="http://schemas.microsoft.com/office/drawing/2014/main" id="{EA327C5D-F917-DD60-BFA1-62A78C8FD82C}"/>
              </a:ext>
            </a:extLst>
          </p:cNvPr>
          <p:cNvSpPr>
            <a:spLocks noGrp="1"/>
          </p:cNvSpPr>
          <p:nvPr>
            <p:ph sz="half" idx="1"/>
          </p:nvPr>
        </p:nvSpPr>
        <p:spPr>
          <a:xfrm>
            <a:off x="4648199" y="2196001"/>
            <a:ext cx="4027487" cy="4024100"/>
          </a:xfrm>
        </p:spPr>
        <p:txBody>
          <a:bodyPr rtlCol="1"/>
          <a:lstStyle/>
          <a:p>
            <a:pPr rtl="1"/>
            <a:r>
              <a:rPr lang="ar-SA" dirty="0">
                <a:latin typeface="Arial"/>
                <a:cs typeface="Arial"/>
              </a:rPr>
              <a:t>ما هي المعلومات التي يجب </a:t>
            </a:r>
            <a:br>
              <a:rPr lang="ar-EG" dirty="0">
                <a:latin typeface="Arial"/>
                <a:cs typeface="Arial"/>
              </a:rPr>
            </a:br>
            <a:r>
              <a:rPr lang="ar-SA" dirty="0">
                <a:latin typeface="Arial"/>
                <a:cs typeface="Arial"/>
              </a:rPr>
              <a:t>أن يعرفها صاحب العمل قبل </a:t>
            </a:r>
            <a:br>
              <a:rPr lang="ar-EG" dirty="0">
                <a:latin typeface="Arial"/>
                <a:cs typeface="Arial"/>
              </a:rPr>
            </a:br>
            <a:r>
              <a:rPr lang="ar-SA" dirty="0">
                <a:latin typeface="Arial"/>
                <a:cs typeface="Arial"/>
              </a:rPr>
              <a:t>أن يبدأ مشروعه التجاري؟</a:t>
            </a:r>
            <a:endParaRPr lang="ar-SA" dirty="0"/>
          </a:p>
        </p:txBody>
      </p:sp>
      <p:sp>
        <p:nvSpPr>
          <p:cNvPr id="4" name="Content Placeholder 3">
            <a:extLst>
              <a:ext uri="{FF2B5EF4-FFF2-40B4-BE49-F238E27FC236}">
                <a16:creationId xmlns:a16="http://schemas.microsoft.com/office/drawing/2014/main" id="{92A43070-731E-09F2-6F1A-92AA90BFBEB4}"/>
              </a:ext>
            </a:extLst>
          </p:cNvPr>
          <p:cNvSpPr>
            <a:spLocks noGrp="1"/>
          </p:cNvSpPr>
          <p:nvPr>
            <p:ph sz="half" idx="2"/>
          </p:nvPr>
        </p:nvSpPr>
        <p:spPr>
          <a:xfrm>
            <a:off x="468312" y="2196001"/>
            <a:ext cx="4027488" cy="4024100"/>
          </a:xfrm>
        </p:spPr>
        <p:txBody>
          <a:bodyPr rtlCol="1"/>
          <a:lstStyle/>
          <a:p>
            <a:pPr rtl="1"/>
            <a:r>
              <a:rPr lang="ar-SA" dirty="0">
                <a:latin typeface="Arial"/>
                <a:cs typeface="Arial"/>
              </a:rPr>
              <a:t>السن</a:t>
            </a:r>
            <a:endParaRPr lang="ar-SA" dirty="0"/>
          </a:p>
          <a:p>
            <a:pPr rtl="1"/>
            <a:r>
              <a:rPr lang="ar-SA" dirty="0">
                <a:latin typeface="Arial"/>
                <a:cs typeface="Arial"/>
              </a:rPr>
              <a:t>النوع</a:t>
            </a:r>
            <a:endParaRPr lang="ar-SA" dirty="0"/>
          </a:p>
          <a:p>
            <a:pPr rtl="1"/>
            <a:r>
              <a:rPr lang="ar-SA" dirty="0">
                <a:latin typeface="Arial"/>
                <a:cs typeface="Arial"/>
              </a:rPr>
              <a:t>الاهتمامات</a:t>
            </a:r>
            <a:endParaRPr lang="ar-SA" dirty="0"/>
          </a:p>
          <a:p>
            <a:pPr rtl="1"/>
            <a:r>
              <a:rPr lang="ar-SA" dirty="0">
                <a:latin typeface="Arial"/>
                <a:cs typeface="Arial"/>
              </a:rPr>
              <a:t>السلوكيات</a:t>
            </a:r>
          </a:p>
          <a:p>
            <a:pPr rtl="1"/>
            <a:r>
              <a:rPr lang="ar-SA" dirty="0">
                <a:latin typeface="Arial"/>
                <a:cs typeface="Arial"/>
              </a:rPr>
              <a:t>الدخل</a:t>
            </a:r>
          </a:p>
          <a:p>
            <a:pPr rtl="1"/>
            <a:r>
              <a:rPr lang="ar-SA" dirty="0">
                <a:latin typeface="Arial"/>
                <a:cs typeface="Arial"/>
              </a:rPr>
              <a:t>الموقع</a:t>
            </a:r>
          </a:p>
          <a:p>
            <a:pPr rtl="1"/>
            <a:r>
              <a:rPr lang="ar-SA" dirty="0">
                <a:latin typeface="Arial"/>
                <a:cs typeface="Arial"/>
              </a:rPr>
              <a:t>عادات التسوق - عبر الإنترنت </a:t>
            </a:r>
            <a:br>
              <a:rPr lang="ar-SA" dirty="0">
                <a:latin typeface="Arial"/>
                <a:cs typeface="Arial"/>
              </a:rPr>
            </a:br>
            <a:r>
              <a:rPr lang="ar-SA" dirty="0">
                <a:latin typeface="Arial"/>
                <a:cs typeface="Arial"/>
              </a:rPr>
              <a:t>أو بطريقة مباشرة </a:t>
            </a:r>
          </a:p>
          <a:p>
            <a:pPr marL="0" indent="0" rtl="1">
              <a:buNone/>
            </a:pPr>
            <a:endParaRPr lang="ar-SA" dirty="0">
              <a:latin typeface="Arial" charset="0"/>
              <a:cs typeface="Arial"/>
            </a:endParaRPr>
          </a:p>
          <a:p>
            <a:pPr marL="0" indent="0" rtl="1">
              <a:buNone/>
            </a:pPr>
            <a:endParaRPr lang="ar-SA" dirty="0">
              <a:latin typeface="Arial" charset="0"/>
              <a:cs typeface="Arial"/>
            </a:endParaRPr>
          </a:p>
          <a:p>
            <a:pPr rtl="1"/>
            <a:endParaRPr lang="ar-SA" dirty="0">
              <a:latin typeface="Arial" charset="0"/>
              <a:cs typeface="Arial"/>
            </a:endParaRPr>
          </a:p>
        </p:txBody>
      </p:sp>
      <p:sp>
        <p:nvSpPr>
          <p:cNvPr id="6" name="TextBox 5">
            <a:extLst>
              <a:ext uri="{FF2B5EF4-FFF2-40B4-BE49-F238E27FC236}">
                <a16:creationId xmlns:a16="http://schemas.microsoft.com/office/drawing/2014/main" id="{D4FC71F3-B2C3-0A53-67EC-74C33D6E3DF6}"/>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4282760686"/>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886B7-0A20-4390-8F8F-277AA92726D9}"/>
              </a:ext>
            </a:extLst>
          </p:cNvPr>
          <p:cNvSpPr>
            <a:spLocks noGrp="1"/>
          </p:cNvSpPr>
          <p:nvPr>
            <p:ph type="title"/>
          </p:nvPr>
        </p:nvSpPr>
        <p:spPr>
          <a:xfrm>
            <a:off x="494675" y="1485634"/>
            <a:ext cx="8229600" cy="864000"/>
          </a:xfrm>
        </p:spPr>
        <p:txBody>
          <a:bodyPr rtlCol="1"/>
          <a:lstStyle/>
          <a:p>
            <a:pPr rtl="1"/>
            <a:r>
              <a:rPr lang="ar-SA" dirty="0">
                <a:latin typeface="Arial"/>
                <a:cs typeface="Arial"/>
              </a:rPr>
              <a:t>تخطيط أبحاث السوق وشرحها (2)</a:t>
            </a:r>
            <a:endParaRPr lang="ar-SA" dirty="0"/>
          </a:p>
        </p:txBody>
      </p:sp>
      <p:sp>
        <p:nvSpPr>
          <p:cNvPr id="3" name="Content Placeholder 2">
            <a:extLst>
              <a:ext uri="{FF2B5EF4-FFF2-40B4-BE49-F238E27FC236}">
                <a16:creationId xmlns:a16="http://schemas.microsoft.com/office/drawing/2014/main" id="{81F36EE2-BD9F-7E65-D0DB-29A5BDEAD880}"/>
              </a:ext>
            </a:extLst>
          </p:cNvPr>
          <p:cNvSpPr>
            <a:spLocks noGrp="1"/>
          </p:cNvSpPr>
          <p:nvPr>
            <p:ph sz="half" idx="1"/>
          </p:nvPr>
        </p:nvSpPr>
        <p:spPr>
          <a:xfrm>
            <a:off x="4765633" y="3116270"/>
            <a:ext cx="4027487" cy="4024100"/>
          </a:xfrm>
        </p:spPr>
        <p:txBody>
          <a:bodyPr rtlCol="1"/>
          <a:lstStyle/>
          <a:p>
            <a:pPr marL="0" indent="0" rtl="1">
              <a:buNone/>
            </a:pPr>
            <a:r>
              <a:rPr lang="ar-SA" sz="2800" b="1" dirty="0">
                <a:latin typeface="Arial"/>
                <a:cs typeface="Arial"/>
              </a:rPr>
              <a:t>البحث الثانوي</a:t>
            </a:r>
          </a:p>
          <a:p>
            <a:pPr rtl="1"/>
            <a:r>
              <a:rPr lang="ar-SA" dirty="0">
                <a:latin typeface="Arial"/>
                <a:cs typeface="Arial"/>
              </a:rPr>
              <a:t>الصحف</a:t>
            </a:r>
            <a:endParaRPr lang="ar-SA" dirty="0"/>
          </a:p>
          <a:p>
            <a:pPr rtl="1"/>
            <a:r>
              <a:rPr lang="ar-SA" dirty="0">
                <a:latin typeface="Arial"/>
                <a:cs typeface="Arial"/>
              </a:rPr>
              <a:t>المجلات</a:t>
            </a:r>
            <a:endParaRPr lang="ar-SA" dirty="0"/>
          </a:p>
          <a:p>
            <a:pPr rtl="1"/>
            <a:r>
              <a:rPr lang="ar-SA" dirty="0">
                <a:latin typeface="Arial"/>
                <a:cs typeface="Arial"/>
              </a:rPr>
              <a:t>مواقع إنترنت المنافسين</a:t>
            </a:r>
          </a:p>
          <a:p>
            <a:pPr rtl="1"/>
            <a:r>
              <a:rPr lang="ar-SA" dirty="0">
                <a:latin typeface="Arial"/>
                <a:cs typeface="Arial"/>
              </a:rPr>
              <a:t>مواقع المنافسين</a:t>
            </a:r>
          </a:p>
          <a:p>
            <a:pPr rtl="1"/>
            <a:r>
              <a:rPr lang="ar-SA" dirty="0">
                <a:latin typeface="Arial"/>
                <a:cs typeface="Arial"/>
              </a:rPr>
              <a:t>الاتجاهات الرئيسية للسوق</a:t>
            </a:r>
            <a:endParaRPr lang="ar-SA" dirty="0"/>
          </a:p>
          <a:p>
            <a:pPr rtl="1"/>
            <a:endParaRPr lang="ar-SA" dirty="0">
              <a:latin typeface="Arial"/>
              <a:cs typeface="Arial"/>
            </a:endParaRPr>
          </a:p>
          <a:p>
            <a:pPr rtl="1"/>
            <a:endParaRPr lang="ar-SA" dirty="0">
              <a:latin typeface="Arial"/>
              <a:cs typeface="Arial"/>
            </a:endParaRPr>
          </a:p>
          <a:p>
            <a:pPr rtl="1"/>
            <a:endParaRPr lang="ar-SA" dirty="0">
              <a:latin typeface="Arial"/>
              <a:cs typeface="Arial"/>
            </a:endParaRPr>
          </a:p>
          <a:p>
            <a:pPr marL="0" indent="0" rtl="1">
              <a:buNone/>
            </a:pPr>
            <a:endParaRPr lang="ar-SA" dirty="0">
              <a:latin typeface="Arial"/>
              <a:cs typeface="Arial"/>
            </a:endParaRPr>
          </a:p>
        </p:txBody>
      </p:sp>
      <p:sp>
        <p:nvSpPr>
          <p:cNvPr id="4" name="TextBox 3">
            <a:extLst>
              <a:ext uri="{FF2B5EF4-FFF2-40B4-BE49-F238E27FC236}">
                <a16:creationId xmlns:a16="http://schemas.microsoft.com/office/drawing/2014/main" id="{52C10696-B594-AFD4-F861-D565C8E08801}"/>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
        <p:nvSpPr>
          <p:cNvPr id="6" name="Content Placeholder 5">
            <a:extLst>
              <a:ext uri="{FF2B5EF4-FFF2-40B4-BE49-F238E27FC236}">
                <a16:creationId xmlns:a16="http://schemas.microsoft.com/office/drawing/2014/main" id="{1293F50B-B758-6502-8C7D-E761155E2698}"/>
              </a:ext>
            </a:extLst>
          </p:cNvPr>
          <p:cNvSpPr>
            <a:spLocks noGrp="1"/>
          </p:cNvSpPr>
          <p:nvPr>
            <p:ph sz="half" idx="2"/>
          </p:nvPr>
        </p:nvSpPr>
        <p:spPr/>
        <p:txBody>
          <a:bodyPr/>
          <a:lstStyle/>
          <a:p>
            <a:endParaRPr lang="en-GB"/>
          </a:p>
        </p:txBody>
      </p:sp>
      <p:pic>
        <p:nvPicPr>
          <p:cNvPr id="7" name="Picture 6" descr="A close-up of a stack of magazines">
            <a:extLst>
              <a:ext uri="{FF2B5EF4-FFF2-40B4-BE49-F238E27FC236}">
                <a16:creationId xmlns:a16="http://schemas.microsoft.com/office/drawing/2014/main" id="{44B57246-0261-5B0B-C236-0109860360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4509" y="3008518"/>
            <a:ext cx="4122407" cy="2751926"/>
          </a:xfrm>
          <a:prstGeom prst="rect">
            <a:avLst/>
          </a:prstGeom>
        </p:spPr>
      </p:pic>
    </p:spTree>
    <p:extLst>
      <p:ext uri="{BB962C8B-B14F-4D97-AF65-F5344CB8AC3E}">
        <p14:creationId xmlns:p14="http://schemas.microsoft.com/office/powerpoint/2010/main" val="598974688"/>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886B7-0A20-4390-8F8F-277AA92726D9}"/>
              </a:ext>
            </a:extLst>
          </p:cNvPr>
          <p:cNvSpPr>
            <a:spLocks noGrp="1"/>
          </p:cNvSpPr>
          <p:nvPr>
            <p:ph type="title"/>
          </p:nvPr>
        </p:nvSpPr>
        <p:spPr>
          <a:xfrm>
            <a:off x="607102" y="1635536"/>
            <a:ext cx="8229600" cy="864000"/>
          </a:xfrm>
        </p:spPr>
        <p:txBody>
          <a:bodyPr rtlCol="1"/>
          <a:lstStyle/>
          <a:p>
            <a:pPr rtl="1"/>
            <a:r>
              <a:rPr lang="ar-SA" dirty="0">
                <a:latin typeface="Arial"/>
                <a:cs typeface="Arial"/>
              </a:rPr>
              <a:t>تخطيط أبحاث السوق وشرحها (1)</a:t>
            </a:r>
            <a:endParaRPr lang="ar-SA" dirty="0"/>
          </a:p>
        </p:txBody>
      </p:sp>
      <p:sp>
        <p:nvSpPr>
          <p:cNvPr id="3" name="Content Placeholder 2">
            <a:extLst>
              <a:ext uri="{FF2B5EF4-FFF2-40B4-BE49-F238E27FC236}">
                <a16:creationId xmlns:a16="http://schemas.microsoft.com/office/drawing/2014/main" id="{81F36EE2-BD9F-7E65-D0DB-29A5BDEAD880}"/>
              </a:ext>
            </a:extLst>
          </p:cNvPr>
          <p:cNvSpPr>
            <a:spLocks noGrp="1"/>
          </p:cNvSpPr>
          <p:nvPr>
            <p:ph sz="half" idx="1"/>
          </p:nvPr>
        </p:nvSpPr>
        <p:spPr>
          <a:xfrm>
            <a:off x="4662576" y="3153746"/>
            <a:ext cx="4027487" cy="3039274"/>
          </a:xfrm>
        </p:spPr>
        <p:txBody>
          <a:bodyPr rtlCol="1"/>
          <a:lstStyle/>
          <a:p>
            <a:pPr marL="0" indent="0" rtl="1">
              <a:buNone/>
            </a:pPr>
            <a:endParaRPr lang="ar-SA" sz="2000" i="1" dirty="0"/>
          </a:p>
          <a:p>
            <a:pPr marL="0" indent="0" rtl="1">
              <a:buNone/>
            </a:pPr>
            <a:endParaRPr lang="ar-SA" dirty="0">
              <a:latin typeface="Arial"/>
              <a:cs typeface="Arial"/>
            </a:endParaRPr>
          </a:p>
          <a:p>
            <a:pPr marL="0" indent="0" rtl="1">
              <a:buNone/>
            </a:pPr>
            <a:endParaRPr lang="ar-SA" dirty="0">
              <a:latin typeface="Arial"/>
              <a:cs typeface="Arial"/>
            </a:endParaRPr>
          </a:p>
          <a:p>
            <a:pPr rtl="1"/>
            <a:endParaRPr lang="ar-SA" dirty="0">
              <a:latin typeface="Arial"/>
              <a:cs typeface="Arial"/>
            </a:endParaRPr>
          </a:p>
          <a:p>
            <a:pPr rtl="1"/>
            <a:endParaRPr lang="ar-SA" dirty="0">
              <a:latin typeface="Arial"/>
              <a:cs typeface="Arial"/>
            </a:endParaRPr>
          </a:p>
          <a:p>
            <a:pPr rtl="1"/>
            <a:endParaRPr lang="ar-SA" dirty="0">
              <a:latin typeface="Arial"/>
              <a:cs typeface="Arial"/>
            </a:endParaRPr>
          </a:p>
          <a:p>
            <a:pPr marL="0" indent="0" rtl="1">
              <a:buNone/>
            </a:pPr>
            <a:endParaRPr lang="ar-SA" dirty="0"/>
          </a:p>
          <a:p>
            <a:pPr rtl="1"/>
            <a:endParaRPr lang="ar-SA" dirty="0"/>
          </a:p>
        </p:txBody>
      </p:sp>
      <p:sp>
        <p:nvSpPr>
          <p:cNvPr id="4" name="Content Placeholder 3">
            <a:extLst>
              <a:ext uri="{FF2B5EF4-FFF2-40B4-BE49-F238E27FC236}">
                <a16:creationId xmlns:a16="http://schemas.microsoft.com/office/drawing/2014/main" id="{2D40E29C-0E59-956F-B4A9-E97BE3698D69}"/>
              </a:ext>
            </a:extLst>
          </p:cNvPr>
          <p:cNvSpPr>
            <a:spLocks noGrp="1"/>
          </p:cNvSpPr>
          <p:nvPr>
            <p:ph sz="half" idx="2"/>
          </p:nvPr>
        </p:nvSpPr>
        <p:spPr>
          <a:xfrm>
            <a:off x="383992" y="3277485"/>
            <a:ext cx="4027488" cy="4024100"/>
          </a:xfrm>
        </p:spPr>
        <p:txBody>
          <a:bodyPr rtlCol="1"/>
          <a:lstStyle/>
          <a:p>
            <a:pPr marL="0" indent="0" rtl="1">
              <a:buNone/>
            </a:pPr>
            <a:r>
              <a:rPr lang="ar-SA" sz="2800" b="1" dirty="0">
                <a:latin typeface="Arial"/>
                <a:cs typeface="Arial"/>
              </a:rPr>
              <a:t>البحث الأولي</a:t>
            </a:r>
          </a:p>
          <a:p>
            <a:pPr rtl="1"/>
            <a:r>
              <a:rPr lang="ar-SA" dirty="0">
                <a:latin typeface="Arial"/>
                <a:cs typeface="Arial"/>
              </a:rPr>
              <a:t>الاستطلاعات</a:t>
            </a:r>
            <a:endParaRPr lang="ar-SA" dirty="0"/>
          </a:p>
          <a:p>
            <a:pPr rtl="1"/>
            <a:r>
              <a:rPr lang="ar-SA" dirty="0">
                <a:latin typeface="Arial"/>
                <a:cs typeface="Arial"/>
              </a:rPr>
              <a:t>المقابلات الشخصية</a:t>
            </a:r>
          </a:p>
          <a:p>
            <a:pPr rtl="1"/>
            <a:r>
              <a:rPr lang="ar-SA" dirty="0">
                <a:latin typeface="Arial"/>
                <a:cs typeface="Arial"/>
              </a:rPr>
              <a:t>مجموعات التركيز</a:t>
            </a:r>
          </a:p>
          <a:p>
            <a:pPr rtl="1"/>
            <a:r>
              <a:rPr lang="ar-SA" dirty="0">
                <a:latin typeface="Arial"/>
                <a:cs typeface="Arial"/>
              </a:rPr>
              <a:t>العمل الميداني</a:t>
            </a:r>
          </a:p>
          <a:p>
            <a:pPr rtl="1"/>
            <a:endParaRPr lang="ar-SA" dirty="0"/>
          </a:p>
        </p:txBody>
      </p:sp>
      <p:sp>
        <p:nvSpPr>
          <p:cNvPr id="7" name="TextBox 6">
            <a:extLst>
              <a:ext uri="{FF2B5EF4-FFF2-40B4-BE49-F238E27FC236}">
                <a16:creationId xmlns:a16="http://schemas.microsoft.com/office/drawing/2014/main" id="{5AD8AC2A-93EC-0A6A-886A-2B98F9B75081}"/>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8" name="Picture 7" descr="A group of people sitting in a circle">
            <a:extLst>
              <a:ext uri="{FF2B5EF4-FFF2-40B4-BE49-F238E27FC236}">
                <a16:creationId xmlns:a16="http://schemas.microsoft.com/office/drawing/2014/main" id="{F60AD1A8-F674-B172-8054-E799DE84D44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3587" y="3277485"/>
            <a:ext cx="3497722" cy="2334872"/>
          </a:xfrm>
          <a:prstGeom prst="rect">
            <a:avLst/>
          </a:prstGeom>
        </p:spPr>
      </p:pic>
    </p:spTree>
    <p:extLst>
      <p:ext uri="{BB962C8B-B14F-4D97-AF65-F5344CB8AC3E}">
        <p14:creationId xmlns:p14="http://schemas.microsoft.com/office/powerpoint/2010/main" val="151708076"/>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886B7-0A20-4390-8F8F-277AA92726D9}"/>
              </a:ext>
            </a:extLst>
          </p:cNvPr>
          <p:cNvSpPr>
            <a:spLocks noGrp="1"/>
          </p:cNvSpPr>
          <p:nvPr>
            <p:ph type="title"/>
          </p:nvPr>
        </p:nvSpPr>
        <p:spPr>
          <a:xfrm>
            <a:off x="457200" y="1409077"/>
            <a:ext cx="8229600" cy="864000"/>
          </a:xfrm>
        </p:spPr>
        <p:txBody>
          <a:bodyPr rtlCol="1"/>
          <a:lstStyle/>
          <a:p>
            <a:pPr rtl="1"/>
            <a:r>
              <a:rPr lang="ar-SA" dirty="0">
                <a:latin typeface="Arial"/>
                <a:cs typeface="Arial"/>
              </a:rPr>
              <a:t>تخطيط أبحاث السوق وشرحها (3)</a:t>
            </a:r>
            <a:endParaRPr lang="ar-SA" dirty="0"/>
          </a:p>
        </p:txBody>
      </p:sp>
      <p:sp>
        <p:nvSpPr>
          <p:cNvPr id="3" name="Content Placeholder 2">
            <a:extLst>
              <a:ext uri="{FF2B5EF4-FFF2-40B4-BE49-F238E27FC236}">
                <a16:creationId xmlns:a16="http://schemas.microsoft.com/office/drawing/2014/main" id="{81F36EE2-BD9F-7E65-D0DB-29A5BDEAD880}"/>
              </a:ext>
            </a:extLst>
          </p:cNvPr>
          <p:cNvSpPr>
            <a:spLocks noGrp="1"/>
          </p:cNvSpPr>
          <p:nvPr>
            <p:ph sz="half" idx="1"/>
          </p:nvPr>
        </p:nvSpPr>
        <p:spPr>
          <a:xfrm>
            <a:off x="4662576" y="2497926"/>
            <a:ext cx="4027487" cy="4024100"/>
          </a:xfrm>
        </p:spPr>
        <p:txBody>
          <a:bodyPr rtlCol="1"/>
          <a:lstStyle/>
          <a:p>
            <a:pPr marL="0" indent="0" rtl="1">
              <a:buNone/>
            </a:pPr>
            <a:r>
              <a:rPr lang="ar-SA" sz="2000" dirty="0">
                <a:latin typeface="Arial"/>
                <a:cs typeface="Arial"/>
              </a:rPr>
              <a:t>بمجرد جمع أبحاث السوق، يجب تحليلها وعرض النتائج بتنسيق مناسب.</a:t>
            </a:r>
          </a:p>
          <a:p>
            <a:pPr marL="0" indent="0" rtl="1">
              <a:buNone/>
            </a:pPr>
            <a:endParaRPr lang="ar-SA" sz="2000" dirty="0">
              <a:latin typeface="Arial"/>
              <a:cs typeface="Arial"/>
            </a:endParaRPr>
          </a:p>
          <a:p>
            <a:pPr marL="0" indent="0" rtl="1">
              <a:buNone/>
            </a:pPr>
            <a:r>
              <a:rPr lang="ar-SA" sz="2000" dirty="0"/>
              <a:t>ستساعد نتائج أبحاث السوق صاحب العمل </a:t>
            </a:r>
            <a:br>
              <a:rPr lang="ar-EG" sz="2000" dirty="0"/>
            </a:br>
            <a:r>
              <a:rPr lang="ar-SA" sz="2000" dirty="0"/>
              <a:t>على التنبؤ بما إذا كان المنتج/الخدمة ستلبي احتياجات السوق/العميل المستهدف</a:t>
            </a:r>
          </a:p>
          <a:p>
            <a:pPr marL="0" indent="0" rtl="1">
              <a:buNone/>
            </a:pPr>
            <a:endParaRPr lang="ar-SA" dirty="0">
              <a:latin typeface="Arial"/>
              <a:cs typeface="Arial"/>
            </a:endParaRPr>
          </a:p>
        </p:txBody>
      </p:sp>
      <p:sp>
        <p:nvSpPr>
          <p:cNvPr id="4" name="TextBox 3">
            <a:extLst>
              <a:ext uri="{FF2B5EF4-FFF2-40B4-BE49-F238E27FC236}">
                <a16:creationId xmlns:a16="http://schemas.microsoft.com/office/drawing/2014/main" id="{C64E894B-B2AA-D38D-6B7E-5A337772FB7C}"/>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7" name="Picture 6" descr="A close-up of a graph&#10;&#10;Description automatically generated">
            <a:extLst>
              <a:ext uri="{FF2B5EF4-FFF2-40B4-BE49-F238E27FC236}">
                <a16:creationId xmlns:a16="http://schemas.microsoft.com/office/drawing/2014/main" id="{1870DE80-3ABC-576A-C807-6F86625E1DB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6269" y="2482034"/>
            <a:ext cx="3504525" cy="3452034"/>
          </a:xfrm>
          <a:prstGeom prst="rect">
            <a:avLst/>
          </a:prstGeom>
        </p:spPr>
      </p:pic>
    </p:spTree>
    <p:extLst>
      <p:ext uri="{BB962C8B-B14F-4D97-AF65-F5344CB8AC3E}">
        <p14:creationId xmlns:p14="http://schemas.microsoft.com/office/powerpoint/2010/main" val="1492953663"/>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D1891-2377-1845-4184-F331BEEB8E9E}"/>
              </a:ext>
            </a:extLst>
          </p:cNvPr>
          <p:cNvSpPr>
            <a:spLocks noGrp="1"/>
          </p:cNvSpPr>
          <p:nvPr>
            <p:ph type="title"/>
          </p:nvPr>
        </p:nvSpPr>
        <p:spPr>
          <a:xfrm>
            <a:off x="457200" y="1195200"/>
            <a:ext cx="8229600" cy="864000"/>
          </a:xfrm>
        </p:spPr>
        <p:txBody>
          <a:bodyPr rtlCol="1"/>
          <a:lstStyle/>
          <a:p>
            <a:pPr rtl="1"/>
            <a:r>
              <a:rPr lang="ar-SA" dirty="0">
                <a:latin typeface="Arial"/>
                <a:cs typeface="Arial"/>
              </a:rPr>
              <a:t>الخطة الترويجية (1)</a:t>
            </a:r>
            <a:endParaRPr lang="ar-SA" dirty="0"/>
          </a:p>
        </p:txBody>
      </p:sp>
      <p:sp>
        <p:nvSpPr>
          <p:cNvPr id="3" name="Content Placeholder 2">
            <a:extLst>
              <a:ext uri="{FF2B5EF4-FFF2-40B4-BE49-F238E27FC236}">
                <a16:creationId xmlns:a16="http://schemas.microsoft.com/office/drawing/2014/main" id="{2767764A-87E5-D9A3-F9E8-84E99C933497}"/>
              </a:ext>
            </a:extLst>
          </p:cNvPr>
          <p:cNvSpPr>
            <a:spLocks noGrp="1"/>
          </p:cNvSpPr>
          <p:nvPr>
            <p:ph sz="half" idx="1"/>
          </p:nvPr>
        </p:nvSpPr>
        <p:spPr>
          <a:xfrm>
            <a:off x="4648199" y="2196001"/>
            <a:ext cx="4027487" cy="4024100"/>
          </a:xfrm>
        </p:spPr>
        <p:txBody>
          <a:bodyPr rtlCol="1"/>
          <a:lstStyle/>
          <a:p>
            <a:pPr marL="0" indent="0" rtl="1">
              <a:buNone/>
            </a:pPr>
            <a:r>
              <a:rPr lang="ar-SA" sz="2000" dirty="0"/>
              <a:t>الخطة الترويجية هي وثيقة تحدد كيفية </a:t>
            </a:r>
            <a:br>
              <a:rPr lang="ar-EG" sz="2000" dirty="0"/>
            </a:br>
            <a:r>
              <a:rPr lang="ar-SA" sz="2000" dirty="0"/>
              <a:t>ترويج الشركة لمنتجها/خدمتها إلى السوق/</a:t>
            </a:r>
            <a:br>
              <a:rPr lang="ar-EG" sz="2000" dirty="0"/>
            </a:br>
            <a:r>
              <a:rPr lang="ar-SA" sz="2000" dirty="0"/>
              <a:t>العملاء المستهدفين</a:t>
            </a:r>
          </a:p>
          <a:p>
            <a:pPr rtl="1"/>
            <a:endParaRPr lang="ar-SA" sz="2000" dirty="0"/>
          </a:p>
          <a:p>
            <a:pPr marL="0" indent="0" rtl="1">
              <a:buNone/>
            </a:pPr>
            <a:r>
              <a:rPr lang="ar-SA" sz="2000" dirty="0"/>
              <a:t>يجب أن تغطي الخطة العناصر الأربعة:</a:t>
            </a:r>
          </a:p>
          <a:p>
            <a:pPr rtl="1"/>
            <a:r>
              <a:rPr lang="ar-SA" sz="2000" dirty="0"/>
              <a:t>المنتج (بما في ذلك نقاط البيع الفريدة)</a:t>
            </a:r>
          </a:p>
          <a:p>
            <a:pPr rtl="1"/>
            <a:r>
              <a:rPr lang="ar-SA" sz="2000" dirty="0"/>
              <a:t>السعر</a:t>
            </a:r>
          </a:p>
          <a:p>
            <a:pPr rtl="1"/>
            <a:r>
              <a:rPr lang="ar-SA" sz="2000" dirty="0"/>
              <a:t>المكان</a:t>
            </a:r>
          </a:p>
          <a:p>
            <a:pPr rtl="1"/>
            <a:r>
              <a:rPr lang="ar-SA" sz="2000" dirty="0"/>
              <a:t>الترويج</a:t>
            </a:r>
          </a:p>
          <a:p>
            <a:pPr marL="0" indent="0" rtl="1">
              <a:buNone/>
            </a:pPr>
            <a:endParaRPr lang="ar-SA" dirty="0"/>
          </a:p>
        </p:txBody>
      </p:sp>
      <p:graphicFrame>
        <p:nvGraphicFramePr>
          <p:cNvPr id="6" name="Content Placeholder 5">
            <a:extLst>
              <a:ext uri="{FF2B5EF4-FFF2-40B4-BE49-F238E27FC236}">
                <a16:creationId xmlns:a16="http://schemas.microsoft.com/office/drawing/2014/main" id="{60194189-6739-CF42-DBE9-31F3D235655A}"/>
              </a:ext>
            </a:extLst>
          </p:cNvPr>
          <p:cNvGraphicFramePr>
            <a:graphicFrameLocks noGrp="1"/>
          </p:cNvGraphicFramePr>
          <p:nvPr>
            <p:ph sz="half" idx="2"/>
            <p:extLst>
              <p:ext uri="{D42A27DB-BD31-4B8C-83A1-F6EECF244321}">
                <p14:modId xmlns:p14="http://schemas.microsoft.com/office/powerpoint/2010/main" val="2251160625"/>
              </p:ext>
            </p:extLst>
          </p:nvPr>
        </p:nvGraphicFramePr>
        <p:xfrm>
          <a:off x="468312" y="2195513"/>
          <a:ext cx="4027488" cy="4024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8F502671-8196-2C61-B8BC-C04E15BA7B93}"/>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79553703"/>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3D1C2-4B5D-9BBE-E20E-EBFC4D92208D}"/>
              </a:ext>
            </a:extLst>
          </p:cNvPr>
          <p:cNvSpPr>
            <a:spLocks noGrp="1"/>
          </p:cNvSpPr>
          <p:nvPr>
            <p:ph type="title"/>
          </p:nvPr>
        </p:nvSpPr>
        <p:spPr>
          <a:xfrm>
            <a:off x="457200" y="1195200"/>
            <a:ext cx="8229600" cy="864000"/>
          </a:xfrm>
        </p:spPr>
        <p:txBody>
          <a:bodyPr rtlCol="1"/>
          <a:lstStyle/>
          <a:p>
            <a:pPr rtl="1"/>
            <a:r>
              <a:rPr lang="ar-SA" dirty="0">
                <a:latin typeface="Arial"/>
                <a:cs typeface="Arial"/>
              </a:rPr>
              <a:t>الخطة الترويجية (2)</a:t>
            </a:r>
            <a:endParaRPr lang="ar-SA" dirty="0"/>
          </a:p>
        </p:txBody>
      </p:sp>
      <p:sp>
        <p:nvSpPr>
          <p:cNvPr id="3" name="Content Placeholder 2">
            <a:extLst>
              <a:ext uri="{FF2B5EF4-FFF2-40B4-BE49-F238E27FC236}">
                <a16:creationId xmlns:a16="http://schemas.microsoft.com/office/drawing/2014/main" id="{D496DC9B-43DB-B495-9DBB-4F3121679550}"/>
              </a:ext>
            </a:extLst>
          </p:cNvPr>
          <p:cNvSpPr>
            <a:spLocks noGrp="1"/>
          </p:cNvSpPr>
          <p:nvPr>
            <p:ph sz="half" idx="1"/>
          </p:nvPr>
        </p:nvSpPr>
        <p:spPr>
          <a:xfrm>
            <a:off x="4648199" y="2196001"/>
            <a:ext cx="4027487" cy="4024100"/>
          </a:xfrm>
        </p:spPr>
        <p:txBody>
          <a:bodyPr rtlCol="1"/>
          <a:lstStyle/>
          <a:p>
            <a:pPr marL="0" indent="0" rtl="1">
              <a:buNone/>
            </a:pPr>
            <a:r>
              <a:rPr lang="ar-SA" sz="2000" dirty="0"/>
              <a:t>ستحدد الخطة الترويجية هوية العلامة التجارية لبدء الأعمال التجارية</a:t>
            </a:r>
          </a:p>
          <a:p>
            <a:pPr marL="0" indent="0" rtl="1">
              <a:buNone/>
            </a:pPr>
            <a:r>
              <a:rPr lang="ar-SA" sz="2000" dirty="0"/>
              <a:t>يمكن أن تشمل هوية العلامة التجارية ما يلي:</a:t>
            </a:r>
          </a:p>
          <a:p>
            <a:pPr rtl="1"/>
            <a:r>
              <a:rPr lang="ar-SA" sz="2000" dirty="0"/>
              <a:t>الشعار</a:t>
            </a:r>
          </a:p>
          <a:p>
            <a:pPr rtl="1"/>
            <a:r>
              <a:rPr lang="ar-SA" sz="2000" dirty="0"/>
              <a:t>الشعار الإعلاني</a:t>
            </a:r>
          </a:p>
          <a:p>
            <a:pPr rtl="1"/>
            <a:r>
              <a:rPr lang="ar-SA" sz="2000" dirty="0"/>
              <a:t>تأييد المشاهير</a:t>
            </a:r>
          </a:p>
          <a:p>
            <a:pPr marL="0" indent="0" rtl="1">
              <a:buNone/>
            </a:pPr>
            <a:endParaRPr lang="ar-SA" sz="2000" dirty="0"/>
          </a:p>
          <a:p>
            <a:pPr marL="0" indent="0" rtl="1">
              <a:buNone/>
            </a:pPr>
            <a:r>
              <a:rPr lang="ar-SA" sz="1800" b="1" dirty="0"/>
              <a:t>فكر في الشركات التي تستخدم الأساليب المذكورة أعلاه لهوية علامتها التجارية</a:t>
            </a:r>
          </a:p>
          <a:p>
            <a:pPr marL="0" indent="0" rtl="1">
              <a:buNone/>
            </a:pPr>
            <a:endParaRPr lang="ar-SA" dirty="0"/>
          </a:p>
        </p:txBody>
      </p:sp>
      <p:sp>
        <p:nvSpPr>
          <p:cNvPr id="4" name="Content Placeholder 3">
            <a:extLst>
              <a:ext uri="{FF2B5EF4-FFF2-40B4-BE49-F238E27FC236}">
                <a16:creationId xmlns:a16="http://schemas.microsoft.com/office/drawing/2014/main" id="{BAEFB7FD-A1C5-5E97-59F0-5D048EA0A60D}"/>
              </a:ext>
            </a:extLst>
          </p:cNvPr>
          <p:cNvSpPr>
            <a:spLocks noGrp="1"/>
          </p:cNvSpPr>
          <p:nvPr>
            <p:ph sz="half" idx="2"/>
          </p:nvPr>
        </p:nvSpPr>
        <p:spPr>
          <a:xfrm>
            <a:off x="468312" y="2196001"/>
            <a:ext cx="4027488" cy="4024100"/>
          </a:xfrm>
        </p:spPr>
        <p:txBody>
          <a:bodyPr rtlCol="1"/>
          <a:lstStyle/>
          <a:p>
            <a:pPr marL="0" indent="0" rtl="1">
              <a:buNone/>
            </a:pPr>
            <a:endParaRPr lang="ar-SA" sz="1800" i="1" dirty="0"/>
          </a:p>
          <a:p>
            <a:pPr marL="0" indent="0" rtl="1">
              <a:buNone/>
            </a:pPr>
            <a:endParaRPr lang="ar-SA" sz="1800" i="1" dirty="0"/>
          </a:p>
          <a:p>
            <a:pPr marL="0" indent="0" rtl="1">
              <a:buNone/>
            </a:pPr>
            <a:endParaRPr lang="ar-SA" sz="1800" i="1" dirty="0"/>
          </a:p>
          <a:p>
            <a:pPr rtl="1"/>
            <a:endParaRPr lang="ar-SA" sz="1800" b="1" dirty="0"/>
          </a:p>
        </p:txBody>
      </p:sp>
      <p:sp>
        <p:nvSpPr>
          <p:cNvPr id="7" name="TextBox 6">
            <a:extLst>
              <a:ext uri="{FF2B5EF4-FFF2-40B4-BE49-F238E27FC236}">
                <a16:creationId xmlns:a16="http://schemas.microsoft.com/office/drawing/2014/main" id="{B7E367DE-A741-B7FD-71BD-E62E5793E899}"/>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8" name="Picture 7" descr="A person drawing on a piece of paper">
            <a:extLst>
              <a:ext uri="{FF2B5EF4-FFF2-40B4-BE49-F238E27FC236}">
                <a16:creationId xmlns:a16="http://schemas.microsoft.com/office/drawing/2014/main" id="{79102C59-3F16-E7EE-45B3-338D552E51D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9576" y="2820552"/>
            <a:ext cx="3715604" cy="2477069"/>
          </a:xfrm>
          <a:prstGeom prst="rect">
            <a:avLst/>
          </a:prstGeom>
        </p:spPr>
      </p:pic>
    </p:spTree>
    <p:extLst>
      <p:ext uri="{BB962C8B-B14F-4D97-AF65-F5344CB8AC3E}">
        <p14:creationId xmlns:p14="http://schemas.microsoft.com/office/powerpoint/2010/main" val="3862710052"/>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3D1C2-4B5D-9BBE-E20E-EBFC4D92208D}"/>
              </a:ext>
            </a:extLst>
          </p:cNvPr>
          <p:cNvSpPr>
            <a:spLocks noGrp="1"/>
          </p:cNvSpPr>
          <p:nvPr>
            <p:ph type="title"/>
          </p:nvPr>
        </p:nvSpPr>
        <p:spPr>
          <a:xfrm>
            <a:off x="457200" y="1195200"/>
            <a:ext cx="8229600" cy="864000"/>
          </a:xfrm>
        </p:spPr>
        <p:txBody>
          <a:bodyPr rtlCol="1"/>
          <a:lstStyle/>
          <a:p>
            <a:pPr rtl="1"/>
            <a:r>
              <a:rPr lang="ar-SA" dirty="0">
                <a:latin typeface="Arial"/>
                <a:cs typeface="Arial"/>
              </a:rPr>
              <a:t>الخطة الترويجية (3)</a:t>
            </a:r>
            <a:endParaRPr lang="ar-SA" dirty="0"/>
          </a:p>
        </p:txBody>
      </p:sp>
      <p:sp>
        <p:nvSpPr>
          <p:cNvPr id="3" name="Content Placeholder 2">
            <a:extLst>
              <a:ext uri="{FF2B5EF4-FFF2-40B4-BE49-F238E27FC236}">
                <a16:creationId xmlns:a16="http://schemas.microsoft.com/office/drawing/2014/main" id="{D496DC9B-43DB-B495-9DBB-4F3121679550}"/>
              </a:ext>
            </a:extLst>
          </p:cNvPr>
          <p:cNvSpPr>
            <a:spLocks noGrp="1"/>
          </p:cNvSpPr>
          <p:nvPr>
            <p:ph sz="half" idx="1"/>
          </p:nvPr>
        </p:nvSpPr>
        <p:spPr>
          <a:xfrm>
            <a:off x="5029199" y="2196001"/>
            <a:ext cx="3646486" cy="4024100"/>
          </a:xfrm>
        </p:spPr>
        <p:txBody>
          <a:bodyPr rtlCol="1"/>
          <a:lstStyle/>
          <a:p>
            <a:pPr rtl="1"/>
            <a:r>
              <a:rPr lang="ar-SA" dirty="0"/>
              <a:t>ستحدد الخطة الترويجية الطرق الترويجية التي ستستخدمها الشركة للتواصل مع السوق المستهدف / العملاء المستهدفين</a:t>
            </a:r>
          </a:p>
          <a:p>
            <a:pPr rtl="1"/>
            <a:r>
              <a:rPr lang="ar-SA" dirty="0"/>
              <a:t>وسوف تشير إلى تكلفة كل طريقة سيتم استخدامها</a:t>
            </a:r>
          </a:p>
          <a:p>
            <a:pPr rtl="1"/>
            <a:endParaRPr lang="ar-SA" dirty="0"/>
          </a:p>
          <a:p>
            <a:pPr rtl="1"/>
            <a:endParaRPr lang="ar-SA" dirty="0"/>
          </a:p>
        </p:txBody>
      </p:sp>
      <p:sp>
        <p:nvSpPr>
          <p:cNvPr id="4" name="Content Placeholder 3">
            <a:extLst>
              <a:ext uri="{FF2B5EF4-FFF2-40B4-BE49-F238E27FC236}">
                <a16:creationId xmlns:a16="http://schemas.microsoft.com/office/drawing/2014/main" id="{BAEFB7FD-A1C5-5E97-59F0-5D048EA0A60D}"/>
              </a:ext>
            </a:extLst>
          </p:cNvPr>
          <p:cNvSpPr>
            <a:spLocks noGrp="1"/>
          </p:cNvSpPr>
          <p:nvPr>
            <p:ph sz="half" idx="2"/>
          </p:nvPr>
        </p:nvSpPr>
        <p:spPr>
          <a:xfrm>
            <a:off x="468312" y="2196001"/>
            <a:ext cx="4027488" cy="4024100"/>
          </a:xfrm>
        </p:spPr>
        <p:txBody>
          <a:bodyPr rtlCol="1"/>
          <a:lstStyle/>
          <a:p>
            <a:pPr rtl="1"/>
            <a:r>
              <a:rPr lang="ar-SA" dirty="0"/>
              <a:t>الدعاية</a:t>
            </a:r>
          </a:p>
          <a:p>
            <a:pPr rtl="1"/>
            <a:r>
              <a:rPr lang="ar-SA" dirty="0"/>
              <a:t>البيع الشخصي</a:t>
            </a:r>
          </a:p>
          <a:p>
            <a:pPr rtl="1"/>
            <a:r>
              <a:rPr lang="ar-SA" dirty="0"/>
              <a:t>التسويق المباشر</a:t>
            </a:r>
          </a:p>
          <a:p>
            <a:pPr rtl="1"/>
            <a:r>
              <a:rPr lang="ar-SA" dirty="0"/>
              <a:t>العروض الترويجية</a:t>
            </a:r>
          </a:p>
          <a:p>
            <a:pPr rtl="1"/>
            <a:r>
              <a:rPr lang="ar-SA" dirty="0"/>
              <a:t>العلاقات العامة</a:t>
            </a:r>
          </a:p>
          <a:p>
            <a:pPr marL="0" indent="0" rtl="1">
              <a:buNone/>
            </a:pPr>
            <a:endParaRPr lang="ar-SA" dirty="0"/>
          </a:p>
          <a:p>
            <a:pPr marL="0" indent="0" rtl="1">
              <a:buNone/>
            </a:pPr>
            <a:r>
              <a:rPr lang="ar-SA" sz="1800" b="1" dirty="0"/>
              <a:t>كيف يمكن استخدام التكنولوجيا للتواصل </a:t>
            </a:r>
            <a:br>
              <a:rPr lang="ar-EG" sz="1800" b="1" dirty="0"/>
            </a:br>
            <a:r>
              <a:rPr lang="ar-SA" sz="1800" b="1" dirty="0"/>
              <a:t>مع السوق المستهدف؟</a:t>
            </a:r>
          </a:p>
          <a:p>
            <a:pPr rtl="1"/>
            <a:endParaRPr lang="ar-SA" dirty="0"/>
          </a:p>
        </p:txBody>
      </p:sp>
      <p:sp>
        <p:nvSpPr>
          <p:cNvPr id="6" name="TextBox 5">
            <a:extLst>
              <a:ext uri="{FF2B5EF4-FFF2-40B4-BE49-F238E27FC236}">
                <a16:creationId xmlns:a16="http://schemas.microsoft.com/office/drawing/2014/main" id="{1A5296DB-E474-5083-2091-11E8D0F556AE}"/>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186780125"/>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dirty="0"/>
              <a:t>هدف التعلم ج</a:t>
            </a:r>
            <a:br>
              <a:rPr lang="ar-SA" altLang="en-US" sz="2400" dirty="0"/>
            </a:br>
            <a:br>
              <a:rPr lang="ar-SA" altLang="en-US" sz="2400" dirty="0"/>
            </a:br>
            <a:endParaRPr lang="ar-SA"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638141"/>
            <a:ext cx="871296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algn="ctr" defTabSz="431800" rtl="1">
              <a:buNone/>
            </a:pPr>
            <a:r>
              <a:rPr lang="ar-SA" sz="3600" b="1" dirty="0"/>
              <a:t>وضع خطة مالية لتأسيس شركة صغيرة </a:t>
            </a:r>
            <a:endParaRPr lang="ar-SA" altLang="en-US" sz="3600" dirty="0"/>
          </a:p>
        </p:txBody>
      </p:sp>
      <p:sp>
        <p:nvSpPr>
          <p:cNvPr id="6" name="Content Placeholder 3">
            <a:extLst>
              <a:ext uri="{FF2B5EF4-FFF2-40B4-BE49-F238E27FC236}">
                <a16:creationId xmlns:a16="http://schemas.microsoft.com/office/drawing/2014/main" id="{431A70FB-4D53-C8BD-CD15-9C30482724E7}"/>
              </a:ext>
            </a:extLst>
          </p:cNvPr>
          <p:cNvSpPr>
            <a:spLocks noGrp="1" noChangeArrowheads="1"/>
          </p:cNvSpPr>
          <p:nvPr>
            <p:ph sz="half" idx="2"/>
          </p:nvPr>
        </p:nvSpPr>
        <p:spPr bwMode="auto">
          <a:xfrm>
            <a:off x="1187451" y="3861292"/>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SA" dirty="0"/>
              <a:t>وضع خطة مالية</a:t>
            </a:r>
          </a:p>
          <a:p>
            <a:pPr marL="685800" rtl="1"/>
            <a:r>
              <a:rPr lang="ar-SA" dirty="0"/>
              <a:t>المخاطر</a:t>
            </a:r>
          </a:p>
          <a:p>
            <a:pPr marL="685800" rtl="1"/>
            <a:r>
              <a:rPr lang="ar-SA" dirty="0"/>
              <a:t>الاعتبارات القانونية</a:t>
            </a:r>
          </a:p>
          <a:p>
            <a:pPr marL="685800" rtl="1"/>
            <a:r>
              <a:rPr lang="ar-SA" dirty="0"/>
              <a:t>مصادر المساعدة والتوجيه الإرشادي </a:t>
            </a:r>
          </a:p>
        </p:txBody>
      </p:sp>
      <p:sp>
        <p:nvSpPr>
          <p:cNvPr id="2" name="TextBox 1">
            <a:extLst>
              <a:ext uri="{FF2B5EF4-FFF2-40B4-BE49-F238E27FC236}">
                <a16:creationId xmlns:a16="http://schemas.microsoft.com/office/drawing/2014/main" id="{4AAE2C53-BED4-020E-EABB-F9DA6A6DDDD2}"/>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526492574"/>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31499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dirty="0"/>
              <a:t>يستكشف هدف التعلم ج محتويات الخطة المالية التي سيقوم صاحب العمل بإعدادها عند التفكير في تأسيس شركة.</a:t>
            </a:r>
            <a:r>
              <a:rPr lang="ar-EG" dirty="0"/>
              <a:t> </a:t>
            </a:r>
            <a:r>
              <a:rPr lang="ar" dirty="0"/>
              <a:t>ستأخذ الخطة المالية في الاعتبار أيضًا مخاطر بدء الأعمال التجارية وأي اعتبارات قانونية تحتاج إلى استكشافها قبل تأسيس شركة.  ينظر هدف التعلم أيضًا إلى مصادر المساعدة والتوجيه المختلفة المتاحة عند تأسيس شركة صغيرة. </a:t>
            </a:r>
          </a:p>
          <a:p>
            <a:pPr marL="685800" rtl="1"/>
            <a:endParaRPr lang="ar"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495" indent="-404495" algn="ctr" defTabSz="431800" rtl="1">
              <a:spcBef>
                <a:spcPts val="1200"/>
              </a:spcBef>
            </a:pPr>
            <a:r>
              <a:rPr lang="ar" sz="3600" b="1" dirty="0">
                <a:latin typeface="Arial"/>
                <a:cs typeface="Arial"/>
              </a:rPr>
              <a:t>وضع خطة مالية لتأسيس شركة صغيرة </a:t>
            </a:r>
            <a:endParaRPr lang="ar" dirty="0"/>
          </a:p>
        </p:txBody>
      </p:sp>
      <p:sp>
        <p:nvSpPr>
          <p:cNvPr id="2" name="TextBox 1">
            <a:extLst>
              <a:ext uri="{FF2B5EF4-FFF2-40B4-BE49-F238E27FC236}">
                <a16:creationId xmlns:a16="http://schemas.microsoft.com/office/drawing/2014/main" id="{71CD4AD1-E8C8-AC3B-50B4-4645589C7ED9}"/>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843A-BC16-780F-A2B1-01D027C9CB6E}"/>
              </a:ext>
            </a:extLst>
          </p:cNvPr>
          <p:cNvSpPr>
            <a:spLocks noGrp="1"/>
          </p:cNvSpPr>
          <p:nvPr>
            <p:ph type="title"/>
          </p:nvPr>
        </p:nvSpPr>
        <p:spPr>
          <a:xfrm>
            <a:off x="457200" y="1195388"/>
            <a:ext cx="8229600" cy="863600"/>
          </a:xfrm>
        </p:spPr>
        <p:txBody>
          <a:bodyPr rtlCol="1"/>
          <a:lstStyle/>
          <a:p>
            <a:pPr rtl="1"/>
            <a:r>
              <a:rPr lang="ar-SA" dirty="0"/>
              <a:t>وضع خطة مالية 1</a:t>
            </a:r>
          </a:p>
        </p:txBody>
      </p:sp>
      <p:sp>
        <p:nvSpPr>
          <p:cNvPr id="3" name="Content Placeholder 2">
            <a:extLst>
              <a:ext uri="{FF2B5EF4-FFF2-40B4-BE49-F238E27FC236}">
                <a16:creationId xmlns:a16="http://schemas.microsoft.com/office/drawing/2014/main" id="{F87AC9E4-EC69-9704-31D0-C48061478075}"/>
              </a:ext>
            </a:extLst>
          </p:cNvPr>
          <p:cNvSpPr>
            <a:spLocks noGrp="1"/>
          </p:cNvSpPr>
          <p:nvPr>
            <p:ph sz="half" idx="2"/>
          </p:nvPr>
        </p:nvSpPr>
        <p:spPr>
          <a:xfrm>
            <a:off x="468312" y="2195513"/>
            <a:ext cx="7991475" cy="3609975"/>
          </a:xfrm>
        </p:spPr>
        <p:txBody>
          <a:bodyPr rtlCol="1"/>
          <a:lstStyle/>
          <a:p>
            <a:pPr rtl="1"/>
            <a:r>
              <a:rPr lang="ar-SA" dirty="0"/>
              <a:t>ستحدد خطة العمل أي تكاليف مرتبطة بالعمل</a:t>
            </a:r>
          </a:p>
          <a:p>
            <a:pPr lvl="1" rtl="1"/>
            <a:r>
              <a:rPr lang="ar-SA" dirty="0">
                <a:latin typeface="Arial" panose="020B0604020202020204" pitchFamily="34" charset="0"/>
              </a:rPr>
              <a:t>تكاليف التأسيس هي التكاليف الأولية لإنشاء شركة</a:t>
            </a:r>
          </a:p>
          <a:p>
            <a:pPr lvl="2" rtl="1"/>
            <a:r>
              <a:rPr lang="ar-SA" dirty="0">
                <a:latin typeface="Arial" panose="020B0604020202020204" pitchFamily="34" charset="0"/>
              </a:rPr>
              <a:t>المعدات والمقرات</a:t>
            </a:r>
            <a:br>
              <a:rPr lang="ar-SA" dirty="0">
                <a:latin typeface="Arial" panose="020B0604020202020204" pitchFamily="34" charset="0"/>
              </a:rPr>
            </a:br>
            <a:endParaRPr lang="ar-SA" dirty="0">
              <a:latin typeface="Arial" panose="020B0604020202020204" pitchFamily="34" charset="0"/>
            </a:endParaRPr>
          </a:p>
          <a:p>
            <a:pPr lvl="1" rtl="1"/>
            <a:r>
              <a:rPr lang="ar-SA" dirty="0">
                <a:latin typeface="Arial" panose="020B0604020202020204" pitchFamily="34" charset="0"/>
              </a:rPr>
              <a:t>تكاليف التشغيل هي التكاليف المستمرة بمجرد تأسيس الشركة وتشغيلها</a:t>
            </a:r>
          </a:p>
          <a:p>
            <a:pPr lvl="2" rtl="1"/>
            <a:r>
              <a:rPr lang="ar-SA" dirty="0">
                <a:latin typeface="Arial" panose="020B0604020202020204" pitchFamily="34" charset="0"/>
              </a:rPr>
              <a:t>اللوازم والموظفين والنفقات العامة والأنشطة الترويجية</a:t>
            </a:r>
          </a:p>
          <a:p>
            <a:pPr lvl="2" rtl="1"/>
            <a:endParaRPr lang="ar-SA" dirty="0"/>
          </a:p>
        </p:txBody>
      </p:sp>
      <p:sp>
        <p:nvSpPr>
          <p:cNvPr id="5" name="TextBox 4">
            <a:extLst>
              <a:ext uri="{FF2B5EF4-FFF2-40B4-BE49-F238E27FC236}">
                <a16:creationId xmlns:a16="http://schemas.microsoft.com/office/drawing/2014/main" id="{8787B155-7ACD-0D81-BCEA-F382107EE211}"/>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186900349"/>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843A-BC16-780F-A2B1-01D027C9CB6E}"/>
              </a:ext>
            </a:extLst>
          </p:cNvPr>
          <p:cNvSpPr>
            <a:spLocks noGrp="1"/>
          </p:cNvSpPr>
          <p:nvPr>
            <p:ph type="title"/>
          </p:nvPr>
        </p:nvSpPr>
        <p:spPr>
          <a:xfrm>
            <a:off x="457200" y="1195200"/>
            <a:ext cx="8229600" cy="864000"/>
          </a:xfrm>
        </p:spPr>
        <p:txBody>
          <a:bodyPr rtlCol="1"/>
          <a:lstStyle/>
          <a:p>
            <a:pPr rtl="1"/>
            <a:r>
              <a:rPr lang="ar-SA" dirty="0"/>
              <a:t>وضع خطة مالية 2</a:t>
            </a:r>
          </a:p>
        </p:txBody>
      </p:sp>
      <p:sp>
        <p:nvSpPr>
          <p:cNvPr id="3" name="Content Placeholder 2">
            <a:extLst>
              <a:ext uri="{FF2B5EF4-FFF2-40B4-BE49-F238E27FC236}">
                <a16:creationId xmlns:a16="http://schemas.microsoft.com/office/drawing/2014/main" id="{F87AC9E4-EC69-9704-31D0-C48061478075}"/>
              </a:ext>
            </a:extLst>
          </p:cNvPr>
          <p:cNvSpPr>
            <a:spLocks noGrp="1"/>
          </p:cNvSpPr>
          <p:nvPr>
            <p:ph sz="half" idx="1"/>
          </p:nvPr>
        </p:nvSpPr>
        <p:spPr>
          <a:xfrm>
            <a:off x="4648199" y="2196001"/>
            <a:ext cx="4027487" cy="4024100"/>
          </a:xfrm>
        </p:spPr>
        <p:txBody>
          <a:bodyPr rtlCol="1"/>
          <a:lstStyle/>
          <a:p>
            <a:pPr rtl="1"/>
            <a:r>
              <a:rPr lang="ar-SA" sz="2100" dirty="0"/>
              <a:t>ستحدد الخطة المالية توقعات </a:t>
            </a:r>
            <a:br>
              <a:rPr lang="ar-EG" sz="2100" dirty="0"/>
            </a:br>
            <a:r>
              <a:rPr lang="ar-SA" sz="2100" dirty="0"/>
              <a:t>التعادل للشركة</a:t>
            </a:r>
          </a:p>
          <a:p>
            <a:pPr rtl="1"/>
            <a:endParaRPr lang="ar-SA" sz="2100" dirty="0"/>
          </a:p>
          <a:p>
            <a:pPr rtl="1"/>
            <a:r>
              <a:rPr lang="ar-SA" sz="2100" dirty="0"/>
              <a:t>نقطة التعادل هي النقطة التي لا يتم فيها تحقيق أي ربح أو خسارة</a:t>
            </a:r>
          </a:p>
          <a:p>
            <a:pPr rtl="1"/>
            <a:endParaRPr lang="ar-SA" sz="2100" dirty="0"/>
          </a:p>
          <a:p>
            <a:pPr rtl="1"/>
            <a:r>
              <a:rPr lang="ar-SA" sz="2100" dirty="0"/>
              <a:t>حققت الشركة إيرادات كافية لتغطية إجمالي تكاليفها/نفقاتها</a:t>
            </a:r>
          </a:p>
          <a:p>
            <a:pPr rtl="1"/>
            <a:endParaRPr lang="ar-SA" sz="2000" dirty="0"/>
          </a:p>
        </p:txBody>
      </p:sp>
      <p:sp>
        <p:nvSpPr>
          <p:cNvPr id="5" name="Content Placeholder 4">
            <a:extLst>
              <a:ext uri="{FF2B5EF4-FFF2-40B4-BE49-F238E27FC236}">
                <a16:creationId xmlns:a16="http://schemas.microsoft.com/office/drawing/2014/main" id="{0AAB4569-A284-37C2-AFDD-E2D3C39CE0ED}"/>
              </a:ext>
            </a:extLst>
          </p:cNvPr>
          <p:cNvSpPr>
            <a:spLocks noGrp="1"/>
          </p:cNvSpPr>
          <p:nvPr>
            <p:ph sz="half" idx="2"/>
          </p:nvPr>
        </p:nvSpPr>
        <p:spPr>
          <a:xfrm>
            <a:off x="457200" y="2196001"/>
            <a:ext cx="4027488" cy="3898799"/>
          </a:xfrm>
        </p:spPr>
        <p:txBody>
          <a:bodyPr rtlCol="1"/>
          <a:lstStyle/>
          <a:p>
            <a:pPr marL="0" indent="0" rtl="1">
              <a:buNone/>
            </a:pPr>
            <a:endParaRPr lang="ar-SA" sz="1600" b="1" dirty="0"/>
          </a:p>
          <a:p>
            <a:pPr marL="0" indent="0" rtl="1">
              <a:buNone/>
            </a:pPr>
            <a:endParaRPr lang="ar-SA" sz="1600" b="1" dirty="0"/>
          </a:p>
          <a:p>
            <a:pPr marL="0" indent="0" rtl="1">
              <a:buNone/>
            </a:pPr>
            <a:endParaRPr lang="ar-SA" sz="1600" i="1" dirty="0"/>
          </a:p>
          <a:p>
            <a:pPr marL="0" indent="0" rtl="1">
              <a:buNone/>
            </a:pPr>
            <a:endParaRPr lang="en-GB" sz="1600" b="1" dirty="0"/>
          </a:p>
          <a:p>
            <a:pPr marL="0" indent="0" rtl="1">
              <a:buNone/>
            </a:pPr>
            <a:endParaRPr lang="en-GB" sz="1600" b="1" dirty="0"/>
          </a:p>
          <a:p>
            <a:pPr marL="0" indent="0" rtl="1">
              <a:buNone/>
            </a:pPr>
            <a:endParaRPr lang="en-GB" sz="1600" b="1" dirty="0"/>
          </a:p>
          <a:p>
            <a:pPr marL="0" indent="0" rtl="1">
              <a:buNone/>
            </a:pPr>
            <a:endParaRPr lang="en-GB" sz="1600" b="1" dirty="0"/>
          </a:p>
          <a:p>
            <a:pPr marL="0" indent="0" rtl="1">
              <a:buNone/>
            </a:pPr>
            <a:endParaRPr lang="en-GB" sz="1600" b="1" dirty="0"/>
          </a:p>
          <a:p>
            <a:pPr marL="0" indent="0" rtl="1">
              <a:buNone/>
            </a:pPr>
            <a:endParaRPr lang="en-GB" sz="1600" b="1" dirty="0"/>
          </a:p>
          <a:p>
            <a:pPr marL="0" indent="0" rtl="1">
              <a:buNone/>
            </a:pPr>
            <a:endParaRPr lang="ar-SA" sz="1600" b="1" dirty="0"/>
          </a:p>
          <a:p>
            <a:pPr marL="0" indent="0" rtl="1">
              <a:buNone/>
            </a:pPr>
            <a:endParaRPr lang="ar-SA" sz="1600" b="1" dirty="0"/>
          </a:p>
          <a:p>
            <a:pPr marL="0" indent="0" rtl="1">
              <a:buNone/>
            </a:pPr>
            <a:r>
              <a:rPr lang="ar-SA" sz="1600" b="1" dirty="0"/>
              <a:t>لماذا من المهم أن تعرف الشركات متى ستحقق التعادل؟</a:t>
            </a:r>
          </a:p>
          <a:p>
            <a:pPr rtl="1"/>
            <a:endParaRPr lang="ar-SA" dirty="0"/>
          </a:p>
        </p:txBody>
      </p:sp>
      <p:sp>
        <p:nvSpPr>
          <p:cNvPr id="7" name="TextBox 6">
            <a:extLst>
              <a:ext uri="{FF2B5EF4-FFF2-40B4-BE49-F238E27FC236}">
                <a16:creationId xmlns:a16="http://schemas.microsoft.com/office/drawing/2014/main" id="{56DCF506-DC80-D0BE-C3CB-487F336106C8}"/>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8" name="Picture 7" descr="A graph on a chalkboard">
            <a:extLst>
              <a:ext uri="{FF2B5EF4-FFF2-40B4-BE49-F238E27FC236}">
                <a16:creationId xmlns:a16="http://schemas.microsoft.com/office/drawing/2014/main" id="{F384BF15-0454-C598-F007-DA312432A34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3630" y="2250149"/>
            <a:ext cx="3942813" cy="2805207"/>
          </a:xfrm>
          <a:prstGeom prst="rect">
            <a:avLst/>
          </a:prstGeom>
        </p:spPr>
      </p:pic>
    </p:spTree>
    <p:extLst>
      <p:ext uri="{BB962C8B-B14F-4D97-AF65-F5344CB8AC3E}">
        <p14:creationId xmlns:p14="http://schemas.microsoft.com/office/powerpoint/2010/main" val="1062585782"/>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82A6-CD45-6F46-BBD1-A24AA140D82D}"/>
              </a:ext>
            </a:extLst>
          </p:cNvPr>
          <p:cNvSpPr>
            <a:spLocks noGrp="1"/>
          </p:cNvSpPr>
          <p:nvPr>
            <p:ph type="title"/>
          </p:nvPr>
        </p:nvSpPr>
        <p:spPr>
          <a:xfrm>
            <a:off x="457200" y="1195388"/>
            <a:ext cx="8229600" cy="863600"/>
          </a:xfrm>
        </p:spPr>
        <p:txBody>
          <a:bodyPr rtlCol="1"/>
          <a:lstStyle/>
          <a:p>
            <a:pPr rtl="1"/>
            <a:r>
              <a:rPr lang="ar-SA" dirty="0"/>
              <a:t>المخاطر</a:t>
            </a:r>
          </a:p>
        </p:txBody>
      </p:sp>
      <p:sp>
        <p:nvSpPr>
          <p:cNvPr id="3" name="Content Placeholder 2">
            <a:extLst>
              <a:ext uri="{FF2B5EF4-FFF2-40B4-BE49-F238E27FC236}">
                <a16:creationId xmlns:a16="http://schemas.microsoft.com/office/drawing/2014/main" id="{777D13D7-826F-ED81-3BA9-8AC7AD0ED72F}"/>
              </a:ext>
            </a:extLst>
          </p:cNvPr>
          <p:cNvSpPr>
            <a:spLocks noGrp="1"/>
          </p:cNvSpPr>
          <p:nvPr>
            <p:ph sz="half" idx="2"/>
          </p:nvPr>
        </p:nvSpPr>
        <p:spPr>
          <a:xfrm>
            <a:off x="457200" y="2182813"/>
            <a:ext cx="7991475" cy="4090987"/>
          </a:xfrm>
        </p:spPr>
        <p:txBody>
          <a:bodyPr rtlCol="1"/>
          <a:lstStyle/>
          <a:p>
            <a:pPr rtl="1"/>
            <a:r>
              <a:rPr lang="ar-SA" dirty="0"/>
              <a:t>ستواجه أي شركة ناشئة مخاطر تتعلق بفكرة أعمالها:</a:t>
            </a:r>
          </a:p>
          <a:p>
            <a:pPr lvl="1" rtl="1"/>
            <a:r>
              <a:rPr lang="ar-SA" sz="1800" dirty="0">
                <a:latin typeface="Arial" panose="020B0604020202020204" pitchFamily="34" charset="0"/>
              </a:rPr>
              <a:t>عدم اهتمام العملاء</a:t>
            </a:r>
          </a:p>
          <a:p>
            <a:pPr lvl="1" rtl="1"/>
            <a:r>
              <a:rPr lang="ar-SA" sz="1800" dirty="0">
                <a:latin typeface="Arial" panose="020B0604020202020204" pitchFamily="34" charset="0"/>
              </a:rPr>
              <a:t>عدم وجود المهارات والخبرات اللازمة</a:t>
            </a:r>
          </a:p>
          <a:p>
            <a:pPr lvl="1" rtl="1"/>
            <a:r>
              <a:rPr lang="ar-SA" sz="1800" dirty="0">
                <a:latin typeface="Arial" panose="020B0604020202020204" pitchFamily="34" charset="0"/>
              </a:rPr>
              <a:t>سلوك المنافس</a:t>
            </a:r>
          </a:p>
          <a:p>
            <a:pPr lvl="1" rtl="1"/>
            <a:r>
              <a:rPr lang="ar-SA" sz="1800" dirty="0">
                <a:latin typeface="Arial" panose="020B0604020202020204" pitchFamily="34" charset="0"/>
              </a:rPr>
              <a:t>تكاليف الإنتاج غير المتوقعة                    </a:t>
            </a:r>
          </a:p>
          <a:p>
            <a:pPr lvl="1" rtl="1"/>
            <a:r>
              <a:rPr lang="ar-SA" sz="1800" dirty="0">
                <a:latin typeface="Arial" panose="020B0604020202020204" pitchFamily="34" charset="0"/>
              </a:rPr>
              <a:t>توريد المواد الخام</a:t>
            </a:r>
          </a:p>
          <a:p>
            <a:pPr lvl="1" rtl="1"/>
            <a:r>
              <a:rPr lang="ar-SA" sz="1800" dirty="0">
                <a:latin typeface="Arial" panose="020B0604020202020204" pitchFamily="34" charset="0"/>
              </a:rPr>
              <a:t>مسائل تتعلق بمراقبة الجودة</a:t>
            </a:r>
          </a:p>
          <a:p>
            <a:pPr lvl="1" rtl="1"/>
            <a:r>
              <a:rPr lang="ar-SA" sz="1800" dirty="0">
                <a:latin typeface="Arial" panose="020B0604020202020204" pitchFamily="34" charset="0"/>
              </a:rPr>
              <a:t>الكوارث/الأزمات الطبيعية غير المتوقعة</a:t>
            </a:r>
          </a:p>
          <a:p>
            <a:pPr lvl="1" rtl="1"/>
            <a:endParaRPr lang="ar-SA" sz="1800" dirty="0"/>
          </a:p>
          <a:p>
            <a:pPr marL="457200" lvl="1" indent="0" rtl="1">
              <a:buNone/>
            </a:pPr>
            <a:r>
              <a:rPr lang="ar-SA" sz="1800" b="1" dirty="0">
                <a:latin typeface="Arial" panose="020B0604020202020204" pitchFamily="34" charset="0"/>
              </a:rPr>
              <a:t>هل يمكنك التفكير في سبب كون هذه المخاطر تمثل تهددًا للشركات الناشئة؟</a:t>
            </a:r>
          </a:p>
        </p:txBody>
      </p:sp>
      <p:sp>
        <p:nvSpPr>
          <p:cNvPr id="5" name="TextBox 4">
            <a:extLst>
              <a:ext uri="{FF2B5EF4-FFF2-40B4-BE49-F238E27FC236}">
                <a16:creationId xmlns:a16="http://schemas.microsoft.com/office/drawing/2014/main" id="{47FFE088-D39B-2C83-1921-0000EECED7AA}"/>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3328489313"/>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00C82-2FAE-6ADC-1485-90DCC34A965F}"/>
              </a:ext>
            </a:extLst>
          </p:cNvPr>
          <p:cNvSpPr>
            <a:spLocks noGrp="1"/>
          </p:cNvSpPr>
          <p:nvPr>
            <p:ph type="title"/>
          </p:nvPr>
        </p:nvSpPr>
        <p:spPr>
          <a:xfrm>
            <a:off x="457200" y="1195388"/>
            <a:ext cx="8229600" cy="863600"/>
          </a:xfrm>
        </p:spPr>
        <p:txBody>
          <a:bodyPr rtlCol="1"/>
          <a:lstStyle/>
          <a:p>
            <a:pPr rtl="1"/>
            <a:r>
              <a:rPr lang="ar-SA" dirty="0"/>
              <a:t>الاعتبارات القانونية</a:t>
            </a:r>
          </a:p>
        </p:txBody>
      </p:sp>
      <p:sp>
        <p:nvSpPr>
          <p:cNvPr id="3" name="Content Placeholder 2">
            <a:extLst>
              <a:ext uri="{FF2B5EF4-FFF2-40B4-BE49-F238E27FC236}">
                <a16:creationId xmlns:a16="http://schemas.microsoft.com/office/drawing/2014/main" id="{EA848DA8-0F9B-33E0-6EDC-B6115F3257B0}"/>
              </a:ext>
            </a:extLst>
          </p:cNvPr>
          <p:cNvSpPr>
            <a:spLocks noGrp="1"/>
          </p:cNvSpPr>
          <p:nvPr>
            <p:ph sz="half" idx="2"/>
          </p:nvPr>
        </p:nvSpPr>
        <p:spPr>
          <a:xfrm>
            <a:off x="468312" y="2195513"/>
            <a:ext cx="7991475" cy="3951287"/>
          </a:xfrm>
        </p:spPr>
        <p:txBody>
          <a:bodyPr rtlCol="1"/>
          <a:lstStyle/>
          <a:p>
            <a:pPr rtl="1"/>
            <a:r>
              <a:rPr lang="ar-SA" dirty="0"/>
              <a:t>ستحتاج أي شركة ناشئة إلى النظر في الجوانب القانونية لإدارة الشركة:</a:t>
            </a:r>
            <a:br>
              <a:rPr lang="ar-SA" dirty="0"/>
            </a:br>
            <a:endParaRPr lang="ar-SA" dirty="0"/>
          </a:p>
          <a:p>
            <a:pPr lvl="1" rtl="1"/>
            <a:r>
              <a:rPr lang="ar-SA" sz="1800" dirty="0"/>
              <a:t>اسم الشركة</a:t>
            </a:r>
          </a:p>
          <a:p>
            <a:pPr lvl="1" rtl="1"/>
            <a:r>
              <a:rPr lang="ar-SA" sz="1800" dirty="0"/>
              <a:t>شكل الشركة</a:t>
            </a:r>
          </a:p>
          <a:p>
            <a:pPr lvl="1" rtl="1"/>
            <a:r>
              <a:rPr lang="ar-SA" sz="1800" dirty="0"/>
              <a:t>الإجراءات القانونية لتسجيل الشركة أو تأسيسها</a:t>
            </a:r>
          </a:p>
          <a:p>
            <a:pPr lvl="1" rtl="1"/>
            <a:r>
              <a:rPr lang="ar-SA" sz="1800" dirty="0"/>
              <a:t>القوانين واللوائح الوطنية/المحلية.</a:t>
            </a:r>
          </a:p>
          <a:p>
            <a:pPr lvl="1" rtl="1"/>
            <a:r>
              <a:rPr lang="ar-SA" sz="1800" dirty="0"/>
              <a:t>متطلبات الصحة والسلامة</a:t>
            </a:r>
          </a:p>
          <a:p>
            <a:pPr lvl="1" rtl="1"/>
            <a:r>
              <a:rPr lang="ar-SA" sz="1800" dirty="0"/>
              <a:t>متطلبات الترخيص</a:t>
            </a:r>
          </a:p>
          <a:p>
            <a:pPr lvl="1" rtl="1"/>
            <a:r>
              <a:rPr lang="ar-SA" sz="1800" dirty="0"/>
              <a:t>الاحتفاظ بسجلات رسمية لأغراض الضرائب/الإيرادات/الموارد البشرية</a:t>
            </a:r>
          </a:p>
          <a:p>
            <a:pPr lvl="1" rtl="1"/>
            <a:endParaRPr lang="ar-SA" dirty="0"/>
          </a:p>
        </p:txBody>
      </p:sp>
      <p:sp>
        <p:nvSpPr>
          <p:cNvPr id="5" name="TextBox 4">
            <a:extLst>
              <a:ext uri="{FF2B5EF4-FFF2-40B4-BE49-F238E27FC236}">
                <a16:creationId xmlns:a16="http://schemas.microsoft.com/office/drawing/2014/main" id="{CF87FDCC-4DE8-A6C0-29BD-E53F6E4271FA}"/>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4128171848"/>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2D4CF-6DBF-C6ED-29FD-41AAFBFF2201}"/>
              </a:ext>
            </a:extLst>
          </p:cNvPr>
          <p:cNvSpPr>
            <a:spLocks noGrp="1"/>
          </p:cNvSpPr>
          <p:nvPr>
            <p:ph type="title"/>
          </p:nvPr>
        </p:nvSpPr>
        <p:spPr>
          <a:xfrm>
            <a:off x="457200" y="1195200"/>
            <a:ext cx="8229600" cy="864000"/>
          </a:xfrm>
        </p:spPr>
        <p:txBody>
          <a:bodyPr rtlCol="1"/>
          <a:lstStyle/>
          <a:p>
            <a:pPr rtl="1"/>
            <a:r>
              <a:rPr lang="ar-SA" dirty="0"/>
              <a:t>مصادر المساعدة والتوجيه الإرشادي</a:t>
            </a:r>
          </a:p>
        </p:txBody>
      </p:sp>
      <p:sp>
        <p:nvSpPr>
          <p:cNvPr id="3" name="Content Placeholder 2">
            <a:extLst>
              <a:ext uri="{FF2B5EF4-FFF2-40B4-BE49-F238E27FC236}">
                <a16:creationId xmlns:a16="http://schemas.microsoft.com/office/drawing/2014/main" id="{5B13EC6D-4594-4264-7214-16F3AFD0B4C2}"/>
              </a:ext>
            </a:extLst>
          </p:cNvPr>
          <p:cNvSpPr>
            <a:spLocks noGrp="1"/>
          </p:cNvSpPr>
          <p:nvPr>
            <p:ph sz="half" idx="1"/>
          </p:nvPr>
        </p:nvSpPr>
        <p:spPr>
          <a:xfrm>
            <a:off x="3556000" y="2196001"/>
            <a:ext cx="5119686" cy="4024100"/>
          </a:xfrm>
        </p:spPr>
        <p:txBody>
          <a:bodyPr rtlCol="1"/>
          <a:lstStyle/>
          <a:p>
            <a:pPr marL="0" indent="0" rtl="1">
              <a:buNone/>
            </a:pPr>
            <a:r>
              <a:rPr lang="ar-SA" sz="2000" dirty="0"/>
              <a:t>هناك العديد من مصادر التمويل/المساعدة/التوجيه المتاحة للشركات الناشئة:</a:t>
            </a:r>
            <a:br>
              <a:rPr lang="ar-SA" dirty="0"/>
            </a:br>
            <a:endParaRPr lang="ar-SA" dirty="0"/>
          </a:p>
          <a:p>
            <a:pPr rtl="1"/>
            <a:r>
              <a:rPr lang="ar-SA" sz="1800" dirty="0"/>
              <a:t>التمويل – الأموال الخاصة، العائلة/الأصدقاء، البنك، </a:t>
            </a:r>
            <a:br>
              <a:rPr lang="ar-EG" sz="1800" dirty="0"/>
            </a:br>
            <a:r>
              <a:rPr lang="ar-SA" sz="1800" dirty="0"/>
              <a:t>التمويل الجماعي، المنح الحكومية، قروض الشركات الناشئة</a:t>
            </a:r>
          </a:p>
          <a:p>
            <a:pPr rtl="1"/>
            <a:r>
              <a:rPr lang="ar-SA" sz="1800" dirty="0"/>
              <a:t>تقدم منظمات المشاريع المحلية المشورة</a:t>
            </a:r>
          </a:p>
          <a:p>
            <a:pPr rtl="1"/>
            <a:r>
              <a:rPr lang="ar-SA" sz="1800" dirty="0"/>
              <a:t>تقدم البنوك التوجيه المالي والقروض</a:t>
            </a:r>
          </a:p>
          <a:p>
            <a:pPr rtl="1"/>
            <a:r>
              <a:rPr lang="ar-SA" sz="1800" dirty="0"/>
              <a:t>الدعم الحكومي للشركات الناشئة</a:t>
            </a:r>
          </a:p>
          <a:p>
            <a:pPr rtl="1"/>
            <a:r>
              <a:rPr lang="ar-SA" sz="1800" dirty="0"/>
              <a:t>دورة تدريبية – الحكم المحلي</a:t>
            </a:r>
          </a:p>
          <a:p>
            <a:pPr rtl="1"/>
            <a:r>
              <a:rPr lang="ar-SA" sz="1800" dirty="0"/>
              <a:t>تقدم ملائكة الأعمال الدعم المالي </a:t>
            </a:r>
          </a:p>
          <a:p>
            <a:pPr lvl="1" rtl="1"/>
            <a:endParaRPr lang="ar-SA" dirty="0"/>
          </a:p>
        </p:txBody>
      </p:sp>
      <p:sp>
        <p:nvSpPr>
          <p:cNvPr id="5" name="TextBox 4">
            <a:extLst>
              <a:ext uri="{FF2B5EF4-FFF2-40B4-BE49-F238E27FC236}">
                <a16:creationId xmlns:a16="http://schemas.microsoft.com/office/drawing/2014/main" id="{440D90D0-B823-30ED-7B8A-E9B77969517A}"/>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7" name="Picture 6" descr="A group of men looking at a piece of paper">
            <a:extLst>
              <a:ext uri="{FF2B5EF4-FFF2-40B4-BE49-F238E27FC236}">
                <a16:creationId xmlns:a16="http://schemas.microsoft.com/office/drawing/2014/main" id="{09455A6C-1EC0-4988-24BD-35CF5DEE453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1247" y="3026960"/>
            <a:ext cx="3239034" cy="2161703"/>
          </a:xfrm>
          <a:prstGeom prst="rect">
            <a:avLst/>
          </a:prstGeom>
        </p:spPr>
      </p:pic>
    </p:spTree>
    <p:extLst>
      <p:ext uri="{BB962C8B-B14F-4D97-AF65-F5344CB8AC3E}">
        <p14:creationId xmlns:p14="http://schemas.microsoft.com/office/powerpoint/2010/main" val="531694385"/>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dirty="0"/>
              <a:t>هدف التعلم ج</a:t>
            </a:r>
            <a:br>
              <a:rPr lang="ar-SA" altLang="en-US" sz="2400" dirty="0"/>
            </a:br>
            <a:br>
              <a:rPr lang="ar-SA" altLang="en-US" sz="2400" dirty="0"/>
            </a:br>
            <a:endParaRPr lang="ar-SA"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638141"/>
            <a:ext cx="871296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algn="ctr" defTabSz="431800" rtl="1">
              <a:buNone/>
            </a:pPr>
            <a:r>
              <a:rPr lang="ar-SA" sz="3600" b="1" dirty="0"/>
              <a:t>وضع خطة عمل </a:t>
            </a:r>
            <a:endParaRPr lang="ar-SA" altLang="en-US" sz="3600" dirty="0"/>
          </a:p>
        </p:txBody>
      </p:sp>
      <p:sp>
        <p:nvSpPr>
          <p:cNvPr id="6" name="Content Placeholder 3">
            <a:extLst>
              <a:ext uri="{FF2B5EF4-FFF2-40B4-BE49-F238E27FC236}">
                <a16:creationId xmlns:a16="http://schemas.microsoft.com/office/drawing/2014/main" id="{431A70FB-4D53-C8BD-CD15-9C30482724E7}"/>
              </a:ext>
            </a:extLst>
          </p:cNvPr>
          <p:cNvSpPr>
            <a:spLocks noGrp="1" noChangeArrowheads="1"/>
          </p:cNvSpPr>
          <p:nvPr>
            <p:ph sz="half" idx="2"/>
          </p:nvPr>
        </p:nvSpPr>
        <p:spPr bwMode="auto">
          <a:xfrm>
            <a:off x="4394200" y="2921000"/>
            <a:ext cx="3562351" cy="281195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SA" dirty="0"/>
              <a:t>هيكل خطة العمل</a:t>
            </a:r>
          </a:p>
          <a:p>
            <a:pPr marL="685800" rtl="1"/>
            <a:r>
              <a:rPr lang="ar-SA" dirty="0"/>
              <a:t>عرض المعلومات </a:t>
            </a:r>
          </a:p>
          <a:p>
            <a:pPr marL="685800" rtl="1"/>
            <a:r>
              <a:rPr lang="ar-SA" dirty="0"/>
              <a:t>طرح الخطة</a:t>
            </a:r>
          </a:p>
          <a:p>
            <a:pPr marL="685800" rtl="1"/>
            <a:r>
              <a:rPr lang="ar-SA" dirty="0"/>
              <a:t>مراجعة الخطة </a:t>
            </a:r>
          </a:p>
        </p:txBody>
      </p:sp>
      <p:sp>
        <p:nvSpPr>
          <p:cNvPr id="2" name="TextBox 1">
            <a:extLst>
              <a:ext uri="{FF2B5EF4-FFF2-40B4-BE49-F238E27FC236}">
                <a16:creationId xmlns:a16="http://schemas.microsoft.com/office/drawing/2014/main" id="{06F8D968-FF63-4BA6-2C97-1F8E323B1BD1}"/>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1392515437"/>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dirty="0"/>
              <a:t>يستكشف هدف التعلم د بنية خطة العمل وأهمية كيفية تقديم المعلومات الموجودة فيها.  تأخذ أهداف التعلم أيضًا في الاعتبار أهمية عرض الخطة بشكل صحيح ومراجعة الخطة لتحديد أي تحسينات</a:t>
            </a:r>
          </a:p>
          <a:p>
            <a:pPr marL="685800" rtl="1"/>
            <a:endParaRPr lang="ar"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495" indent="-404495" algn="ctr" defTabSz="431800" rtl="1">
              <a:spcBef>
                <a:spcPts val="1200"/>
              </a:spcBef>
            </a:pPr>
            <a:r>
              <a:rPr lang="ar" sz="3600" b="1" dirty="0">
                <a:latin typeface="Arial"/>
                <a:cs typeface="Arial"/>
              </a:rPr>
              <a:t>وضع خطة عمل  </a:t>
            </a:r>
            <a:endParaRPr lang="ar" dirty="0"/>
          </a:p>
        </p:txBody>
      </p:sp>
      <p:sp>
        <p:nvSpPr>
          <p:cNvPr id="2" name="TextBox 1">
            <a:extLst>
              <a:ext uri="{FF2B5EF4-FFF2-40B4-BE49-F238E27FC236}">
                <a16:creationId xmlns:a16="http://schemas.microsoft.com/office/drawing/2014/main" id="{AB969662-6EB3-FB68-24EA-7860472128BC}"/>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4004978076"/>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753F-5788-9B62-88A3-3102497CD046}"/>
              </a:ext>
            </a:extLst>
          </p:cNvPr>
          <p:cNvSpPr>
            <a:spLocks noGrp="1"/>
          </p:cNvSpPr>
          <p:nvPr>
            <p:ph type="title"/>
          </p:nvPr>
        </p:nvSpPr>
        <p:spPr>
          <a:xfrm>
            <a:off x="457200" y="1195200"/>
            <a:ext cx="8229600" cy="864000"/>
          </a:xfrm>
        </p:spPr>
        <p:txBody>
          <a:bodyPr rtlCol="1"/>
          <a:lstStyle/>
          <a:p>
            <a:pPr rtl="1"/>
            <a:r>
              <a:rPr lang="ar-SA" dirty="0">
                <a:latin typeface="Arial"/>
                <a:cs typeface="Arial"/>
              </a:rPr>
              <a:t>هيكل خطة العمل (1)</a:t>
            </a:r>
            <a:endParaRPr lang="ar-SA" dirty="0"/>
          </a:p>
        </p:txBody>
      </p:sp>
      <p:sp>
        <p:nvSpPr>
          <p:cNvPr id="3" name="Content Placeholder 2">
            <a:extLst>
              <a:ext uri="{FF2B5EF4-FFF2-40B4-BE49-F238E27FC236}">
                <a16:creationId xmlns:a16="http://schemas.microsoft.com/office/drawing/2014/main" id="{B26F8133-3E91-CD68-C35B-99E40267B8A1}"/>
              </a:ext>
            </a:extLst>
          </p:cNvPr>
          <p:cNvSpPr>
            <a:spLocks noGrp="1"/>
          </p:cNvSpPr>
          <p:nvPr>
            <p:ph sz="half" idx="1"/>
          </p:nvPr>
        </p:nvSpPr>
        <p:spPr>
          <a:xfrm>
            <a:off x="4648199" y="2196001"/>
            <a:ext cx="4027487" cy="4024100"/>
          </a:xfrm>
        </p:spPr>
        <p:txBody>
          <a:bodyPr rtlCol="1"/>
          <a:lstStyle/>
          <a:p>
            <a:pPr marL="0" indent="0" rtl="1">
              <a:buNone/>
            </a:pPr>
            <a:r>
              <a:rPr lang="ar-SA" sz="2000" dirty="0"/>
              <a:t>من المهم التأكد من أن هيكل خطة العمل وتخطيطها وعرضها احترافي وواضح. </a:t>
            </a:r>
          </a:p>
          <a:p>
            <a:pPr marL="0" indent="0" rtl="1">
              <a:buNone/>
            </a:pPr>
            <a:endParaRPr lang="ar-SA" sz="2000" dirty="0"/>
          </a:p>
          <a:p>
            <a:pPr marL="0" indent="0" rtl="1">
              <a:buNone/>
            </a:pPr>
            <a:r>
              <a:rPr lang="ar-SA" sz="2000" dirty="0"/>
              <a:t>هناك الكثير من قوالب تخطيط الأعمال المختلفة المتاحة عبر الإنترنت. ولكن من المهم التأكد </a:t>
            </a:r>
            <a:br>
              <a:rPr lang="ar-EG" sz="2000" dirty="0"/>
            </a:br>
            <a:r>
              <a:rPr lang="ar-SA" sz="2000" dirty="0"/>
              <a:t>من أن الخطة تحتوي على جميع المعلومات </a:t>
            </a:r>
            <a:br>
              <a:rPr lang="ar-EG" sz="2000" dirty="0"/>
            </a:br>
            <a:r>
              <a:rPr lang="ar-SA" sz="2000" dirty="0"/>
              <a:t>ذات الصلة والمهمة اللازمة لإقناع المستثمرين. </a:t>
            </a:r>
          </a:p>
        </p:txBody>
      </p:sp>
      <p:sp>
        <p:nvSpPr>
          <p:cNvPr id="4" name="TextBox 3">
            <a:extLst>
              <a:ext uri="{FF2B5EF4-FFF2-40B4-BE49-F238E27FC236}">
                <a16:creationId xmlns:a16="http://schemas.microsoft.com/office/drawing/2014/main" id="{F6D0B69C-FAAD-195A-AB68-01CB8432AF2E}"/>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7" name="Picture 6" descr="A person writing on a paper">
            <a:extLst>
              <a:ext uri="{FF2B5EF4-FFF2-40B4-BE49-F238E27FC236}">
                <a16:creationId xmlns:a16="http://schemas.microsoft.com/office/drawing/2014/main" id="{C00CA452-7188-93EA-865F-E4C8C2CEE5F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8312" y="2770126"/>
            <a:ext cx="3873619" cy="2585846"/>
          </a:xfrm>
          <a:prstGeom prst="rect">
            <a:avLst/>
          </a:prstGeom>
        </p:spPr>
      </p:pic>
    </p:spTree>
    <p:extLst>
      <p:ext uri="{BB962C8B-B14F-4D97-AF65-F5344CB8AC3E}">
        <p14:creationId xmlns:p14="http://schemas.microsoft.com/office/powerpoint/2010/main" val="483666458"/>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753F-5788-9B62-88A3-3102497CD046}"/>
              </a:ext>
            </a:extLst>
          </p:cNvPr>
          <p:cNvSpPr>
            <a:spLocks noGrp="1"/>
          </p:cNvSpPr>
          <p:nvPr>
            <p:ph type="title"/>
          </p:nvPr>
        </p:nvSpPr>
        <p:spPr>
          <a:xfrm>
            <a:off x="82885" y="1195200"/>
            <a:ext cx="8982687" cy="864000"/>
          </a:xfrm>
        </p:spPr>
        <p:txBody>
          <a:bodyPr rtlCol="1"/>
          <a:lstStyle/>
          <a:p>
            <a:pPr rtl="1"/>
            <a:r>
              <a:rPr lang="ar" dirty="0">
                <a:latin typeface="Arial"/>
                <a:cs typeface="Arial"/>
              </a:rPr>
              <a:t>هيكل خطة العمل (2) </a:t>
            </a:r>
            <a:endParaRPr lang="ar" dirty="0"/>
          </a:p>
        </p:txBody>
      </p:sp>
      <p:sp>
        <p:nvSpPr>
          <p:cNvPr id="3" name="Content Placeholder 2">
            <a:extLst>
              <a:ext uri="{FF2B5EF4-FFF2-40B4-BE49-F238E27FC236}">
                <a16:creationId xmlns:a16="http://schemas.microsoft.com/office/drawing/2014/main" id="{B26F8133-3E91-CD68-C35B-99E40267B8A1}"/>
              </a:ext>
            </a:extLst>
          </p:cNvPr>
          <p:cNvSpPr>
            <a:spLocks noGrp="1"/>
          </p:cNvSpPr>
          <p:nvPr>
            <p:ph sz="half" idx="1"/>
          </p:nvPr>
        </p:nvSpPr>
        <p:spPr>
          <a:xfrm>
            <a:off x="4648199" y="2196000"/>
            <a:ext cx="4027487" cy="4263537"/>
          </a:xfrm>
        </p:spPr>
        <p:txBody>
          <a:bodyPr rtlCol="1"/>
          <a:lstStyle/>
          <a:p>
            <a:pPr marL="457200" indent="-457200" rtl="1">
              <a:buFont typeface="+mj-lt"/>
              <a:buAutoNum type="arabicPeriod"/>
            </a:pPr>
            <a:r>
              <a:rPr lang="ar" dirty="0"/>
              <a:t>الاسم عند التأسيس</a:t>
            </a:r>
          </a:p>
          <a:p>
            <a:pPr marL="457200" indent="-457200" rtl="1">
              <a:buFont typeface="+mj-lt"/>
              <a:buAutoNum type="arabicPeriod"/>
            </a:pPr>
            <a:r>
              <a:rPr lang="ar" dirty="0"/>
              <a:t>تفاصيل المنتج/الخدمة</a:t>
            </a:r>
          </a:p>
          <a:p>
            <a:pPr marL="457200" indent="-457200" rtl="1">
              <a:buFont typeface="+mj-lt"/>
              <a:buAutoNum type="arabicPeriod"/>
            </a:pPr>
            <a:r>
              <a:rPr lang="ar" dirty="0"/>
              <a:t>نوع الملكية</a:t>
            </a:r>
          </a:p>
          <a:p>
            <a:pPr marL="457200" indent="-457200" rtl="1">
              <a:buFont typeface="+mj-lt"/>
              <a:buAutoNum type="arabicPeriod"/>
            </a:pPr>
            <a:r>
              <a:rPr lang="ar" dirty="0"/>
              <a:t>الأهداف/الغايات</a:t>
            </a:r>
          </a:p>
          <a:p>
            <a:pPr marL="457200" indent="-457200" rtl="1">
              <a:buFont typeface="+mj-lt"/>
              <a:buAutoNum type="arabicPeriod"/>
            </a:pPr>
            <a:r>
              <a:rPr lang="ar" dirty="0"/>
              <a:t>ملخص أبحاث السوق</a:t>
            </a:r>
          </a:p>
          <a:p>
            <a:pPr marL="457200" indent="-457200" rtl="1">
              <a:buFont typeface="+mj-lt"/>
              <a:buAutoNum type="arabicPeriod"/>
            </a:pPr>
            <a:r>
              <a:rPr lang="ar" dirty="0"/>
              <a:t>السوق المستهدف</a:t>
            </a:r>
          </a:p>
          <a:p>
            <a:pPr marL="457200" indent="-457200" rtl="1">
              <a:buFont typeface="+mj-lt"/>
              <a:buAutoNum type="arabicPeriod"/>
            </a:pPr>
            <a:r>
              <a:rPr lang="ar" dirty="0"/>
              <a:t>التواصل مع السوق المستهدف – الترويج</a:t>
            </a:r>
          </a:p>
        </p:txBody>
      </p:sp>
      <p:sp>
        <p:nvSpPr>
          <p:cNvPr id="4" name="Content Placeholder 3">
            <a:extLst>
              <a:ext uri="{FF2B5EF4-FFF2-40B4-BE49-F238E27FC236}">
                <a16:creationId xmlns:a16="http://schemas.microsoft.com/office/drawing/2014/main" id="{B19B9C6E-AEFE-1F7A-498C-E11C7A0A65A1}"/>
              </a:ext>
            </a:extLst>
          </p:cNvPr>
          <p:cNvSpPr>
            <a:spLocks noGrp="1"/>
          </p:cNvSpPr>
          <p:nvPr>
            <p:ph sz="half" idx="2"/>
          </p:nvPr>
        </p:nvSpPr>
        <p:spPr>
          <a:xfrm>
            <a:off x="468312" y="2196001"/>
            <a:ext cx="4027488" cy="4024100"/>
          </a:xfrm>
        </p:spPr>
        <p:txBody>
          <a:bodyPr rtlCol="1"/>
          <a:lstStyle/>
          <a:p>
            <a:pPr marL="457200" indent="-457200" rtl="1">
              <a:buAutoNum type="arabicPeriod" startAt="8"/>
            </a:pPr>
            <a:r>
              <a:rPr lang="ar" dirty="0"/>
              <a:t>التعامل مع المنافسة</a:t>
            </a:r>
          </a:p>
          <a:p>
            <a:pPr marL="457200" indent="-457200" rtl="1">
              <a:buAutoNum type="arabicPeriod" startAt="8"/>
            </a:pPr>
            <a:r>
              <a:rPr lang="ar" dirty="0"/>
              <a:t>الطريق إلى السوق</a:t>
            </a:r>
          </a:p>
          <a:p>
            <a:pPr marL="457200" indent="-457200" rtl="1">
              <a:buAutoNum type="arabicPeriod" startAt="8"/>
            </a:pPr>
            <a:r>
              <a:rPr lang="ar" dirty="0"/>
              <a:t>البيانات المالية – التكاليف، التعادل، التدفق النقدي</a:t>
            </a:r>
          </a:p>
          <a:p>
            <a:pPr marL="457200" indent="-457200" rtl="1">
              <a:buAutoNum type="arabicPeriod" startAt="8"/>
            </a:pPr>
            <a:r>
              <a:rPr lang="ar" dirty="0"/>
              <a:t>المخاطر والاعتبارات القانونية.</a:t>
            </a:r>
          </a:p>
          <a:p>
            <a:pPr marL="457200" indent="-457200" rtl="1">
              <a:buAutoNum type="arabicPeriod" startAt="8"/>
            </a:pPr>
            <a:r>
              <a:rPr lang="ar" dirty="0"/>
              <a:t>الموارد المادية والبشرية</a:t>
            </a:r>
          </a:p>
          <a:p>
            <a:pPr marL="457200" indent="-457200" rtl="1">
              <a:buAutoNum type="arabicPeriod" startAt="8"/>
            </a:pPr>
            <a:r>
              <a:rPr lang="ar" dirty="0"/>
              <a:t>كيف سيتم قياس النجاح</a:t>
            </a:r>
          </a:p>
        </p:txBody>
      </p:sp>
      <p:sp>
        <p:nvSpPr>
          <p:cNvPr id="6" name="TextBox 5">
            <a:extLst>
              <a:ext uri="{FF2B5EF4-FFF2-40B4-BE49-F238E27FC236}">
                <a16:creationId xmlns:a16="http://schemas.microsoft.com/office/drawing/2014/main" id="{2C36839D-35B2-A16D-9B70-5A541E93F076}"/>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2973518731"/>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5EFC-036B-CC0E-A17B-D1765C789E4E}"/>
              </a:ext>
            </a:extLst>
          </p:cNvPr>
          <p:cNvSpPr>
            <a:spLocks noGrp="1"/>
          </p:cNvSpPr>
          <p:nvPr>
            <p:ph type="title"/>
          </p:nvPr>
        </p:nvSpPr>
        <p:spPr>
          <a:xfrm>
            <a:off x="457200" y="1195200"/>
            <a:ext cx="8229600" cy="864000"/>
          </a:xfrm>
        </p:spPr>
        <p:txBody>
          <a:bodyPr rtlCol="1"/>
          <a:lstStyle/>
          <a:p>
            <a:pPr rtl="1"/>
            <a:r>
              <a:rPr lang="ar-SA" dirty="0">
                <a:latin typeface="Arial"/>
                <a:cs typeface="Arial"/>
              </a:rPr>
              <a:t>عرض المعلومات (1) </a:t>
            </a:r>
            <a:endParaRPr lang="ar-SA" dirty="0"/>
          </a:p>
        </p:txBody>
      </p:sp>
      <p:sp>
        <p:nvSpPr>
          <p:cNvPr id="3" name="Content Placeholder 2">
            <a:extLst>
              <a:ext uri="{FF2B5EF4-FFF2-40B4-BE49-F238E27FC236}">
                <a16:creationId xmlns:a16="http://schemas.microsoft.com/office/drawing/2014/main" id="{782E677D-5D79-E13C-DCC9-BB03001B5421}"/>
              </a:ext>
            </a:extLst>
          </p:cNvPr>
          <p:cNvSpPr>
            <a:spLocks noGrp="1"/>
          </p:cNvSpPr>
          <p:nvPr>
            <p:ph sz="half" idx="1"/>
          </p:nvPr>
        </p:nvSpPr>
        <p:spPr>
          <a:xfrm>
            <a:off x="4648199" y="2196001"/>
            <a:ext cx="4027487" cy="4024100"/>
          </a:xfrm>
        </p:spPr>
        <p:txBody>
          <a:bodyPr rtlCol="1"/>
          <a:lstStyle/>
          <a:p>
            <a:pPr marL="0" indent="0" rtl="1">
              <a:buNone/>
            </a:pPr>
            <a:r>
              <a:rPr lang="ar-SA" sz="2000" dirty="0"/>
              <a:t>من المهم أن يتم تقديم خطة العمل وفقًا لمعايير معينة. الجوانب التي يجب مراعاتها هي:</a:t>
            </a:r>
            <a:br>
              <a:rPr lang="ar-SA" dirty="0"/>
            </a:br>
            <a:endParaRPr lang="ar-SA" dirty="0"/>
          </a:p>
          <a:p>
            <a:pPr rtl="1"/>
            <a:r>
              <a:rPr lang="ar-SA" sz="1800" dirty="0"/>
              <a:t>يجب أن يتبع جزء من الخطة تسلسلاً منطقيًا</a:t>
            </a:r>
          </a:p>
          <a:p>
            <a:pPr rtl="1"/>
            <a:r>
              <a:rPr lang="ar-SA" sz="1800" dirty="0"/>
              <a:t>العناوين، العناوين الفرعية، الخطوط، </a:t>
            </a:r>
            <a:br>
              <a:rPr lang="ar-EG" sz="1800" dirty="0"/>
            </a:br>
            <a:r>
              <a:rPr lang="ar-SA" sz="1800" dirty="0"/>
              <a:t>أرقام الصفحات، التشجيع، الملاحق </a:t>
            </a:r>
          </a:p>
        </p:txBody>
      </p:sp>
      <p:sp>
        <p:nvSpPr>
          <p:cNvPr id="4" name="Content Placeholder 3">
            <a:extLst>
              <a:ext uri="{FF2B5EF4-FFF2-40B4-BE49-F238E27FC236}">
                <a16:creationId xmlns:a16="http://schemas.microsoft.com/office/drawing/2014/main" id="{764B4168-AC05-0757-78C7-0FDE3728BE15}"/>
              </a:ext>
            </a:extLst>
          </p:cNvPr>
          <p:cNvSpPr>
            <a:spLocks noGrp="1"/>
          </p:cNvSpPr>
          <p:nvPr>
            <p:ph sz="half" idx="2"/>
          </p:nvPr>
        </p:nvSpPr>
        <p:spPr>
          <a:xfrm>
            <a:off x="468312" y="2196001"/>
            <a:ext cx="4027488" cy="4024100"/>
          </a:xfrm>
        </p:spPr>
        <p:txBody>
          <a:bodyPr rtlCol="1"/>
          <a:lstStyle/>
          <a:p>
            <a:pPr marL="0" indent="0" rtl="1">
              <a:buNone/>
            </a:pPr>
            <a:endParaRPr lang="ar-SA" dirty="0"/>
          </a:p>
          <a:p>
            <a:pPr marL="0" indent="0" rtl="1">
              <a:buNone/>
            </a:pPr>
            <a:endParaRPr lang="ar-SA" dirty="0"/>
          </a:p>
          <a:p>
            <a:pPr marL="0" indent="0" rtl="1">
              <a:buNone/>
            </a:pPr>
            <a:endParaRPr lang="ar-SA" b="1" dirty="0"/>
          </a:p>
        </p:txBody>
      </p:sp>
      <p:sp>
        <p:nvSpPr>
          <p:cNvPr id="7" name="TextBox 6">
            <a:extLst>
              <a:ext uri="{FF2B5EF4-FFF2-40B4-BE49-F238E27FC236}">
                <a16:creationId xmlns:a16="http://schemas.microsoft.com/office/drawing/2014/main" id="{E703E2DC-0098-B1B8-23F4-02ECFF2CE358}"/>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8" name="Picture 7" descr="A group of people looking at papers on a table">
            <a:extLst>
              <a:ext uri="{FF2B5EF4-FFF2-40B4-BE49-F238E27FC236}">
                <a16:creationId xmlns:a16="http://schemas.microsoft.com/office/drawing/2014/main" id="{9957C1DE-32A9-4A44-402E-6FF0BF5359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19722" y="2674128"/>
            <a:ext cx="4026152" cy="2687019"/>
          </a:xfrm>
          <a:prstGeom prst="rect">
            <a:avLst/>
          </a:prstGeom>
        </p:spPr>
      </p:pic>
    </p:spTree>
    <p:extLst>
      <p:ext uri="{BB962C8B-B14F-4D97-AF65-F5344CB8AC3E}">
        <p14:creationId xmlns:p14="http://schemas.microsoft.com/office/powerpoint/2010/main" val="370667284"/>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5EFC-036B-CC0E-A17B-D1765C789E4E}"/>
              </a:ext>
            </a:extLst>
          </p:cNvPr>
          <p:cNvSpPr>
            <a:spLocks noGrp="1"/>
          </p:cNvSpPr>
          <p:nvPr>
            <p:ph type="title"/>
          </p:nvPr>
        </p:nvSpPr>
        <p:spPr>
          <a:xfrm>
            <a:off x="457200" y="1195200"/>
            <a:ext cx="8229600" cy="864000"/>
          </a:xfrm>
        </p:spPr>
        <p:txBody>
          <a:bodyPr rtlCol="1"/>
          <a:lstStyle/>
          <a:p>
            <a:pPr rtl="1"/>
            <a:r>
              <a:rPr lang="ar-SA" dirty="0">
                <a:latin typeface="Arial"/>
                <a:cs typeface="Arial"/>
              </a:rPr>
              <a:t>عرض المعلومات (2) </a:t>
            </a:r>
            <a:endParaRPr lang="ar-SA" dirty="0"/>
          </a:p>
        </p:txBody>
      </p:sp>
      <p:sp>
        <p:nvSpPr>
          <p:cNvPr id="3" name="Content Placeholder 2">
            <a:extLst>
              <a:ext uri="{FF2B5EF4-FFF2-40B4-BE49-F238E27FC236}">
                <a16:creationId xmlns:a16="http://schemas.microsoft.com/office/drawing/2014/main" id="{782E677D-5D79-E13C-DCC9-BB03001B5421}"/>
              </a:ext>
            </a:extLst>
          </p:cNvPr>
          <p:cNvSpPr>
            <a:spLocks noGrp="1"/>
          </p:cNvSpPr>
          <p:nvPr>
            <p:ph sz="half" idx="1"/>
          </p:nvPr>
        </p:nvSpPr>
        <p:spPr>
          <a:xfrm>
            <a:off x="4648199" y="2196001"/>
            <a:ext cx="4027487" cy="4024100"/>
          </a:xfrm>
        </p:spPr>
        <p:txBody>
          <a:bodyPr rtlCol="1"/>
          <a:lstStyle/>
          <a:p>
            <a:pPr rtl="1"/>
            <a:endParaRPr lang="ar-SA" sz="1800" dirty="0"/>
          </a:p>
          <a:p>
            <a:pPr rtl="1"/>
            <a:endParaRPr lang="ar-SA" sz="1800" dirty="0"/>
          </a:p>
          <a:p>
            <a:pPr rtl="1"/>
            <a:endParaRPr lang="ar-SA" sz="1800" dirty="0"/>
          </a:p>
          <a:p>
            <a:pPr rtl="1"/>
            <a:endParaRPr lang="ar-SA" sz="1800" dirty="0"/>
          </a:p>
        </p:txBody>
      </p:sp>
      <p:sp>
        <p:nvSpPr>
          <p:cNvPr id="4" name="Content Placeholder 3">
            <a:extLst>
              <a:ext uri="{FF2B5EF4-FFF2-40B4-BE49-F238E27FC236}">
                <a16:creationId xmlns:a16="http://schemas.microsoft.com/office/drawing/2014/main" id="{7A36EEF7-97C6-C152-8857-5BA52BA1E2DC}"/>
              </a:ext>
            </a:extLst>
          </p:cNvPr>
          <p:cNvSpPr>
            <a:spLocks noGrp="1"/>
          </p:cNvSpPr>
          <p:nvPr>
            <p:ph sz="half" idx="2"/>
          </p:nvPr>
        </p:nvSpPr>
        <p:spPr>
          <a:xfrm>
            <a:off x="468312" y="2196001"/>
            <a:ext cx="4027488" cy="4024100"/>
          </a:xfrm>
        </p:spPr>
        <p:txBody>
          <a:bodyPr rtlCol="1"/>
          <a:lstStyle/>
          <a:p>
            <a:pPr marL="0" indent="0" rtl="1">
              <a:buNone/>
            </a:pPr>
            <a:r>
              <a:rPr lang="ar-SA" sz="2000" dirty="0"/>
              <a:t>من المهم أن يتم تقديم خطة العمل وفقًا لمعايير معينة. الجوانب التي يجب مراعاتها هي:</a:t>
            </a:r>
          </a:p>
          <a:p>
            <a:pPr marL="0" indent="0" rtl="1">
              <a:buNone/>
            </a:pPr>
            <a:endParaRPr lang="ar-SA" sz="3200" dirty="0"/>
          </a:p>
          <a:p>
            <a:pPr rtl="1"/>
            <a:r>
              <a:rPr lang="ar-SA" sz="1800" dirty="0"/>
              <a:t>العرض المرئي لنتائج أبحاث السوق</a:t>
            </a:r>
          </a:p>
          <a:p>
            <a:pPr rtl="1"/>
            <a:r>
              <a:rPr lang="ar-SA" sz="1800" dirty="0"/>
              <a:t>عرض واضح للبيانات المالية</a:t>
            </a:r>
          </a:p>
          <a:p>
            <a:pPr rtl="1"/>
            <a:r>
              <a:rPr lang="ar-SA" sz="1800" dirty="0"/>
              <a:t>أمثلة على التواصل مع العملاء – الشعار والعلامة التجارية وما إلى ذلك</a:t>
            </a:r>
          </a:p>
          <a:p>
            <a:pPr marL="0" indent="0" rtl="1">
              <a:buNone/>
            </a:pPr>
            <a:endParaRPr lang="ar-SA" dirty="0"/>
          </a:p>
        </p:txBody>
      </p:sp>
      <p:sp>
        <p:nvSpPr>
          <p:cNvPr id="7" name="TextBox 6">
            <a:extLst>
              <a:ext uri="{FF2B5EF4-FFF2-40B4-BE49-F238E27FC236}">
                <a16:creationId xmlns:a16="http://schemas.microsoft.com/office/drawing/2014/main" id="{96D1A32E-AD81-3E46-B13C-FE70418F60BB}"/>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8" name="Picture 7" descr="A close-up of a graph">
            <a:extLst>
              <a:ext uri="{FF2B5EF4-FFF2-40B4-BE49-F238E27FC236}">
                <a16:creationId xmlns:a16="http://schemas.microsoft.com/office/drawing/2014/main" id="{7FAEDE65-BEA7-59AD-053D-E0A614AFBB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31151" y="2572176"/>
            <a:ext cx="3575584" cy="2377383"/>
          </a:xfrm>
          <a:prstGeom prst="rect">
            <a:avLst/>
          </a:prstGeom>
        </p:spPr>
      </p:pic>
    </p:spTree>
    <p:extLst>
      <p:ext uri="{BB962C8B-B14F-4D97-AF65-F5344CB8AC3E}">
        <p14:creationId xmlns:p14="http://schemas.microsoft.com/office/powerpoint/2010/main" val="3958654896"/>
      </p:ext>
    </p:extLst>
  </p:cSld>
  <p:clrMapOvr>
    <a:masterClrMapping/>
  </p:clrMapOvr>
  <p:transition>
    <p:sndAc>
      <p:stSnd>
        <p:snd r:embed="rId2"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5EFC-036B-CC0E-A17B-D1765C789E4E}"/>
              </a:ext>
            </a:extLst>
          </p:cNvPr>
          <p:cNvSpPr>
            <a:spLocks noGrp="1"/>
          </p:cNvSpPr>
          <p:nvPr>
            <p:ph type="title"/>
          </p:nvPr>
        </p:nvSpPr>
        <p:spPr>
          <a:xfrm>
            <a:off x="457200" y="1195200"/>
            <a:ext cx="8229600" cy="864000"/>
          </a:xfrm>
        </p:spPr>
        <p:txBody>
          <a:bodyPr rtlCol="1"/>
          <a:lstStyle/>
          <a:p>
            <a:pPr rtl="1"/>
            <a:r>
              <a:rPr lang="ar-SA" dirty="0">
                <a:latin typeface="Arial"/>
                <a:cs typeface="Arial"/>
              </a:rPr>
              <a:t>عرض المعلومات (3) </a:t>
            </a:r>
            <a:endParaRPr lang="ar-SA" dirty="0"/>
          </a:p>
        </p:txBody>
      </p:sp>
      <p:sp>
        <p:nvSpPr>
          <p:cNvPr id="3" name="Content Placeholder 2">
            <a:extLst>
              <a:ext uri="{FF2B5EF4-FFF2-40B4-BE49-F238E27FC236}">
                <a16:creationId xmlns:a16="http://schemas.microsoft.com/office/drawing/2014/main" id="{782E677D-5D79-E13C-DCC9-BB03001B5421}"/>
              </a:ext>
            </a:extLst>
          </p:cNvPr>
          <p:cNvSpPr>
            <a:spLocks noGrp="1"/>
          </p:cNvSpPr>
          <p:nvPr>
            <p:ph sz="half" idx="1"/>
          </p:nvPr>
        </p:nvSpPr>
        <p:spPr>
          <a:xfrm>
            <a:off x="4648199" y="2196001"/>
            <a:ext cx="4027487" cy="4024100"/>
          </a:xfrm>
        </p:spPr>
        <p:txBody>
          <a:bodyPr rtlCol="1"/>
          <a:lstStyle/>
          <a:p>
            <a:pPr marL="0" indent="0" rtl="1">
              <a:buNone/>
            </a:pPr>
            <a:r>
              <a:rPr lang="ar-SA" dirty="0"/>
              <a:t>تحتاج أيضًا إلى التفكير في التكنولوجيا المستخدمة لتقديم خطة العمل للجمهور. </a:t>
            </a:r>
          </a:p>
          <a:p>
            <a:pPr marL="0" indent="0" rtl="1">
              <a:buNone/>
            </a:pPr>
            <a:endParaRPr lang="ar-SA" dirty="0"/>
          </a:p>
          <a:p>
            <a:pPr marL="0" indent="0" rtl="1">
              <a:buNone/>
            </a:pPr>
            <a:r>
              <a:rPr lang="ar-SA" dirty="0"/>
              <a:t>يمكنك استخدام برنامج باوربوينت </a:t>
            </a:r>
            <a:br>
              <a:rPr lang="ar-EG" dirty="0"/>
            </a:br>
            <a:r>
              <a:rPr lang="ar-SA" dirty="0"/>
              <a:t>أو برنامج فيديو أو مجرد شاشة تحتوي على صور. </a:t>
            </a:r>
          </a:p>
          <a:p>
            <a:pPr rtl="1"/>
            <a:endParaRPr lang="ar-SA" sz="1800" dirty="0"/>
          </a:p>
          <a:p>
            <a:pPr rtl="1"/>
            <a:endParaRPr lang="ar-SA" sz="1800" dirty="0"/>
          </a:p>
        </p:txBody>
      </p:sp>
      <p:sp>
        <p:nvSpPr>
          <p:cNvPr id="4" name="TextBox 3">
            <a:extLst>
              <a:ext uri="{FF2B5EF4-FFF2-40B4-BE49-F238E27FC236}">
                <a16:creationId xmlns:a16="http://schemas.microsoft.com/office/drawing/2014/main" id="{4097610B-81EF-3D1A-D528-95ED4AE624A5}"/>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pic>
        <p:nvPicPr>
          <p:cNvPr id="7" name="Picture 6" descr="A person in a suit touching a screen">
            <a:extLst>
              <a:ext uri="{FF2B5EF4-FFF2-40B4-BE49-F238E27FC236}">
                <a16:creationId xmlns:a16="http://schemas.microsoft.com/office/drawing/2014/main" id="{6C32EB7F-FA03-1C0E-3966-32405251798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1878" y="2686204"/>
            <a:ext cx="3917155" cy="2593719"/>
          </a:xfrm>
          <a:prstGeom prst="rect">
            <a:avLst/>
          </a:prstGeom>
        </p:spPr>
      </p:pic>
    </p:spTree>
    <p:extLst>
      <p:ext uri="{BB962C8B-B14F-4D97-AF65-F5344CB8AC3E}">
        <p14:creationId xmlns:p14="http://schemas.microsoft.com/office/powerpoint/2010/main" val="768917529"/>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5EFC-036B-CC0E-A17B-D1765C789E4E}"/>
              </a:ext>
            </a:extLst>
          </p:cNvPr>
          <p:cNvSpPr>
            <a:spLocks noGrp="1"/>
          </p:cNvSpPr>
          <p:nvPr>
            <p:ph type="title"/>
          </p:nvPr>
        </p:nvSpPr>
        <p:spPr>
          <a:xfrm>
            <a:off x="457200" y="1195200"/>
            <a:ext cx="8229600" cy="864000"/>
          </a:xfrm>
        </p:spPr>
        <p:txBody>
          <a:bodyPr rtlCol="1"/>
          <a:lstStyle/>
          <a:p>
            <a:pPr rtl="1"/>
            <a:r>
              <a:rPr lang="ar-SA" dirty="0">
                <a:latin typeface="Arial"/>
                <a:cs typeface="Arial"/>
              </a:rPr>
              <a:t>طرح الخطة (1) </a:t>
            </a:r>
            <a:endParaRPr lang="ar-SA" dirty="0"/>
          </a:p>
        </p:txBody>
      </p:sp>
      <p:sp>
        <p:nvSpPr>
          <p:cNvPr id="3" name="Content Placeholder 2">
            <a:extLst>
              <a:ext uri="{FF2B5EF4-FFF2-40B4-BE49-F238E27FC236}">
                <a16:creationId xmlns:a16="http://schemas.microsoft.com/office/drawing/2014/main" id="{782E677D-5D79-E13C-DCC9-BB03001B5421}"/>
              </a:ext>
            </a:extLst>
          </p:cNvPr>
          <p:cNvSpPr>
            <a:spLocks noGrp="1"/>
          </p:cNvSpPr>
          <p:nvPr>
            <p:ph idx="1"/>
          </p:nvPr>
        </p:nvSpPr>
        <p:spPr>
          <a:xfrm>
            <a:off x="468314" y="2196000"/>
            <a:ext cx="8207375" cy="4263538"/>
          </a:xfrm>
        </p:spPr>
        <p:txBody>
          <a:bodyPr rtlCol="1"/>
          <a:lstStyle/>
          <a:p>
            <a:pPr rtl="1"/>
            <a:r>
              <a:rPr lang="ar-SA" dirty="0"/>
              <a:t>بمجرد اكتمال الخطة، ستكون جاهزًا لعرضها على جمهورك. عليك أن تأخذ </a:t>
            </a:r>
            <a:br>
              <a:rPr lang="ar-EG" dirty="0"/>
            </a:br>
            <a:r>
              <a:rPr lang="ar-SA" dirty="0"/>
              <a:t>في الاعتبار:</a:t>
            </a:r>
            <a:br>
              <a:rPr lang="ar-SA" dirty="0"/>
            </a:br>
            <a:endParaRPr lang="ar-SA" dirty="0"/>
          </a:p>
          <a:p>
            <a:pPr rtl="1"/>
            <a:r>
              <a:rPr lang="ar-SA" sz="1800" dirty="0"/>
              <a:t>أدلة الإعداد والممارسة</a:t>
            </a:r>
          </a:p>
          <a:p>
            <a:pPr rtl="1"/>
            <a:r>
              <a:rPr lang="ar-SA" sz="1800" dirty="0"/>
              <a:t>الهيكل – هل هو منطقي؟</a:t>
            </a:r>
          </a:p>
          <a:p>
            <a:pPr rtl="1"/>
            <a:r>
              <a:rPr lang="ar-SA" sz="1800" dirty="0"/>
              <a:t>التسليم - فكر في النبرة والسرعة والثقة والحجم والتواصل البصري ولغة الجسد</a:t>
            </a:r>
          </a:p>
          <a:p>
            <a:pPr rtl="1"/>
            <a:r>
              <a:rPr lang="ar-SA" sz="1800" dirty="0"/>
              <a:t>استخدام الوسائل البصرية والنشرات والشرائح مع ملاحظات المتحدث</a:t>
            </a:r>
          </a:p>
          <a:p>
            <a:pPr rtl="1"/>
            <a:r>
              <a:rPr lang="ar-SA" sz="1800" dirty="0"/>
              <a:t>القدرة على الإجابة على سؤال حول فكرة عملك</a:t>
            </a:r>
          </a:p>
          <a:p>
            <a:pPr rtl="1"/>
            <a:endParaRPr lang="ar-SA" sz="1800" dirty="0"/>
          </a:p>
          <a:p>
            <a:pPr marL="0" indent="0" rtl="1">
              <a:buNone/>
            </a:pPr>
            <a:r>
              <a:rPr lang="ar-SA" dirty="0"/>
              <a:t>ما الذي يمكنك فعله للتأكد من أنك مستعد لعرضك؟</a:t>
            </a:r>
          </a:p>
        </p:txBody>
      </p:sp>
      <p:sp>
        <p:nvSpPr>
          <p:cNvPr id="4" name="TextBox 3">
            <a:extLst>
              <a:ext uri="{FF2B5EF4-FFF2-40B4-BE49-F238E27FC236}">
                <a16:creationId xmlns:a16="http://schemas.microsoft.com/office/drawing/2014/main" id="{6A967A5C-F908-8E09-7438-57B15FC4C283}"/>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3282092799"/>
      </p:ext>
    </p:extLst>
  </p:cSld>
  <p:clrMapOvr>
    <a:masterClrMapping/>
  </p:clrMapOvr>
  <p:transition>
    <p:sndAc>
      <p:stSnd>
        <p:snd r:embed="rId2"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5EFC-036B-CC0E-A17B-D1765C789E4E}"/>
              </a:ext>
            </a:extLst>
          </p:cNvPr>
          <p:cNvSpPr>
            <a:spLocks noGrp="1"/>
          </p:cNvSpPr>
          <p:nvPr>
            <p:ph type="title"/>
          </p:nvPr>
        </p:nvSpPr>
        <p:spPr>
          <a:xfrm>
            <a:off x="457200" y="1195200"/>
            <a:ext cx="8229600" cy="864000"/>
          </a:xfrm>
        </p:spPr>
        <p:txBody>
          <a:bodyPr rtlCol="1"/>
          <a:lstStyle/>
          <a:p>
            <a:pPr rtl="1"/>
            <a:r>
              <a:rPr lang="ar" dirty="0">
                <a:latin typeface="Arial"/>
                <a:cs typeface="Arial"/>
              </a:rPr>
              <a:t>مراجعة الخطة </a:t>
            </a:r>
            <a:endParaRPr lang="ar" dirty="0"/>
          </a:p>
        </p:txBody>
      </p:sp>
      <p:sp>
        <p:nvSpPr>
          <p:cNvPr id="3" name="Content Placeholder 2">
            <a:extLst>
              <a:ext uri="{FF2B5EF4-FFF2-40B4-BE49-F238E27FC236}">
                <a16:creationId xmlns:a16="http://schemas.microsoft.com/office/drawing/2014/main" id="{782E677D-5D79-E13C-DCC9-BB03001B5421}"/>
              </a:ext>
            </a:extLst>
          </p:cNvPr>
          <p:cNvSpPr>
            <a:spLocks noGrp="1"/>
          </p:cNvSpPr>
          <p:nvPr>
            <p:ph idx="1"/>
          </p:nvPr>
        </p:nvSpPr>
        <p:spPr>
          <a:xfrm>
            <a:off x="468311" y="2196000"/>
            <a:ext cx="8207375" cy="3878436"/>
          </a:xfrm>
        </p:spPr>
        <p:txBody>
          <a:bodyPr rtlCol="1"/>
          <a:lstStyle/>
          <a:p>
            <a:pPr rtl="1"/>
            <a:r>
              <a:rPr lang="ar" dirty="0"/>
              <a:t>أحد الجوانب المهمة في أي خطة هو المراجعة وإجراء أي تحسينات مطلوبة</a:t>
            </a:r>
          </a:p>
          <a:p>
            <a:pPr rtl="1"/>
            <a:r>
              <a:rPr lang="ar" dirty="0"/>
              <a:t>فكر في كيفية تلقي التعليقات من الجمهور؟</a:t>
            </a:r>
          </a:p>
          <a:p>
            <a:pPr rtl="1"/>
            <a:r>
              <a:rPr lang="ar" dirty="0"/>
              <a:t>كيف ستفكر في الخطة؟</a:t>
            </a:r>
          </a:p>
          <a:p>
            <a:pPr rtl="1"/>
            <a:r>
              <a:rPr lang="ar" dirty="0"/>
              <a:t>ماذا ستفعل مع التعليقات؟</a:t>
            </a:r>
          </a:p>
          <a:p>
            <a:pPr rtl="1"/>
            <a:r>
              <a:rPr lang="ar" dirty="0"/>
              <a:t>كيف سيتم تقييم نقاط القوة والضعف في الخطة؟</a:t>
            </a:r>
          </a:p>
          <a:p>
            <a:pPr rtl="1"/>
            <a:r>
              <a:rPr lang="ar" dirty="0"/>
              <a:t>كيف ستساعد هذه التعليقات في تحديد التحسينات على الخطة؟</a:t>
            </a:r>
          </a:p>
        </p:txBody>
      </p:sp>
      <p:sp>
        <p:nvSpPr>
          <p:cNvPr id="4" name="TextBox 3">
            <a:extLst>
              <a:ext uri="{FF2B5EF4-FFF2-40B4-BE49-F238E27FC236}">
                <a16:creationId xmlns:a16="http://schemas.microsoft.com/office/drawing/2014/main" id="{844C3109-0390-77DB-6FEB-CCC301499F0F}"/>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Tree>
    <p:extLst>
      <p:ext uri="{BB962C8B-B14F-4D97-AF65-F5344CB8AC3E}">
        <p14:creationId xmlns:p14="http://schemas.microsoft.com/office/powerpoint/2010/main" val="3486947370"/>
      </p:ext>
    </p:extLst>
  </p:cSld>
  <p:clrMapOvr>
    <a:masterClrMapping/>
  </p:clrMapOvr>
  <p:transition>
    <p:sndAc>
      <p:stSnd>
        <p:snd r:embed="rId2"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4C3109-0390-77DB-6FEB-CCC301499F0F}"/>
              </a:ext>
            </a:extLst>
          </p:cNvPr>
          <p:cNvSpPr txBox="1"/>
          <p:nvPr/>
        </p:nvSpPr>
        <p:spPr>
          <a:xfrm>
            <a:off x="243590" y="6511352"/>
            <a:ext cx="183629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00" dirty="0">
                <a:latin typeface="Arial"/>
                <a:cs typeface="Arial"/>
              </a:rPr>
              <a:t>A10300030266</a:t>
            </a:r>
            <a:endParaRPr lang="en-GB" sz="900" dirty="0"/>
          </a:p>
        </p:txBody>
      </p:sp>
      <p:sp>
        <p:nvSpPr>
          <p:cNvPr id="7" name="Title 1">
            <a:extLst>
              <a:ext uri="{FF2B5EF4-FFF2-40B4-BE49-F238E27FC236}">
                <a16:creationId xmlns:a16="http://schemas.microsoft.com/office/drawing/2014/main" id="{30DD904F-E11A-4175-F73E-AB70FDC33978}"/>
              </a:ext>
            </a:extLst>
          </p:cNvPr>
          <p:cNvSpPr>
            <a:spLocks noGrp="1"/>
          </p:cNvSpPr>
          <p:nvPr>
            <p:ph type="title"/>
          </p:nvPr>
        </p:nvSpPr>
        <p:spPr>
          <a:xfrm>
            <a:off x="457200" y="1195200"/>
            <a:ext cx="8229600" cy="864000"/>
          </a:xfrm>
        </p:spPr>
        <p:txBody>
          <a:bodyPr rtlCol="1"/>
          <a:lstStyle/>
          <a:p>
            <a:pPr rtl="1"/>
            <a:r>
              <a:rPr lang="ar">
                <a:latin typeface="Arial"/>
                <a:cs typeface="Arial"/>
              </a:rPr>
              <a:t>شكر وتقدير</a:t>
            </a:r>
            <a:endParaRPr lang="en-GB" dirty="0"/>
          </a:p>
        </p:txBody>
      </p:sp>
      <p:sp>
        <p:nvSpPr>
          <p:cNvPr id="8" name="Content Placeholder 3">
            <a:extLst>
              <a:ext uri="{FF2B5EF4-FFF2-40B4-BE49-F238E27FC236}">
                <a16:creationId xmlns:a16="http://schemas.microsoft.com/office/drawing/2014/main" id="{B996DE68-8750-4EA8-0FD0-FABEE503EBB4}"/>
              </a:ext>
            </a:extLst>
          </p:cNvPr>
          <p:cNvSpPr>
            <a:spLocks noGrp="1"/>
          </p:cNvSpPr>
          <p:nvPr>
            <p:ph idx="1"/>
          </p:nvPr>
        </p:nvSpPr>
        <p:spPr>
          <a:xfrm>
            <a:off x="468314" y="2196000"/>
            <a:ext cx="8207375" cy="3172212"/>
          </a:xfrm>
        </p:spPr>
        <p:txBody>
          <a:bodyPr rtlCol="1"/>
          <a:lstStyle/>
          <a:p>
            <a:pPr rtl="1"/>
            <a:r>
              <a:rPr lang="ar" sz="2200" b="1" u="sng" dirty="0">
                <a:latin typeface="Arial"/>
                <a:cs typeface="Segoe UI"/>
              </a:rPr>
              <a:t>الصور:</a:t>
            </a:r>
            <a:r>
              <a:rPr lang="ar" sz="2200" dirty="0">
                <a:latin typeface="Arial"/>
                <a:cs typeface="Arial"/>
              </a:rPr>
              <a:t> </a:t>
            </a:r>
          </a:p>
          <a:p>
            <a:pPr rtl="1"/>
            <a:r>
              <a:rPr lang="ar" sz="2200" b="1" dirty="0">
                <a:latin typeface="Arial"/>
                <a:cs typeface="Segoe UI"/>
              </a:rPr>
              <a:t>123RF: </a:t>
            </a:r>
            <a:r>
              <a:rPr lang="ar" sz="2200" dirty="0">
                <a:latin typeface="Arial"/>
                <a:cs typeface="Segoe UI"/>
              </a:rPr>
              <a:t>بنجاماس 11</a:t>
            </a:r>
            <a:r>
              <a:rPr lang="ar" sz="2200" b="1" dirty="0">
                <a:latin typeface="Arial"/>
                <a:cs typeface="Segoe UI"/>
              </a:rPr>
              <a:t>(الشريحة 15)، </a:t>
            </a:r>
            <a:r>
              <a:rPr lang="ar" sz="2200" dirty="0">
                <a:latin typeface="Arial"/>
                <a:cs typeface="Segoe UI"/>
              </a:rPr>
              <a:t>استوديوهات لايتفيلد </a:t>
            </a:r>
            <a:r>
              <a:rPr lang="en" sz="2200" b="1" dirty="0">
                <a:latin typeface="Arial"/>
                <a:cs typeface="Segoe UI"/>
              </a:rPr>
              <a:t>(الشريحة 27)؛ شترستوك:</a:t>
            </a:r>
            <a:r>
              <a:rPr lang="en" sz="2200" dirty="0">
                <a:latin typeface="Arial"/>
                <a:cs typeface="Segoe UI"/>
              </a:rPr>
              <a:t> كل شيء ممكن (الشريحة 1)، إيمتمفوتو (الشريحة 6)، يوليا يسينا (الشريحة 7L)، بوبتيكا (الشريحة 7R)، كينتوه (الشريحة 8)، في جي ستوكسستوديو (الشريحة 16)، نيوارت (الشريحة 17)، Redpixel.Pl (الشريحة 19)، يورغن فيلشل (الشريحة 24)، تيبا بات (الشريحة 30)، Rawpixel.com (الشريحة 32)، تاداميتشي (الشريحة 33)، تكيموت (الشريحة 34)</a:t>
            </a:r>
            <a:endParaRPr lang="en-US" sz="2200" dirty="0">
              <a:latin typeface="Arial"/>
              <a:cs typeface="Arial"/>
            </a:endParaRPr>
          </a:p>
        </p:txBody>
      </p:sp>
    </p:spTree>
    <p:extLst>
      <p:ext uri="{BB962C8B-B14F-4D97-AF65-F5344CB8AC3E}">
        <p14:creationId xmlns:p14="http://schemas.microsoft.com/office/powerpoint/2010/main" val="2207627714"/>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Props1.xml><?xml version="1.0" encoding="utf-8"?>
<ds:datastoreItem xmlns:ds="http://schemas.openxmlformats.org/officeDocument/2006/customXml" ds:itemID="{88F690AA-2782-4E44-B265-8E0FD46DA5E6}"/>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9848C615-482B-4AB5-9FE7-A2F3E6CFF2B1}">
  <ds:schemaRefs>
    <ds:schemaRef ds:uri="6881431a-e3b2-481e-ba90-fae26e2fa83c"/>
    <ds:schemaRef ds:uri="a26a0597-d0d1-4250-940c-88e9bf9d5597"/>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docProps/app.xml><?xml version="1.0" encoding="utf-8"?>
<Properties xmlns="http://schemas.openxmlformats.org/officeDocument/2006/extended-properties" xmlns:vt="http://schemas.openxmlformats.org/officeDocument/2006/docPropsVTypes">
  <TotalTime>289</TotalTime>
  <Words>1606</Words>
  <Application>Microsoft Office PowerPoint</Application>
  <PresentationFormat>On-screen Show (4:3)</PresentationFormat>
  <Paragraphs>341</Paragraphs>
  <Slides>37</Slides>
  <Notes>11</Notes>
  <HiddenSlides>0</HiddenSlides>
  <MMClips>0</MMClips>
  <ScaleCrop>false</ScaleCrop>
  <HeadingPairs>
    <vt:vector size="6" baseType="variant">
      <vt:variant>
        <vt:lpstr>Fonts Used</vt:lpstr>
      </vt:variant>
      <vt:variant>
        <vt:i4>3</vt:i4>
      </vt:variant>
      <vt:variant>
        <vt:lpstr>Theme</vt:lpstr>
      </vt:variant>
      <vt:variant>
        <vt:i4>10</vt:i4>
      </vt:variant>
      <vt:variant>
        <vt:lpstr>Slide Titles</vt:lpstr>
      </vt:variant>
      <vt:variant>
        <vt:i4>37</vt:i4>
      </vt:variant>
    </vt:vector>
  </HeadingPairs>
  <TitlesOfParts>
    <vt:vector size="50" baseType="lpstr">
      <vt:lpstr>Arial</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15 إنشاء شركة صغيرة    </vt:lpstr>
      <vt:lpstr>إنشاء شركة صغيرة </vt:lpstr>
      <vt:lpstr>أهداف التعلّم</vt:lpstr>
      <vt:lpstr>هدف التعلّم أ:  </vt:lpstr>
      <vt:lpstr>PowerPoint Presentation</vt:lpstr>
      <vt:lpstr>فوائد إدارة شركتك الخاصة</vt:lpstr>
      <vt:lpstr>أفكار للشركة الناشئة (1)</vt:lpstr>
      <vt:lpstr>أفكار للشركة الناشئة (2)</vt:lpstr>
      <vt:lpstr>الأهداف والغايات</vt:lpstr>
      <vt:lpstr>الموارد اللازمة لإدارة الشركة </vt:lpstr>
      <vt:lpstr>المهارات اللازمة لإدارة الشركة</vt:lpstr>
      <vt:lpstr>هدف التعلّم ب  </vt:lpstr>
      <vt:lpstr>PowerPoint Presentation</vt:lpstr>
      <vt:lpstr>تحديد السوق المستهدف </vt:lpstr>
      <vt:lpstr>تخطيط أبحاث السوق وشرحها (2)</vt:lpstr>
      <vt:lpstr>تخطيط أبحاث السوق وشرحها (1)</vt:lpstr>
      <vt:lpstr>تخطيط أبحاث السوق وشرحها (3)</vt:lpstr>
      <vt:lpstr>الخطة الترويجية (1)</vt:lpstr>
      <vt:lpstr>الخطة الترويجية (2)</vt:lpstr>
      <vt:lpstr>الخطة الترويجية (3)</vt:lpstr>
      <vt:lpstr>هدف التعلم ج  </vt:lpstr>
      <vt:lpstr>PowerPoint Presentation</vt:lpstr>
      <vt:lpstr>وضع خطة مالية 1</vt:lpstr>
      <vt:lpstr>وضع خطة مالية 2</vt:lpstr>
      <vt:lpstr>المخاطر</vt:lpstr>
      <vt:lpstr>الاعتبارات القانونية</vt:lpstr>
      <vt:lpstr>مصادر المساعدة والتوجيه الإرشادي</vt:lpstr>
      <vt:lpstr>هدف التعلم ج  </vt:lpstr>
      <vt:lpstr>PowerPoint Presentation</vt:lpstr>
      <vt:lpstr>هيكل خطة العمل (1)</vt:lpstr>
      <vt:lpstr>هيكل خطة العمل (2) </vt:lpstr>
      <vt:lpstr>عرض المعلومات (1) </vt:lpstr>
      <vt:lpstr>عرض المعلومات (2) </vt:lpstr>
      <vt:lpstr>عرض المعلومات (3) </vt:lpstr>
      <vt:lpstr>طرح الخطة (1) </vt:lpstr>
      <vt:lpstr>مراجعة الخطة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558</cp:revision>
  <dcterms:created xsi:type="dcterms:W3CDTF">2020-07-15T07:14:47Z</dcterms:created>
  <dcterms:modified xsi:type="dcterms:W3CDTF">2023-12-04T12:19:38Z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