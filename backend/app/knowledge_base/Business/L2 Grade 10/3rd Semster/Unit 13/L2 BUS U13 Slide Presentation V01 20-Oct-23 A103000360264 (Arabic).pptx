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7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8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9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9"/>
  </p:notesMasterIdLst>
  <p:sldIdLst>
    <p:sldId id="256" r:id="rId14"/>
    <p:sldId id="257" r:id="rId15"/>
    <p:sldId id="258" r:id="rId16"/>
    <p:sldId id="272" r:id="rId17"/>
    <p:sldId id="310" r:id="rId18"/>
    <p:sldId id="311" r:id="rId19"/>
    <p:sldId id="313" r:id="rId20"/>
    <p:sldId id="312" r:id="rId21"/>
    <p:sldId id="314" r:id="rId22"/>
    <p:sldId id="315" r:id="rId23"/>
    <p:sldId id="307" r:id="rId24"/>
    <p:sldId id="316" r:id="rId25"/>
    <p:sldId id="317" r:id="rId26"/>
    <p:sldId id="318" r:id="rId27"/>
    <p:sldId id="319" r:id="rId28"/>
    <p:sldId id="320" r:id="rId29"/>
    <p:sldId id="321" r:id="rId30"/>
    <p:sldId id="338" r:id="rId31"/>
    <p:sldId id="322" r:id="rId32"/>
    <p:sldId id="323" r:id="rId33"/>
    <p:sldId id="324" r:id="rId34"/>
    <p:sldId id="325" r:id="rId35"/>
    <p:sldId id="326" r:id="rId36"/>
    <p:sldId id="327" r:id="rId37"/>
    <p:sldId id="328" r:id="rId38"/>
    <p:sldId id="329" r:id="rId39"/>
    <p:sldId id="330" r:id="rId40"/>
    <p:sldId id="331" r:id="rId41"/>
    <p:sldId id="332" r:id="rId42"/>
    <p:sldId id="333" r:id="rId43"/>
    <p:sldId id="334" r:id="rId44"/>
    <p:sldId id="335" r:id="rId45"/>
    <p:sldId id="336" r:id="rId46"/>
    <p:sldId id="337" r:id="rId47"/>
    <p:sldId id="339" r:id="rId48"/>
  </p:sldIdLst>
  <p:sldSz cx="9144000" cy="6858000" type="screen4x3"/>
  <p:notesSz cx="6858000" cy="9144000"/>
  <p:defaultTextStyle>
    <a:defPPr algn="r" rtl="1">
      <a:defRPr lang="ar-MA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E58A21-73BE-8CCF-9B7C-342AF999FA9B}" name="Sarah Langley" initials="SL" userId="S::sarah.langley@pearson.com::239c5547-87b3-47be-8ff1-783a9a4cc887" providerId="AD"/>
  <p188:author id="{6FDBFC67-9819-D7C1-F866-0642AC86B9FF}" name="Sarah Langley" initials="SL" userId="S::Sarah.Langley@pearson.com::239c5547-87b3-47be-8ff1-783a9a4cc88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860F5D-E51E-1E1A-AE90-9A885D3A2202}" v="10" dt="2023-10-20T15:41:49.630"/>
    <p1510:client id="{98AA0E88-E14E-1455-B684-80FFF7E0DEEB}" v="1" dt="2023-10-03T09:17:51.107"/>
    <p1510:client id="{EB23C252-288D-7375-4738-E7ABB49B295C}" v="4" dt="2023-09-30T07:20:27.516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13" autoAdjust="0"/>
    <p:restoredTop sz="95314" autoAdjust="0"/>
  </p:normalViewPr>
  <p:slideViewPr>
    <p:cSldViewPr snapToGrid="0">
      <p:cViewPr varScale="1">
        <p:scale>
          <a:sx n="162" d="100"/>
          <a:sy n="162" d="100"/>
        </p:scale>
        <p:origin x="1782" y="144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commentAuthors" Target="commentAuthors.xml"/><Relationship Id="rId55" Type="http://schemas.microsoft.com/office/2015/10/relationships/revisionInfo" Target="revisionInfo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microsoft.com/office/2018/10/relationships/authors" Target="authors.xml"/><Relationship Id="rId8" Type="http://schemas.openxmlformats.org/officeDocument/2006/relationships/slideMaster" Target="slideMasters/slideMaster5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image" Target="../media/image1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816D63-968C-4A55-9BEC-59743BC029E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12B01A0F-D3DB-4483-A684-EB3CDDB8C402}">
      <dgm:prSet/>
      <dgm:spPr/>
      <dgm:t>
        <a:bodyPr rtlCol="1"/>
        <a:lstStyle/>
        <a:p>
          <a:pPr algn="r" rtl="1">
            <a:lnSpc>
              <a:spcPct val="100000"/>
            </a:lnSpc>
          </a:pPr>
          <a:r>
            <a:rPr lang="ar" b="1" dirty="0"/>
            <a:t>أ: فهم قيم الشركات والقيم الأخلاقية </a:t>
          </a:r>
          <a:endParaRPr lang="en-US" dirty="0"/>
        </a:p>
      </dgm:t>
    </dgm:pt>
    <dgm:pt modelId="{244FE7CD-09C9-4649-8078-2981EDCAFAF5}" type="parTrans" cxnId="{7C02C89A-B90E-4191-82FD-9CE4845EA376}">
      <dgm:prSet/>
      <dgm:spPr/>
      <dgm:t>
        <a:bodyPr rtlCol="1"/>
        <a:lstStyle/>
        <a:p>
          <a:pPr rtl="1"/>
          <a:endParaRPr lang="en-US"/>
        </a:p>
      </dgm:t>
    </dgm:pt>
    <dgm:pt modelId="{213FB626-D022-4DCE-A47B-D3479E29F97C}" type="sibTrans" cxnId="{7C02C89A-B90E-4191-82FD-9CE4845EA376}">
      <dgm:prSet/>
      <dgm:spPr/>
      <dgm:t>
        <a:bodyPr rtlCol="1"/>
        <a:lstStyle/>
        <a:p>
          <a:pPr rtl="1"/>
          <a:endParaRPr lang="en-US"/>
        </a:p>
      </dgm:t>
    </dgm:pt>
    <dgm:pt modelId="{56923969-828A-4BA8-B3D8-0D78B3954F0B}">
      <dgm:prSet/>
      <dgm:spPr/>
      <dgm:t>
        <a:bodyPr rtlCol="1"/>
        <a:lstStyle/>
        <a:p>
          <a:pPr algn="r" rtl="1">
            <a:lnSpc>
              <a:spcPct val="100000"/>
            </a:lnSpc>
          </a:pPr>
          <a:r>
            <a:rPr lang="ar" b="1" dirty="0"/>
            <a:t>ب: اكتشاف الطرق التي يمكن أن تتسم من خلالها </a:t>
          </a:r>
          <a:br>
            <a:rPr lang="ar-EG" b="1" dirty="0"/>
          </a:br>
          <a:r>
            <a:rPr lang="ar" b="1" dirty="0"/>
            <a:t>الشركات بالأخلاقية </a:t>
          </a:r>
          <a:endParaRPr lang="en-US" dirty="0"/>
        </a:p>
      </dgm:t>
    </dgm:pt>
    <dgm:pt modelId="{EDE96EA5-4272-4597-87C5-810736A70304}" type="parTrans" cxnId="{E1B2C347-2E28-49E0-B2E7-EDCC0F166AA5}">
      <dgm:prSet/>
      <dgm:spPr/>
      <dgm:t>
        <a:bodyPr rtlCol="1"/>
        <a:lstStyle/>
        <a:p>
          <a:pPr rtl="1"/>
          <a:endParaRPr lang="en-US"/>
        </a:p>
      </dgm:t>
    </dgm:pt>
    <dgm:pt modelId="{70055B61-415C-4256-B450-DFA4CB0F7EED}" type="sibTrans" cxnId="{E1B2C347-2E28-49E0-B2E7-EDCC0F166AA5}">
      <dgm:prSet/>
      <dgm:spPr/>
      <dgm:t>
        <a:bodyPr rtlCol="1"/>
        <a:lstStyle/>
        <a:p>
          <a:pPr rtl="1"/>
          <a:endParaRPr lang="en-US"/>
        </a:p>
      </dgm:t>
    </dgm:pt>
    <dgm:pt modelId="{598D8A68-E8AD-4E27-A32D-3D74B2BA7A6D}">
      <dgm:prSet/>
      <dgm:spPr/>
      <dgm:t>
        <a:bodyPr rtlCol="1"/>
        <a:lstStyle/>
        <a:p>
          <a:pPr algn="r" rtl="1">
            <a:lnSpc>
              <a:spcPct val="100000"/>
            </a:lnSpc>
          </a:pPr>
          <a:r>
            <a:rPr lang="ar" b="1" dirty="0"/>
            <a:t>ج: تصميم سياسة أخلاقية لشركات مُحددة </a:t>
          </a:r>
          <a:endParaRPr lang="en-US" dirty="0"/>
        </a:p>
      </dgm:t>
    </dgm:pt>
    <dgm:pt modelId="{EA6FABF3-11AF-411B-82BF-6182842CCEF1}" type="parTrans" cxnId="{E19F1C02-E2E7-4263-B5BC-C09B8E53EF5C}">
      <dgm:prSet/>
      <dgm:spPr/>
      <dgm:t>
        <a:bodyPr rtlCol="1"/>
        <a:lstStyle/>
        <a:p>
          <a:pPr rtl="1"/>
          <a:endParaRPr lang="en-US"/>
        </a:p>
      </dgm:t>
    </dgm:pt>
    <dgm:pt modelId="{B9AE1657-59C9-45E6-AF59-CFC463F25A19}" type="sibTrans" cxnId="{E19F1C02-E2E7-4263-B5BC-C09B8E53EF5C}">
      <dgm:prSet/>
      <dgm:spPr/>
      <dgm:t>
        <a:bodyPr rtlCol="1"/>
        <a:lstStyle/>
        <a:p>
          <a:pPr rtl="1"/>
          <a:endParaRPr lang="en-US"/>
        </a:p>
      </dgm:t>
    </dgm:pt>
    <dgm:pt modelId="{61067BF9-26D6-4B13-BDFD-7E74DD3567ED}" type="pres">
      <dgm:prSet presAssocID="{49816D63-968C-4A55-9BEC-59743BC029E6}" presName="root" presStyleCnt="0">
        <dgm:presLayoutVars>
          <dgm:dir val="rev"/>
          <dgm:resizeHandles val="exact"/>
        </dgm:presLayoutVars>
      </dgm:prSet>
      <dgm:spPr/>
    </dgm:pt>
    <dgm:pt modelId="{EE92A8AE-98EB-489C-B356-A192728D5660}" type="pres">
      <dgm:prSet presAssocID="{12B01A0F-D3DB-4483-A684-EB3CDDB8C402}" presName="compNode" presStyleCnt="0"/>
      <dgm:spPr/>
    </dgm:pt>
    <dgm:pt modelId="{C459F91B-A412-4046-9AE9-167787D1DE0B}" type="pres">
      <dgm:prSet presAssocID="{12B01A0F-D3DB-4483-A684-EB3CDDB8C402}" presName="bgRect" presStyleLbl="bgShp" presStyleIdx="0" presStyleCnt="3"/>
      <dgm:spPr/>
    </dgm:pt>
    <dgm:pt modelId="{F189B75D-60E8-4A38-AC23-0DC503925009}" type="pres">
      <dgm:prSet presAssocID="{12B01A0F-D3DB-4483-A684-EB3CDDB8C402}" presName="iconRect" presStyleLbl="node1" presStyleIdx="0" presStyleCnt="3" custLinFactX="545026" custLinFactNeighborX="600000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 with solid fill"/>
        </a:ext>
      </dgm:extLst>
    </dgm:pt>
    <dgm:pt modelId="{2A0C591D-F2EB-412E-9E5F-4B0B488D452A}" type="pres">
      <dgm:prSet presAssocID="{12B01A0F-D3DB-4483-A684-EB3CDDB8C402}" presName="spaceRect" presStyleCnt="0"/>
      <dgm:spPr/>
    </dgm:pt>
    <dgm:pt modelId="{BA239B92-C7E8-4937-BA2F-63BBE1282096}" type="pres">
      <dgm:prSet presAssocID="{12B01A0F-D3DB-4483-A684-EB3CDDB8C402}" presName="parTx" presStyleLbl="revTx" presStyleIdx="0" presStyleCnt="3" custLinFactNeighborX="-18206">
        <dgm:presLayoutVars>
          <dgm:chMax val="0"/>
          <dgm:chPref val="0"/>
        </dgm:presLayoutVars>
      </dgm:prSet>
      <dgm:spPr/>
    </dgm:pt>
    <dgm:pt modelId="{25B81F6A-4678-4CB6-B870-DCC32B8BE308}" type="pres">
      <dgm:prSet presAssocID="{213FB626-D022-4DCE-A47B-D3479E29F97C}" presName="sibTrans" presStyleCnt="0"/>
      <dgm:spPr/>
    </dgm:pt>
    <dgm:pt modelId="{580F3AD1-2DCA-4977-8677-DFF4FB7EA121}" type="pres">
      <dgm:prSet presAssocID="{56923969-828A-4BA8-B3D8-0D78B3954F0B}" presName="compNode" presStyleCnt="0"/>
      <dgm:spPr/>
    </dgm:pt>
    <dgm:pt modelId="{F43D942C-5076-405B-826A-BC7DA2026AC7}" type="pres">
      <dgm:prSet presAssocID="{56923969-828A-4BA8-B3D8-0D78B3954F0B}" presName="bgRect" presStyleLbl="bgShp" presStyleIdx="1" presStyleCnt="3"/>
      <dgm:spPr/>
    </dgm:pt>
    <dgm:pt modelId="{8ED43BA3-C6FA-40D0-98FE-78504CE20FC3}" type="pres">
      <dgm:prSet presAssocID="{56923969-828A-4BA8-B3D8-0D78B3954F0B}" presName="iconRect" presStyleLbl="node1" presStyleIdx="1" presStyleCnt="3" custLinFactX="545026" custLinFactNeighborX="600000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 with solid fill"/>
        </a:ext>
      </dgm:extLst>
    </dgm:pt>
    <dgm:pt modelId="{379730B0-BB0B-40F6-B12D-8E859490F291}" type="pres">
      <dgm:prSet presAssocID="{56923969-828A-4BA8-B3D8-0D78B3954F0B}" presName="spaceRect" presStyleCnt="0"/>
      <dgm:spPr/>
    </dgm:pt>
    <dgm:pt modelId="{C2A8200A-96B4-428C-8E55-83C8FFDC1FB3}" type="pres">
      <dgm:prSet presAssocID="{56923969-828A-4BA8-B3D8-0D78B3954F0B}" presName="parTx" presStyleLbl="revTx" presStyleIdx="1" presStyleCnt="3" custLinFactNeighborX="-18206">
        <dgm:presLayoutVars>
          <dgm:chMax val="0"/>
          <dgm:chPref val="0"/>
        </dgm:presLayoutVars>
      </dgm:prSet>
      <dgm:spPr/>
    </dgm:pt>
    <dgm:pt modelId="{482FED42-60A7-4FE7-BD43-C9E3D9677997}" type="pres">
      <dgm:prSet presAssocID="{70055B61-415C-4256-B450-DFA4CB0F7EED}" presName="sibTrans" presStyleCnt="0"/>
      <dgm:spPr/>
    </dgm:pt>
    <dgm:pt modelId="{46D7A108-654E-406E-BCC7-B53E4001F28C}" type="pres">
      <dgm:prSet presAssocID="{598D8A68-E8AD-4E27-A32D-3D74B2BA7A6D}" presName="compNode" presStyleCnt="0"/>
      <dgm:spPr/>
    </dgm:pt>
    <dgm:pt modelId="{875D741C-CAD9-4AF6-B4FA-DE20C2DFD952}" type="pres">
      <dgm:prSet presAssocID="{598D8A68-E8AD-4E27-A32D-3D74B2BA7A6D}" presName="bgRect" presStyleLbl="bgShp" presStyleIdx="2" presStyleCnt="3"/>
      <dgm:spPr/>
    </dgm:pt>
    <dgm:pt modelId="{848AB56E-E0E6-4724-B224-7DF8D29317AC}" type="pres">
      <dgm:prSet presAssocID="{598D8A68-E8AD-4E27-A32D-3D74B2BA7A6D}" presName="iconRect" presStyleLbl="node1" presStyleIdx="2" presStyleCnt="3" custLinFactX="545026" custLinFactNeighborX="6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A7CBF6A5-1ACE-4DC2-AC44-C42A787C6B4C}" type="pres">
      <dgm:prSet presAssocID="{598D8A68-E8AD-4E27-A32D-3D74B2BA7A6D}" presName="spaceRect" presStyleCnt="0"/>
      <dgm:spPr/>
    </dgm:pt>
    <dgm:pt modelId="{27D209A1-A39C-4A34-A67B-7F58F8B67DCB}" type="pres">
      <dgm:prSet presAssocID="{598D8A68-E8AD-4E27-A32D-3D74B2BA7A6D}" presName="parTx" presStyleLbl="revTx" presStyleIdx="2" presStyleCnt="3" custLinFactNeighborX="-18206">
        <dgm:presLayoutVars>
          <dgm:chMax val="0"/>
          <dgm:chPref val="0"/>
        </dgm:presLayoutVars>
      </dgm:prSet>
      <dgm:spPr/>
    </dgm:pt>
  </dgm:ptLst>
  <dgm:cxnLst>
    <dgm:cxn modelId="{E19F1C02-E2E7-4263-B5BC-C09B8E53EF5C}" srcId="{49816D63-968C-4A55-9BEC-59743BC029E6}" destId="{598D8A68-E8AD-4E27-A32D-3D74B2BA7A6D}" srcOrd="2" destOrd="0" parTransId="{EA6FABF3-11AF-411B-82BF-6182842CCEF1}" sibTransId="{B9AE1657-59C9-45E6-AF59-CFC463F25A19}"/>
    <dgm:cxn modelId="{21871D64-72DA-4E05-A3A7-0FB94129F53A}" type="presOf" srcId="{12B01A0F-D3DB-4483-A684-EB3CDDB8C402}" destId="{BA239B92-C7E8-4937-BA2F-63BBE1282096}" srcOrd="0" destOrd="0" presId="urn:microsoft.com/office/officeart/2018/2/layout/IconVerticalSolidList"/>
    <dgm:cxn modelId="{E1B2C347-2E28-49E0-B2E7-EDCC0F166AA5}" srcId="{49816D63-968C-4A55-9BEC-59743BC029E6}" destId="{56923969-828A-4BA8-B3D8-0D78B3954F0B}" srcOrd="1" destOrd="0" parTransId="{EDE96EA5-4272-4597-87C5-810736A70304}" sibTransId="{70055B61-415C-4256-B450-DFA4CB0F7EED}"/>
    <dgm:cxn modelId="{2EB42E8D-072D-471C-8F88-52777522F152}" type="presOf" srcId="{56923969-828A-4BA8-B3D8-0D78B3954F0B}" destId="{C2A8200A-96B4-428C-8E55-83C8FFDC1FB3}" srcOrd="0" destOrd="0" presId="urn:microsoft.com/office/officeart/2018/2/layout/IconVerticalSolidList"/>
    <dgm:cxn modelId="{7C02C89A-B90E-4191-82FD-9CE4845EA376}" srcId="{49816D63-968C-4A55-9BEC-59743BC029E6}" destId="{12B01A0F-D3DB-4483-A684-EB3CDDB8C402}" srcOrd="0" destOrd="0" parTransId="{244FE7CD-09C9-4649-8078-2981EDCAFAF5}" sibTransId="{213FB626-D022-4DCE-A47B-D3479E29F97C}"/>
    <dgm:cxn modelId="{F24098B8-8C9A-4C74-8826-7D1C2C7757A8}" type="presOf" srcId="{598D8A68-E8AD-4E27-A32D-3D74B2BA7A6D}" destId="{27D209A1-A39C-4A34-A67B-7F58F8B67DCB}" srcOrd="0" destOrd="0" presId="urn:microsoft.com/office/officeart/2018/2/layout/IconVerticalSolidList"/>
    <dgm:cxn modelId="{390716D4-D918-415D-BB23-40D401583C72}" type="presOf" srcId="{49816D63-968C-4A55-9BEC-59743BC029E6}" destId="{61067BF9-26D6-4B13-BDFD-7E74DD3567ED}" srcOrd="0" destOrd="0" presId="urn:microsoft.com/office/officeart/2018/2/layout/IconVerticalSolidList"/>
    <dgm:cxn modelId="{CEE4C875-104F-4F56-AC4D-07E0D11E2784}" type="presParOf" srcId="{61067BF9-26D6-4B13-BDFD-7E74DD3567ED}" destId="{EE92A8AE-98EB-489C-B356-A192728D5660}" srcOrd="0" destOrd="0" presId="urn:microsoft.com/office/officeart/2018/2/layout/IconVerticalSolidList"/>
    <dgm:cxn modelId="{6BB7D70E-5A1A-4B44-8F6A-EEFC223B3E0E}" type="presParOf" srcId="{EE92A8AE-98EB-489C-B356-A192728D5660}" destId="{C459F91B-A412-4046-9AE9-167787D1DE0B}" srcOrd="0" destOrd="0" presId="urn:microsoft.com/office/officeart/2018/2/layout/IconVerticalSolidList"/>
    <dgm:cxn modelId="{E89F0CE3-15FD-4EF2-943B-F2965FDC7317}" type="presParOf" srcId="{EE92A8AE-98EB-489C-B356-A192728D5660}" destId="{F189B75D-60E8-4A38-AC23-0DC503925009}" srcOrd="1" destOrd="0" presId="urn:microsoft.com/office/officeart/2018/2/layout/IconVerticalSolidList"/>
    <dgm:cxn modelId="{7A0AF181-8637-40C7-A816-94387AC86CCC}" type="presParOf" srcId="{EE92A8AE-98EB-489C-B356-A192728D5660}" destId="{2A0C591D-F2EB-412E-9E5F-4B0B488D452A}" srcOrd="2" destOrd="0" presId="urn:microsoft.com/office/officeart/2018/2/layout/IconVerticalSolidList"/>
    <dgm:cxn modelId="{128FC341-090F-4ED6-99A1-1CF1EE98946B}" type="presParOf" srcId="{EE92A8AE-98EB-489C-B356-A192728D5660}" destId="{BA239B92-C7E8-4937-BA2F-63BBE1282096}" srcOrd="3" destOrd="0" presId="urn:microsoft.com/office/officeart/2018/2/layout/IconVerticalSolidList"/>
    <dgm:cxn modelId="{D238C958-9E0F-4587-9B4F-8CC0813D5DA1}" type="presParOf" srcId="{61067BF9-26D6-4B13-BDFD-7E74DD3567ED}" destId="{25B81F6A-4678-4CB6-B870-DCC32B8BE308}" srcOrd="1" destOrd="0" presId="urn:microsoft.com/office/officeart/2018/2/layout/IconVerticalSolidList"/>
    <dgm:cxn modelId="{4D0B7B5A-6085-4659-AC79-2896A5F43A95}" type="presParOf" srcId="{61067BF9-26D6-4B13-BDFD-7E74DD3567ED}" destId="{580F3AD1-2DCA-4977-8677-DFF4FB7EA121}" srcOrd="2" destOrd="0" presId="urn:microsoft.com/office/officeart/2018/2/layout/IconVerticalSolidList"/>
    <dgm:cxn modelId="{1A411787-0573-4F84-B27E-E69EC2A3C339}" type="presParOf" srcId="{580F3AD1-2DCA-4977-8677-DFF4FB7EA121}" destId="{F43D942C-5076-405B-826A-BC7DA2026AC7}" srcOrd="0" destOrd="0" presId="urn:microsoft.com/office/officeart/2018/2/layout/IconVerticalSolidList"/>
    <dgm:cxn modelId="{83BB126A-927E-4E1F-9431-51C4DBDD6768}" type="presParOf" srcId="{580F3AD1-2DCA-4977-8677-DFF4FB7EA121}" destId="{8ED43BA3-C6FA-40D0-98FE-78504CE20FC3}" srcOrd="1" destOrd="0" presId="urn:microsoft.com/office/officeart/2018/2/layout/IconVerticalSolidList"/>
    <dgm:cxn modelId="{E8658007-9D23-47E4-8C2D-7C1D9AD63447}" type="presParOf" srcId="{580F3AD1-2DCA-4977-8677-DFF4FB7EA121}" destId="{379730B0-BB0B-40F6-B12D-8E859490F291}" srcOrd="2" destOrd="0" presId="urn:microsoft.com/office/officeart/2018/2/layout/IconVerticalSolidList"/>
    <dgm:cxn modelId="{37E0060B-F65C-4FE0-A1ED-0A3EE55B1234}" type="presParOf" srcId="{580F3AD1-2DCA-4977-8677-DFF4FB7EA121}" destId="{C2A8200A-96B4-428C-8E55-83C8FFDC1FB3}" srcOrd="3" destOrd="0" presId="urn:microsoft.com/office/officeart/2018/2/layout/IconVerticalSolidList"/>
    <dgm:cxn modelId="{65F5E5F1-E2A9-4730-BD3B-34329B1B920E}" type="presParOf" srcId="{61067BF9-26D6-4B13-BDFD-7E74DD3567ED}" destId="{482FED42-60A7-4FE7-BD43-C9E3D9677997}" srcOrd="3" destOrd="0" presId="urn:microsoft.com/office/officeart/2018/2/layout/IconVerticalSolidList"/>
    <dgm:cxn modelId="{8D0F1E27-4C28-49D1-BAD5-02750F697AA1}" type="presParOf" srcId="{61067BF9-26D6-4B13-BDFD-7E74DD3567ED}" destId="{46D7A108-654E-406E-BCC7-B53E4001F28C}" srcOrd="4" destOrd="0" presId="urn:microsoft.com/office/officeart/2018/2/layout/IconVerticalSolidList"/>
    <dgm:cxn modelId="{9F0B78CB-DE2A-4480-830A-E1B80C213EAE}" type="presParOf" srcId="{46D7A108-654E-406E-BCC7-B53E4001F28C}" destId="{875D741C-CAD9-4AF6-B4FA-DE20C2DFD952}" srcOrd="0" destOrd="0" presId="urn:microsoft.com/office/officeart/2018/2/layout/IconVerticalSolidList"/>
    <dgm:cxn modelId="{660DFB20-7B2D-4E52-AC36-8110CEDC70C7}" type="presParOf" srcId="{46D7A108-654E-406E-BCC7-B53E4001F28C}" destId="{848AB56E-E0E6-4724-B224-7DF8D29317AC}" srcOrd="1" destOrd="0" presId="urn:microsoft.com/office/officeart/2018/2/layout/IconVerticalSolidList"/>
    <dgm:cxn modelId="{2162CD32-1CD9-477F-AE6F-33AF5191F8AC}" type="presParOf" srcId="{46D7A108-654E-406E-BCC7-B53E4001F28C}" destId="{A7CBF6A5-1ACE-4DC2-AC44-C42A787C6B4C}" srcOrd="2" destOrd="0" presId="urn:microsoft.com/office/officeart/2018/2/layout/IconVerticalSolidList"/>
    <dgm:cxn modelId="{6FCF57F7-E560-4AB5-9E1B-602752354A33}" type="presParOf" srcId="{46D7A108-654E-406E-BCC7-B53E4001F28C}" destId="{27D209A1-A39C-4A34-A67B-7F58F8B67DC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73F4FFB-BF9F-4EE8-B58E-FFED8E01943B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5FE25653-A7BA-47FB-8073-2B4FA7940492}">
      <dgm:prSet/>
      <dgm:spPr>
        <a:gradFill rotWithShape="0">
          <a:gsLst>
            <a:gs pos="0">
              <a:schemeClr val="accent6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</dgm:spPr>
      <dgm:t>
        <a:bodyPr rtlCol="1"/>
        <a:lstStyle/>
        <a:p>
          <a:pPr rtl="1"/>
          <a:r>
            <a:rPr lang="ar" dirty="0"/>
            <a:t>أ-1 قيم مختلفة للشركات</a:t>
          </a:r>
          <a:endParaRPr lang="en-US" dirty="0"/>
        </a:p>
      </dgm:t>
    </dgm:pt>
    <dgm:pt modelId="{2FF7EEA5-BA7F-4838-809B-A6AA6FFC522A}" type="par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FD9ABB40-9682-4D97-B80C-F7F64D08F683}" type="sib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CCCABDE4-D42F-4A79-80D9-607472E8A4AF}">
      <dgm:prSet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/>
            <a:t>أ-2 قيم أخلاقية مختلفة</a:t>
          </a:r>
          <a:endParaRPr lang="en-US"/>
        </a:p>
      </dgm:t>
    </dgm:pt>
    <dgm:pt modelId="{EAAD90EE-0E21-4401-A75A-1643B5084443}" type="par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F2E7893A-50A6-440B-AD9A-267ED4D45C29}" type="sib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CD26852E-4EBB-497C-89F8-723E96217B92}">
      <dgm:prSet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/>
            <a:t>أ-3 مزايا وعيوب الالتزام بالأخلاقيات</a:t>
          </a:r>
          <a:endParaRPr lang="en-US"/>
        </a:p>
      </dgm:t>
    </dgm:pt>
    <dgm:pt modelId="{FF44BC0D-6132-4107-9BDB-91E2E0B05775}" type="parTrans" cxnId="{BC2540DE-653A-4042-BE5C-F0EE87DAF75D}">
      <dgm:prSet/>
      <dgm:spPr/>
      <dgm:t>
        <a:bodyPr rtlCol="1"/>
        <a:lstStyle/>
        <a:p>
          <a:pPr rtl="1"/>
          <a:endParaRPr lang="en-US"/>
        </a:p>
      </dgm:t>
    </dgm:pt>
    <dgm:pt modelId="{28DEC12D-D78E-456D-B314-F141468F4213}" type="sibTrans" cxnId="{BC2540DE-653A-4042-BE5C-F0EE87DAF75D}">
      <dgm:prSet/>
      <dgm:spPr/>
      <dgm:t>
        <a:bodyPr rtlCol="1"/>
        <a:lstStyle/>
        <a:p>
          <a:pPr rtl="1"/>
          <a:endParaRPr lang="en-US"/>
        </a:p>
      </dgm:t>
    </dgm:pt>
    <dgm:pt modelId="{C2E0F2F4-0C32-9540-9E16-C54508DC64FE}" type="pres">
      <dgm:prSet presAssocID="{273F4FFB-BF9F-4EE8-B58E-FFED8E01943B}" presName="diagram" presStyleCnt="0">
        <dgm:presLayoutVars>
          <dgm:dir val="rev"/>
          <dgm:resizeHandles val="exact"/>
        </dgm:presLayoutVars>
      </dgm:prSet>
      <dgm:spPr/>
    </dgm:pt>
    <dgm:pt modelId="{40B8D0EB-42D3-F94B-89AB-EB0AD8AE92EB}" type="pres">
      <dgm:prSet presAssocID="{5FE25653-A7BA-47FB-8073-2B4FA7940492}" presName="node" presStyleLbl="node1" presStyleIdx="0" presStyleCnt="3">
        <dgm:presLayoutVars>
          <dgm:bulletEnabled val="1"/>
        </dgm:presLayoutVars>
      </dgm:prSet>
      <dgm:spPr/>
    </dgm:pt>
    <dgm:pt modelId="{78681F77-DF3B-7140-A437-26DBEB9D483D}" type="pres">
      <dgm:prSet presAssocID="{FD9ABB40-9682-4D97-B80C-F7F64D08F683}" presName="sibTrans" presStyleCnt="0"/>
      <dgm:spPr/>
    </dgm:pt>
    <dgm:pt modelId="{B54ED087-3C1B-CF4A-BD37-8BCD120117B5}" type="pres">
      <dgm:prSet presAssocID="{CCCABDE4-D42F-4A79-80D9-607472E8A4AF}" presName="node" presStyleLbl="node1" presStyleIdx="1" presStyleCnt="3">
        <dgm:presLayoutVars>
          <dgm:bulletEnabled val="1"/>
        </dgm:presLayoutVars>
      </dgm:prSet>
      <dgm:spPr/>
    </dgm:pt>
    <dgm:pt modelId="{14234F19-D8DF-AA44-9161-829F4C189814}" type="pres">
      <dgm:prSet presAssocID="{F2E7893A-50A6-440B-AD9A-267ED4D45C29}" presName="sibTrans" presStyleCnt="0"/>
      <dgm:spPr/>
    </dgm:pt>
    <dgm:pt modelId="{652427F8-5B2D-D047-8AF1-559BA2B28C2E}" type="pres">
      <dgm:prSet presAssocID="{CD26852E-4EBB-497C-89F8-723E96217B92}" presName="node" presStyleLbl="node1" presStyleIdx="2" presStyleCnt="3">
        <dgm:presLayoutVars>
          <dgm:bulletEnabled val="1"/>
        </dgm:presLayoutVars>
      </dgm:prSet>
      <dgm:spPr/>
    </dgm:pt>
  </dgm:ptLst>
  <dgm:cxnLst>
    <dgm:cxn modelId="{2A0C2303-6DF6-4B31-916D-18CE0E3115D3}" srcId="{273F4FFB-BF9F-4EE8-B58E-FFED8E01943B}" destId="{5FE25653-A7BA-47FB-8073-2B4FA7940492}" srcOrd="0" destOrd="0" parTransId="{2FF7EEA5-BA7F-4838-809B-A6AA6FFC522A}" sibTransId="{FD9ABB40-9682-4D97-B80C-F7F64D08F683}"/>
    <dgm:cxn modelId="{69068D27-FBD3-9441-9E3E-DEF472634792}" type="presOf" srcId="{273F4FFB-BF9F-4EE8-B58E-FFED8E01943B}" destId="{C2E0F2F4-0C32-9540-9E16-C54508DC64FE}" srcOrd="0" destOrd="0" presId="urn:microsoft.com/office/officeart/2005/8/layout/default"/>
    <dgm:cxn modelId="{AC230047-468C-ED4E-A097-45ADDD1F2E24}" type="presOf" srcId="{CD26852E-4EBB-497C-89F8-723E96217B92}" destId="{652427F8-5B2D-D047-8AF1-559BA2B28C2E}" srcOrd="0" destOrd="0" presId="urn:microsoft.com/office/officeart/2005/8/layout/default"/>
    <dgm:cxn modelId="{A6E07272-1A86-7041-98CE-0C88DC03D90E}" type="presOf" srcId="{5FE25653-A7BA-47FB-8073-2B4FA7940492}" destId="{40B8D0EB-42D3-F94B-89AB-EB0AD8AE92EB}" srcOrd="0" destOrd="0" presId="urn:microsoft.com/office/officeart/2005/8/layout/default"/>
    <dgm:cxn modelId="{1154BE59-1B58-418C-9504-EC0D688BA33C}" srcId="{273F4FFB-BF9F-4EE8-B58E-FFED8E01943B}" destId="{CCCABDE4-D42F-4A79-80D9-607472E8A4AF}" srcOrd="1" destOrd="0" parTransId="{EAAD90EE-0E21-4401-A75A-1643B5084443}" sibTransId="{F2E7893A-50A6-440B-AD9A-267ED4D45C29}"/>
    <dgm:cxn modelId="{BC2540DE-653A-4042-BE5C-F0EE87DAF75D}" srcId="{273F4FFB-BF9F-4EE8-B58E-FFED8E01943B}" destId="{CD26852E-4EBB-497C-89F8-723E96217B92}" srcOrd="2" destOrd="0" parTransId="{FF44BC0D-6132-4107-9BDB-91E2E0B05775}" sibTransId="{28DEC12D-D78E-456D-B314-F141468F4213}"/>
    <dgm:cxn modelId="{E004E1EB-AE0A-994E-8348-9DC93705E677}" type="presOf" srcId="{CCCABDE4-D42F-4A79-80D9-607472E8A4AF}" destId="{B54ED087-3C1B-CF4A-BD37-8BCD120117B5}" srcOrd="0" destOrd="0" presId="urn:microsoft.com/office/officeart/2005/8/layout/default"/>
    <dgm:cxn modelId="{20EB66E6-B7A1-8C4A-8F28-EA5AEEC47C45}" type="presParOf" srcId="{C2E0F2F4-0C32-9540-9E16-C54508DC64FE}" destId="{40B8D0EB-42D3-F94B-89AB-EB0AD8AE92EB}" srcOrd="0" destOrd="0" presId="urn:microsoft.com/office/officeart/2005/8/layout/default"/>
    <dgm:cxn modelId="{43B5C04E-2054-7847-AC60-02ED5DDBB451}" type="presParOf" srcId="{C2E0F2F4-0C32-9540-9E16-C54508DC64FE}" destId="{78681F77-DF3B-7140-A437-26DBEB9D483D}" srcOrd="1" destOrd="0" presId="urn:microsoft.com/office/officeart/2005/8/layout/default"/>
    <dgm:cxn modelId="{5F30B89E-5462-8A43-BD41-BECD0CD7548D}" type="presParOf" srcId="{C2E0F2F4-0C32-9540-9E16-C54508DC64FE}" destId="{B54ED087-3C1B-CF4A-BD37-8BCD120117B5}" srcOrd="2" destOrd="0" presId="urn:microsoft.com/office/officeart/2005/8/layout/default"/>
    <dgm:cxn modelId="{3CA190B2-FE22-B649-85CC-400B6894C91D}" type="presParOf" srcId="{C2E0F2F4-0C32-9540-9E16-C54508DC64FE}" destId="{14234F19-D8DF-AA44-9161-829F4C189814}" srcOrd="3" destOrd="0" presId="urn:microsoft.com/office/officeart/2005/8/layout/default"/>
    <dgm:cxn modelId="{21AB928B-AA63-7646-BD0B-9DB32887F788}" type="presParOf" srcId="{C2E0F2F4-0C32-9540-9E16-C54508DC64FE}" destId="{652427F8-5B2D-D047-8AF1-559BA2B28C2E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3F4FFB-BF9F-4EE8-B58E-FFED8E01943B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5FE25653-A7BA-47FB-8073-2B4FA7940492}">
      <dgm:prSet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 dirty="0">
              <a:solidFill>
                <a:srgbClr val="7030A0"/>
              </a:solidFill>
            </a:rPr>
            <a:t>ب-1 الطرق التي تعتبر بها الشركات أخلاقية تجاه الموظفين</a:t>
          </a:r>
          <a:endParaRPr lang="en-US" dirty="0">
            <a:solidFill>
              <a:srgbClr val="7030A0"/>
            </a:solidFill>
          </a:endParaRPr>
        </a:p>
      </dgm:t>
    </dgm:pt>
    <dgm:pt modelId="{2FF7EEA5-BA7F-4838-809B-A6AA6FFC522A}" type="par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FD9ABB40-9682-4D97-B80C-F7F64D08F683}" type="sibTrans" cxnId="{2A0C2303-6DF6-4B31-916D-18CE0E3115D3}">
      <dgm:prSet/>
      <dgm:spPr/>
      <dgm:t>
        <a:bodyPr rtlCol="1"/>
        <a:lstStyle/>
        <a:p>
          <a:pPr rtl="1"/>
          <a:endParaRPr lang="en-US"/>
        </a:p>
      </dgm:t>
    </dgm:pt>
    <dgm:pt modelId="{CCCABDE4-D42F-4A79-80D9-607472E8A4AF}">
      <dgm:prSet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>
              <a:solidFill>
                <a:srgbClr val="7030A0"/>
              </a:solidFill>
            </a:rPr>
            <a:t>ب-2 طرق التي تتسم الشركات من خلالها بالأخلاقية تجاه الموردين</a:t>
          </a:r>
          <a:endParaRPr lang="en-US" dirty="0">
            <a:solidFill>
              <a:srgbClr val="7030A0"/>
            </a:solidFill>
          </a:endParaRPr>
        </a:p>
      </dgm:t>
    </dgm:pt>
    <dgm:pt modelId="{EAAD90EE-0E21-4401-A75A-1643B5084443}" type="par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F2E7893A-50A6-440B-AD9A-267ED4D45C29}" type="sibTrans" cxnId="{1154BE59-1B58-418C-9504-EC0D688BA33C}">
      <dgm:prSet/>
      <dgm:spPr/>
      <dgm:t>
        <a:bodyPr rtlCol="1"/>
        <a:lstStyle/>
        <a:p>
          <a:pPr rtl="1"/>
          <a:endParaRPr lang="en-US"/>
        </a:p>
      </dgm:t>
    </dgm:pt>
    <dgm:pt modelId="{CD26852E-4EBB-497C-89F8-723E96217B92}">
      <dgm:prSet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>
              <a:solidFill>
                <a:srgbClr val="7030A0"/>
              </a:solidFill>
            </a:rPr>
            <a:t>ب-3 الطرق التي تعتبر بها الشركات أخلاقية تجاه العملاء</a:t>
          </a:r>
          <a:endParaRPr lang="en-US" dirty="0">
            <a:solidFill>
              <a:srgbClr val="7030A0"/>
            </a:solidFill>
          </a:endParaRPr>
        </a:p>
      </dgm:t>
    </dgm:pt>
    <dgm:pt modelId="{FF44BC0D-6132-4107-9BDB-91E2E0B05775}" type="parTrans" cxnId="{BC2540DE-653A-4042-BE5C-F0EE87DAF75D}">
      <dgm:prSet/>
      <dgm:spPr/>
      <dgm:t>
        <a:bodyPr rtlCol="1"/>
        <a:lstStyle/>
        <a:p>
          <a:pPr rtl="1"/>
          <a:endParaRPr lang="en-US"/>
        </a:p>
      </dgm:t>
    </dgm:pt>
    <dgm:pt modelId="{28DEC12D-D78E-456D-B314-F141468F4213}" type="sibTrans" cxnId="{BC2540DE-653A-4042-BE5C-F0EE87DAF75D}">
      <dgm:prSet/>
      <dgm:spPr/>
      <dgm:t>
        <a:bodyPr rtlCol="1"/>
        <a:lstStyle/>
        <a:p>
          <a:pPr rtl="1"/>
          <a:endParaRPr lang="en-US"/>
        </a:p>
      </dgm:t>
    </dgm:pt>
    <dgm:pt modelId="{6380D24D-0EB9-4E11-8B76-22B77D021AE1}">
      <dgm:prSet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>
              <a:solidFill>
                <a:srgbClr val="7030A0"/>
              </a:solidFill>
            </a:rPr>
            <a:t>ب-4 الطرق التي تعتبر بها الشركات أخلاقية تجاه المجتمع</a:t>
          </a:r>
          <a:endParaRPr lang="en-US" dirty="0">
            <a:solidFill>
              <a:srgbClr val="7030A0"/>
            </a:solidFill>
          </a:endParaRPr>
        </a:p>
      </dgm:t>
    </dgm:pt>
    <dgm:pt modelId="{1E5C4149-00F4-4747-8A0A-9914DA31851B}" type="parTrans" cxnId="{355E4D63-9E1E-4970-B987-AFBFEDB2B001}">
      <dgm:prSet/>
      <dgm:spPr/>
      <dgm:t>
        <a:bodyPr rtlCol="1"/>
        <a:lstStyle/>
        <a:p>
          <a:pPr rtl="1"/>
          <a:endParaRPr lang="en-US"/>
        </a:p>
      </dgm:t>
    </dgm:pt>
    <dgm:pt modelId="{F48FB7C8-A8F1-4203-8B6F-EC49F60A6F0B}" type="sibTrans" cxnId="{355E4D63-9E1E-4970-B987-AFBFEDB2B001}">
      <dgm:prSet/>
      <dgm:spPr/>
      <dgm:t>
        <a:bodyPr rtlCol="1"/>
        <a:lstStyle/>
        <a:p>
          <a:pPr rtl="1"/>
          <a:endParaRPr lang="en-US"/>
        </a:p>
      </dgm:t>
    </dgm:pt>
    <dgm:pt modelId="{C8FB2ADB-AE2C-4716-BE50-1111533F4208}">
      <dgm:prSet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>
              <a:solidFill>
                <a:srgbClr val="7030A0"/>
              </a:solidFill>
            </a:rPr>
            <a:t>ب-5 المخاطر المحتملة على الشركة إذا لم تتم معالجة المشكلات الأخلاقية</a:t>
          </a:r>
          <a:endParaRPr lang="en-US" dirty="0">
            <a:solidFill>
              <a:srgbClr val="7030A0"/>
            </a:solidFill>
          </a:endParaRPr>
        </a:p>
      </dgm:t>
    </dgm:pt>
    <dgm:pt modelId="{4E40171B-61C2-4503-972D-2B9A90C8F07A}" type="parTrans" cxnId="{17F7478D-4BD4-481F-8114-2B5B20264E08}">
      <dgm:prSet/>
      <dgm:spPr/>
      <dgm:t>
        <a:bodyPr rtlCol="1"/>
        <a:lstStyle/>
        <a:p>
          <a:pPr rtl="1"/>
          <a:endParaRPr lang="en-US"/>
        </a:p>
      </dgm:t>
    </dgm:pt>
    <dgm:pt modelId="{D8E5E9EB-D5E7-48E7-82CA-3D03A4282933}" type="sibTrans" cxnId="{17F7478D-4BD4-481F-8114-2B5B20264E08}">
      <dgm:prSet/>
      <dgm:spPr/>
      <dgm:t>
        <a:bodyPr rtlCol="1"/>
        <a:lstStyle/>
        <a:p>
          <a:pPr rtl="1"/>
          <a:endParaRPr lang="en-US"/>
        </a:p>
      </dgm:t>
    </dgm:pt>
    <dgm:pt modelId="{C2E0F2F4-0C32-9540-9E16-C54508DC64FE}" type="pres">
      <dgm:prSet presAssocID="{273F4FFB-BF9F-4EE8-B58E-FFED8E01943B}" presName="diagram" presStyleCnt="0">
        <dgm:presLayoutVars>
          <dgm:dir val="rev"/>
          <dgm:resizeHandles val="exact"/>
        </dgm:presLayoutVars>
      </dgm:prSet>
      <dgm:spPr/>
    </dgm:pt>
    <dgm:pt modelId="{40B8D0EB-42D3-F94B-89AB-EB0AD8AE92EB}" type="pres">
      <dgm:prSet presAssocID="{5FE25653-A7BA-47FB-8073-2B4FA7940492}" presName="node" presStyleLbl="node1" presStyleIdx="0" presStyleCnt="5">
        <dgm:presLayoutVars>
          <dgm:bulletEnabled val="1"/>
        </dgm:presLayoutVars>
      </dgm:prSet>
      <dgm:spPr/>
    </dgm:pt>
    <dgm:pt modelId="{78681F77-DF3B-7140-A437-26DBEB9D483D}" type="pres">
      <dgm:prSet presAssocID="{FD9ABB40-9682-4D97-B80C-F7F64D08F683}" presName="sibTrans" presStyleCnt="0"/>
      <dgm:spPr/>
    </dgm:pt>
    <dgm:pt modelId="{B54ED087-3C1B-CF4A-BD37-8BCD120117B5}" type="pres">
      <dgm:prSet presAssocID="{CCCABDE4-D42F-4A79-80D9-607472E8A4AF}" presName="node" presStyleLbl="node1" presStyleIdx="1" presStyleCnt="5">
        <dgm:presLayoutVars>
          <dgm:bulletEnabled val="1"/>
        </dgm:presLayoutVars>
      </dgm:prSet>
      <dgm:spPr/>
    </dgm:pt>
    <dgm:pt modelId="{14234F19-D8DF-AA44-9161-829F4C189814}" type="pres">
      <dgm:prSet presAssocID="{F2E7893A-50A6-440B-AD9A-267ED4D45C29}" presName="sibTrans" presStyleCnt="0"/>
      <dgm:spPr/>
    </dgm:pt>
    <dgm:pt modelId="{652427F8-5B2D-D047-8AF1-559BA2B28C2E}" type="pres">
      <dgm:prSet presAssocID="{CD26852E-4EBB-497C-89F8-723E96217B92}" presName="node" presStyleLbl="node1" presStyleIdx="2" presStyleCnt="5">
        <dgm:presLayoutVars>
          <dgm:bulletEnabled val="1"/>
        </dgm:presLayoutVars>
      </dgm:prSet>
      <dgm:spPr/>
    </dgm:pt>
    <dgm:pt modelId="{D6F2B61D-655B-BC44-B3CE-39917BCE3ABC}" type="pres">
      <dgm:prSet presAssocID="{28DEC12D-D78E-456D-B314-F141468F4213}" presName="sibTrans" presStyleCnt="0"/>
      <dgm:spPr/>
    </dgm:pt>
    <dgm:pt modelId="{3B8D58CB-2034-5B49-AE1C-D0D447ABD56E}" type="pres">
      <dgm:prSet presAssocID="{6380D24D-0EB9-4E11-8B76-22B77D021AE1}" presName="node" presStyleLbl="node1" presStyleIdx="3" presStyleCnt="5">
        <dgm:presLayoutVars>
          <dgm:bulletEnabled val="1"/>
        </dgm:presLayoutVars>
      </dgm:prSet>
      <dgm:spPr/>
    </dgm:pt>
    <dgm:pt modelId="{CB973185-B3F2-B047-8232-F0E83AE45588}" type="pres">
      <dgm:prSet presAssocID="{F48FB7C8-A8F1-4203-8B6F-EC49F60A6F0B}" presName="sibTrans" presStyleCnt="0"/>
      <dgm:spPr/>
    </dgm:pt>
    <dgm:pt modelId="{6B659A42-BD98-DA47-84C2-7EDD80EF6456}" type="pres">
      <dgm:prSet presAssocID="{C8FB2ADB-AE2C-4716-BE50-1111533F4208}" presName="node" presStyleLbl="node1" presStyleIdx="4" presStyleCnt="5">
        <dgm:presLayoutVars>
          <dgm:bulletEnabled val="1"/>
        </dgm:presLayoutVars>
      </dgm:prSet>
      <dgm:spPr/>
    </dgm:pt>
  </dgm:ptLst>
  <dgm:cxnLst>
    <dgm:cxn modelId="{2A0C2303-6DF6-4B31-916D-18CE0E3115D3}" srcId="{273F4FFB-BF9F-4EE8-B58E-FFED8E01943B}" destId="{5FE25653-A7BA-47FB-8073-2B4FA7940492}" srcOrd="0" destOrd="0" parTransId="{2FF7EEA5-BA7F-4838-809B-A6AA6FFC522A}" sibTransId="{FD9ABB40-9682-4D97-B80C-F7F64D08F683}"/>
    <dgm:cxn modelId="{69068D27-FBD3-9441-9E3E-DEF472634792}" type="presOf" srcId="{273F4FFB-BF9F-4EE8-B58E-FFED8E01943B}" destId="{C2E0F2F4-0C32-9540-9E16-C54508DC64FE}" srcOrd="0" destOrd="0" presId="urn:microsoft.com/office/officeart/2005/8/layout/default"/>
    <dgm:cxn modelId="{355E4D63-9E1E-4970-B987-AFBFEDB2B001}" srcId="{273F4FFB-BF9F-4EE8-B58E-FFED8E01943B}" destId="{6380D24D-0EB9-4E11-8B76-22B77D021AE1}" srcOrd="3" destOrd="0" parTransId="{1E5C4149-00F4-4747-8A0A-9914DA31851B}" sibTransId="{F48FB7C8-A8F1-4203-8B6F-EC49F60A6F0B}"/>
    <dgm:cxn modelId="{AC230047-468C-ED4E-A097-45ADDD1F2E24}" type="presOf" srcId="{CD26852E-4EBB-497C-89F8-723E96217B92}" destId="{652427F8-5B2D-D047-8AF1-559BA2B28C2E}" srcOrd="0" destOrd="0" presId="urn:microsoft.com/office/officeart/2005/8/layout/default"/>
    <dgm:cxn modelId="{A6E07272-1A86-7041-98CE-0C88DC03D90E}" type="presOf" srcId="{5FE25653-A7BA-47FB-8073-2B4FA7940492}" destId="{40B8D0EB-42D3-F94B-89AB-EB0AD8AE92EB}" srcOrd="0" destOrd="0" presId="urn:microsoft.com/office/officeart/2005/8/layout/default"/>
    <dgm:cxn modelId="{BFDAF778-2435-EA4B-A0B2-067239420BDC}" type="presOf" srcId="{C8FB2ADB-AE2C-4716-BE50-1111533F4208}" destId="{6B659A42-BD98-DA47-84C2-7EDD80EF6456}" srcOrd="0" destOrd="0" presId="urn:microsoft.com/office/officeart/2005/8/layout/default"/>
    <dgm:cxn modelId="{1154BE59-1B58-418C-9504-EC0D688BA33C}" srcId="{273F4FFB-BF9F-4EE8-B58E-FFED8E01943B}" destId="{CCCABDE4-D42F-4A79-80D9-607472E8A4AF}" srcOrd="1" destOrd="0" parTransId="{EAAD90EE-0E21-4401-A75A-1643B5084443}" sibTransId="{F2E7893A-50A6-440B-AD9A-267ED4D45C29}"/>
    <dgm:cxn modelId="{17F7478D-4BD4-481F-8114-2B5B20264E08}" srcId="{273F4FFB-BF9F-4EE8-B58E-FFED8E01943B}" destId="{C8FB2ADB-AE2C-4716-BE50-1111533F4208}" srcOrd="4" destOrd="0" parTransId="{4E40171B-61C2-4503-972D-2B9A90C8F07A}" sibTransId="{D8E5E9EB-D5E7-48E7-82CA-3D03A4282933}"/>
    <dgm:cxn modelId="{BC2540DE-653A-4042-BE5C-F0EE87DAF75D}" srcId="{273F4FFB-BF9F-4EE8-B58E-FFED8E01943B}" destId="{CD26852E-4EBB-497C-89F8-723E96217B92}" srcOrd="2" destOrd="0" parTransId="{FF44BC0D-6132-4107-9BDB-91E2E0B05775}" sibTransId="{28DEC12D-D78E-456D-B314-F141468F4213}"/>
    <dgm:cxn modelId="{E004E1EB-AE0A-994E-8348-9DC93705E677}" type="presOf" srcId="{CCCABDE4-D42F-4A79-80D9-607472E8A4AF}" destId="{B54ED087-3C1B-CF4A-BD37-8BCD120117B5}" srcOrd="0" destOrd="0" presId="urn:microsoft.com/office/officeart/2005/8/layout/default"/>
    <dgm:cxn modelId="{870794F4-6A3D-0147-9C16-18FD7501ACAB}" type="presOf" srcId="{6380D24D-0EB9-4E11-8B76-22B77D021AE1}" destId="{3B8D58CB-2034-5B49-AE1C-D0D447ABD56E}" srcOrd="0" destOrd="0" presId="urn:microsoft.com/office/officeart/2005/8/layout/default"/>
    <dgm:cxn modelId="{20EB66E6-B7A1-8C4A-8F28-EA5AEEC47C45}" type="presParOf" srcId="{C2E0F2F4-0C32-9540-9E16-C54508DC64FE}" destId="{40B8D0EB-42D3-F94B-89AB-EB0AD8AE92EB}" srcOrd="0" destOrd="0" presId="urn:microsoft.com/office/officeart/2005/8/layout/default"/>
    <dgm:cxn modelId="{43B5C04E-2054-7847-AC60-02ED5DDBB451}" type="presParOf" srcId="{C2E0F2F4-0C32-9540-9E16-C54508DC64FE}" destId="{78681F77-DF3B-7140-A437-26DBEB9D483D}" srcOrd="1" destOrd="0" presId="urn:microsoft.com/office/officeart/2005/8/layout/default"/>
    <dgm:cxn modelId="{5F30B89E-5462-8A43-BD41-BECD0CD7548D}" type="presParOf" srcId="{C2E0F2F4-0C32-9540-9E16-C54508DC64FE}" destId="{B54ED087-3C1B-CF4A-BD37-8BCD120117B5}" srcOrd="2" destOrd="0" presId="urn:microsoft.com/office/officeart/2005/8/layout/default"/>
    <dgm:cxn modelId="{3CA190B2-FE22-B649-85CC-400B6894C91D}" type="presParOf" srcId="{C2E0F2F4-0C32-9540-9E16-C54508DC64FE}" destId="{14234F19-D8DF-AA44-9161-829F4C189814}" srcOrd="3" destOrd="0" presId="urn:microsoft.com/office/officeart/2005/8/layout/default"/>
    <dgm:cxn modelId="{21AB928B-AA63-7646-BD0B-9DB32887F788}" type="presParOf" srcId="{C2E0F2F4-0C32-9540-9E16-C54508DC64FE}" destId="{652427F8-5B2D-D047-8AF1-559BA2B28C2E}" srcOrd="4" destOrd="0" presId="urn:microsoft.com/office/officeart/2005/8/layout/default"/>
    <dgm:cxn modelId="{FD40B59F-11D8-824C-9A06-BBABBA6005E5}" type="presParOf" srcId="{C2E0F2F4-0C32-9540-9E16-C54508DC64FE}" destId="{D6F2B61D-655B-BC44-B3CE-39917BCE3ABC}" srcOrd="5" destOrd="0" presId="urn:microsoft.com/office/officeart/2005/8/layout/default"/>
    <dgm:cxn modelId="{C0BA241A-AE39-F34C-9434-2FCCD00C1811}" type="presParOf" srcId="{C2E0F2F4-0C32-9540-9E16-C54508DC64FE}" destId="{3B8D58CB-2034-5B49-AE1C-D0D447ABD56E}" srcOrd="6" destOrd="0" presId="urn:microsoft.com/office/officeart/2005/8/layout/default"/>
    <dgm:cxn modelId="{7077D93A-7C82-7343-9A96-702D14086B0E}" type="presParOf" srcId="{C2E0F2F4-0C32-9540-9E16-C54508DC64FE}" destId="{CB973185-B3F2-B047-8232-F0E83AE45588}" srcOrd="7" destOrd="0" presId="urn:microsoft.com/office/officeart/2005/8/layout/default"/>
    <dgm:cxn modelId="{EDF30135-0BFB-9444-A5F3-A501D40DE395}" type="presParOf" srcId="{C2E0F2F4-0C32-9540-9E16-C54508DC64FE}" destId="{6B659A42-BD98-DA47-84C2-7EDD80EF645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B756677-AD93-4F48-ACF8-E86C6CD34446}" type="doc">
      <dgm:prSet loTypeId="urn:microsoft.com/office/officeart/2005/8/layout/vList2" loCatId="list" qsTypeId="urn:microsoft.com/office/officeart/2005/8/quickstyle/simple1" qsCatId="simple" csTypeId="urn:microsoft.com/office/officeart/2005/8/colors/accent2_2" csCatId="accent2" phldr="1"/>
      <dgm:spPr/>
      <dgm:t>
        <a:bodyPr rtlCol="1"/>
        <a:lstStyle/>
        <a:p>
          <a:pPr rtl="1"/>
          <a:endParaRPr lang="en-US"/>
        </a:p>
      </dgm:t>
    </dgm:pt>
    <dgm:pt modelId="{593F33E9-CFAE-403D-B2E3-4B7E051C398E}">
      <dgm:prSet custT="1"/>
      <dgm:spPr>
        <a:solidFill>
          <a:schemeClr val="accent2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2000" dirty="0">
              <a:solidFill>
                <a:schemeClr val="accent4"/>
              </a:solidFill>
            </a:rPr>
            <a:t>توفر ملصقات غذائية دقيقة لأولئك الذين يعانون </a:t>
          </a:r>
          <a:br>
            <a:rPr lang="ar-EG" sz="2000" dirty="0">
              <a:solidFill>
                <a:schemeClr val="accent4"/>
              </a:solidFill>
            </a:rPr>
          </a:br>
          <a:r>
            <a:rPr lang="ar" sz="2000" dirty="0">
              <a:solidFill>
                <a:schemeClr val="accent4"/>
              </a:solidFill>
            </a:rPr>
            <a:t>من الحساسية والاحتياجات الغذائية</a:t>
          </a:r>
          <a:endParaRPr lang="en-US" sz="2000" dirty="0">
            <a:solidFill>
              <a:schemeClr val="accent4"/>
            </a:solidFill>
          </a:endParaRPr>
        </a:p>
      </dgm:t>
    </dgm:pt>
    <dgm:pt modelId="{D94B8CAB-EDF3-484E-B2BA-5B16B966AC9C}" type="parTrans" cxnId="{4A7F3272-6D95-4B2B-AE1B-D0CD96F0954B}">
      <dgm:prSet/>
      <dgm:spPr/>
      <dgm:t>
        <a:bodyPr rtlCol="1"/>
        <a:lstStyle/>
        <a:p>
          <a:pPr rtl="1"/>
          <a:endParaRPr lang="en-US"/>
        </a:p>
      </dgm:t>
    </dgm:pt>
    <dgm:pt modelId="{BA4F35C6-DD0D-45D5-A267-63A82EA43196}" type="sibTrans" cxnId="{4A7F3272-6D95-4B2B-AE1B-D0CD96F0954B}">
      <dgm:prSet/>
      <dgm:spPr/>
      <dgm:t>
        <a:bodyPr rtlCol="1"/>
        <a:lstStyle/>
        <a:p>
          <a:pPr rtl="1"/>
          <a:endParaRPr lang="en-US"/>
        </a:p>
      </dgm:t>
    </dgm:pt>
    <dgm:pt modelId="{947464A9-547C-46FE-A486-F5F3A169C665}">
      <dgm:prSet custT="1"/>
      <dgm:spPr>
        <a:solidFill>
          <a:schemeClr val="accent2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2000" dirty="0">
              <a:solidFill>
                <a:schemeClr val="accent4"/>
              </a:solidFill>
            </a:rPr>
            <a:t>تبين بوضوح القيمة الغذائية للطعام، بما في ذلك مستويات السكر والملح والدهون.</a:t>
          </a:r>
          <a:endParaRPr lang="en-US" sz="2000" dirty="0">
            <a:solidFill>
              <a:schemeClr val="accent4"/>
            </a:solidFill>
          </a:endParaRPr>
        </a:p>
      </dgm:t>
    </dgm:pt>
    <dgm:pt modelId="{14AADE21-A238-466A-A465-F4275C405D6D}" type="parTrans" cxnId="{AFCE0548-B5D5-4ACA-9851-2969325DB103}">
      <dgm:prSet/>
      <dgm:spPr/>
      <dgm:t>
        <a:bodyPr rtlCol="1"/>
        <a:lstStyle/>
        <a:p>
          <a:pPr rtl="1"/>
          <a:endParaRPr lang="en-US"/>
        </a:p>
      </dgm:t>
    </dgm:pt>
    <dgm:pt modelId="{58792BA1-EDE4-44B4-9A02-33B1B9456825}" type="sibTrans" cxnId="{AFCE0548-B5D5-4ACA-9851-2969325DB103}">
      <dgm:prSet/>
      <dgm:spPr/>
      <dgm:t>
        <a:bodyPr rtlCol="1"/>
        <a:lstStyle/>
        <a:p>
          <a:pPr rtl="1"/>
          <a:endParaRPr lang="en-US"/>
        </a:p>
      </dgm:t>
    </dgm:pt>
    <dgm:pt modelId="{D5B050D5-F260-430A-8902-A5B83EB09B79}">
      <dgm:prSet custT="1"/>
      <dgm:spPr>
        <a:solidFill>
          <a:schemeClr val="accent2">
            <a:lumMod val="20000"/>
            <a:lumOff val="80000"/>
          </a:schemeClr>
        </a:solidFill>
      </dgm:spPr>
      <dgm:t>
        <a:bodyPr rtlCol="1"/>
        <a:lstStyle/>
        <a:p>
          <a:pPr rtl="1"/>
          <a:r>
            <a:rPr lang="ar" sz="2000" dirty="0">
              <a:solidFill>
                <a:schemeClr val="accent4"/>
              </a:solidFill>
            </a:rPr>
            <a:t>تتأكد من سلامة منتجاتها وتغليفها لضمان عدم حدوث </a:t>
          </a:r>
          <a:br>
            <a:rPr lang="ar-EG" sz="2000" dirty="0">
              <a:solidFill>
                <a:schemeClr val="accent4"/>
              </a:solidFill>
            </a:rPr>
          </a:br>
          <a:r>
            <a:rPr lang="ar" sz="2000" dirty="0">
              <a:solidFill>
                <a:schemeClr val="accent4"/>
              </a:solidFill>
            </a:rPr>
            <a:t>أي ضرر أو إصابات للمستهلكين.</a:t>
          </a:r>
          <a:endParaRPr lang="en-US" sz="2000" dirty="0">
            <a:solidFill>
              <a:schemeClr val="accent4"/>
            </a:solidFill>
          </a:endParaRPr>
        </a:p>
      </dgm:t>
    </dgm:pt>
    <dgm:pt modelId="{1616C8F1-D197-4EC3-9F6D-DD09A3A36EDD}" type="parTrans" cxnId="{4380D9D8-623B-4F91-9465-4287B9229010}">
      <dgm:prSet/>
      <dgm:spPr/>
      <dgm:t>
        <a:bodyPr rtlCol="1"/>
        <a:lstStyle/>
        <a:p>
          <a:pPr rtl="1"/>
          <a:endParaRPr lang="en-US"/>
        </a:p>
      </dgm:t>
    </dgm:pt>
    <dgm:pt modelId="{EC8BB00E-BCBE-4AFB-8232-DC2891D67B6A}" type="sibTrans" cxnId="{4380D9D8-623B-4F91-9465-4287B9229010}">
      <dgm:prSet/>
      <dgm:spPr/>
      <dgm:t>
        <a:bodyPr rtlCol="1"/>
        <a:lstStyle/>
        <a:p>
          <a:pPr rtl="1"/>
          <a:endParaRPr lang="en-US"/>
        </a:p>
      </dgm:t>
    </dgm:pt>
    <dgm:pt modelId="{B1E486F3-09AC-F943-8728-AEE56356DD1D}" type="pres">
      <dgm:prSet presAssocID="{CB756677-AD93-4F48-ACF8-E86C6CD34446}" presName="linear" presStyleCnt="0">
        <dgm:presLayoutVars>
          <dgm:animLvl val="lvl"/>
          <dgm:resizeHandles val="exact"/>
        </dgm:presLayoutVars>
      </dgm:prSet>
      <dgm:spPr/>
    </dgm:pt>
    <dgm:pt modelId="{ACB5AA7C-06C7-DB46-909A-1E175C5B762C}" type="pres">
      <dgm:prSet presAssocID="{593F33E9-CFAE-403D-B2E3-4B7E051C398E}" presName="parentText" presStyleLbl="node1" presStyleIdx="0" presStyleCnt="3" custScaleY="99321" custLinFactY="37776" custLinFactNeighborX="505" custLinFactNeighborY="100000">
        <dgm:presLayoutVars>
          <dgm:chMax val="0"/>
          <dgm:bulletEnabled val="1"/>
        </dgm:presLayoutVars>
      </dgm:prSet>
      <dgm:spPr/>
    </dgm:pt>
    <dgm:pt modelId="{E454F6BB-B354-394A-9528-147840D5BAB6}" type="pres">
      <dgm:prSet presAssocID="{BA4F35C6-DD0D-45D5-A267-63A82EA43196}" presName="spacer" presStyleCnt="0"/>
      <dgm:spPr/>
    </dgm:pt>
    <dgm:pt modelId="{21D33D2A-5518-C542-88BB-50B11B3AB644}" type="pres">
      <dgm:prSet presAssocID="{947464A9-547C-46FE-A486-F5F3A169C665}" presName="parentText" presStyleLbl="node1" presStyleIdx="1" presStyleCnt="3" custLinFactY="21896" custLinFactNeighborX="-175" custLinFactNeighborY="100000">
        <dgm:presLayoutVars>
          <dgm:chMax val="0"/>
          <dgm:bulletEnabled val="1"/>
        </dgm:presLayoutVars>
      </dgm:prSet>
      <dgm:spPr/>
    </dgm:pt>
    <dgm:pt modelId="{EE5F585C-DD3D-4F4E-BE2F-5D494BC7555F}" type="pres">
      <dgm:prSet presAssocID="{58792BA1-EDE4-44B4-9A02-33B1B9456825}" presName="spacer" presStyleCnt="0"/>
      <dgm:spPr/>
    </dgm:pt>
    <dgm:pt modelId="{22F2D8F1-0B3C-654A-BA37-11705357934E}" type="pres">
      <dgm:prSet presAssocID="{D5B050D5-F260-430A-8902-A5B83EB09B79}" presName="parentText" presStyleLbl="node1" presStyleIdx="2" presStyleCnt="3" custLinFactY="7972" custLinFactNeighborX="0" custLinFactNeighborY="100000">
        <dgm:presLayoutVars>
          <dgm:chMax val="0"/>
          <dgm:bulletEnabled val="1"/>
        </dgm:presLayoutVars>
      </dgm:prSet>
      <dgm:spPr/>
    </dgm:pt>
  </dgm:ptLst>
  <dgm:cxnLst>
    <dgm:cxn modelId="{AFCE0548-B5D5-4ACA-9851-2969325DB103}" srcId="{CB756677-AD93-4F48-ACF8-E86C6CD34446}" destId="{947464A9-547C-46FE-A486-F5F3A169C665}" srcOrd="1" destOrd="0" parTransId="{14AADE21-A238-466A-A465-F4275C405D6D}" sibTransId="{58792BA1-EDE4-44B4-9A02-33B1B9456825}"/>
    <dgm:cxn modelId="{064CE76A-D800-3C4E-8119-E7A2762A1C70}" type="presOf" srcId="{947464A9-547C-46FE-A486-F5F3A169C665}" destId="{21D33D2A-5518-C542-88BB-50B11B3AB644}" srcOrd="0" destOrd="0" presId="urn:microsoft.com/office/officeart/2005/8/layout/vList2"/>
    <dgm:cxn modelId="{4A7F3272-6D95-4B2B-AE1B-D0CD96F0954B}" srcId="{CB756677-AD93-4F48-ACF8-E86C6CD34446}" destId="{593F33E9-CFAE-403D-B2E3-4B7E051C398E}" srcOrd="0" destOrd="0" parTransId="{D94B8CAB-EDF3-484E-B2BA-5B16B966AC9C}" sibTransId="{BA4F35C6-DD0D-45D5-A267-63A82EA43196}"/>
    <dgm:cxn modelId="{28F3927E-7BA3-3744-8D6C-477E29932F34}" type="presOf" srcId="{D5B050D5-F260-430A-8902-A5B83EB09B79}" destId="{22F2D8F1-0B3C-654A-BA37-11705357934E}" srcOrd="0" destOrd="0" presId="urn:microsoft.com/office/officeart/2005/8/layout/vList2"/>
    <dgm:cxn modelId="{247CAEAF-1569-FD43-9312-DA1481987765}" type="presOf" srcId="{593F33E9-CFAE-403D-B2E3-4B7E051C398E}" destId="{ACB5AA7C-06C7-DB46-909A-1E175C5B762C}" srcOrd="0" destOrd="0" presId="urn:microsoft.com/office/officeart/2005/8/layout/vList2"/>
    <dgm:cxn modelId="{7D807FCF-10CA-B744-82B0-52A69CBF3732}" type="presOf" srcId="{CB756677-AD93-4F48-ACF8-E86C6CD34446}" destId="{B1E486F3-09AC-F943-8728-AEE56356DD1D}" srcOrd="0" destOrd="0" presId="urn:microsoft.com/office/officeart/2005/8/layout/vList2"/>
    <dgm:cxn modelId="{4380D9D8-623B-4F91-9465-4287B9229010}" srcId="{CB756677-AD93-4F48-ACF8-E86C6CD34446}" destId="{D5B050D5-F260-430A-8902-A5B83EB09B79}" srcOrd="2" destOrd="0" parTransId="{1616C8F1-D197-4EC3-9F6D-DD09A3A36EDD}" sibTransId="{EC8BB00E-BCBE-4AFB-8232-DC2891D67B6A}"/>
    <dgm:cxn modelId="{187C26D1-03F6-B84E-8A36-018FFD47543A}" type="presParOf" srcId="{B1E486F3-09AC-F943-8728-AEE56356DD1D}" destId="{ACB5AA7C-06C7-DB46-909A-1E175C5B762C}" srcOrd="0" destOrd="0" presId="urn:microsoft.com/office/officeart/2005/8/layout/vList2"/>
    <dgm:cxn modelId="{FE9A79D3-25D4-C14F-94FB-2947A37B4F95}" type="presParOf" srcId="{B1E486F3-09AC-F943-8728-AEE56356DD1D}" destId="{E454F6BB-B354-394A-9528-147840D5BAB6}" srcOrd="1" destOrd="0" presId="urn:microsoft.com/office/officeart/2005/8/layout/vList2"/>
    <dgm:cxn modelId="{AD68C105-EEEA-804D-889B-B2320AEE82C2}" type="presParOf" srcId="{B1E486F3-09AC-F943-8728-AEE56356DD1D}" destId="{21D33D2A-5518-C542-88BB-50B11B3AB644}" srcOrd="2" destOrd="0" presId="urn:microsoft.com/office/officeart/2005/8/layout/vList2"/>
    <dgm:cxn modelId="{0FCE39D2-E878-E946-902C-A7D724950B01}" type="presParOf" srcId="{B1E486F3-09AC-F943-8728-AEE56356DD1D}" destId="{EE5F585C-DD3D-4F4E-BE2F-5D494BC7555F}" srcOrd="3" destOrd="0" presId="urn:microsoft.com/office/officeart/2005/8/layout/vList2"/>
    <dgm:cxn modelId="{6D648370-FAEE-B546-A7CE-F24EAFC10E8B}" type="presParOf" srcId="{B1E486F3-09AC-F943-8728-AEE56356DD1D}" destId="{22F2D8F1-0B3C-654A-BA37-11705357934E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7AD86A1-C1EB-43EC-A0AA-4257DBF74265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 phldr="1"/>
      <dgm:spPr/>
      <dgm:t>
        <a:bodyPr rtlCol="1"/>
        <a:lstStyle/>
        <a:p>
          <a:pPr rtl="1"/>
          <a:endParaRPr lang="en-US"/>
        </a:p>
      </dgm:t>
    </dgm:pt>
    <dgm:pt modelId="{C723164B-7977-4809-9B92-CDD06F071938}">
      <dgm:prSet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 dirty="0">
              <a:solidFill>
                <a:srgbClr val="7030A0"/>
              </a:solidFill>
            </a:rPr>
            <a:t>دفع الضرائب </a:t>
          </a:r>
          <a:br>
            <a:rPr lang="ar-EG" dirty="0">
              <a:solidFill>
                <a:srgbClr val="7030A0"/>
              </a:solidFill>
            </a:rPr>
          </a:br>
          <a:r>
            <a:rPr lang="ar" dirty="0">
              <a:solidFill>
                <a:srgbClr val="7030A0"/>
              </a:solidFill>
            </a:rPr>
            <a:t>في وقتها</a:t>
          </a:r>
          <a:endParaRPr lang="en-US" dirty="0">
            <a:solidFill>
              <a:srgbClr val="7030A0"/>
            </a:solidFill>
          </a:endParaRPr>
        </a:p>
      </dgm:t>
    </dgm:pt>
    <dgm:pt modelId="{FCF91E66-81D4-4B84-9570-54F493D7DBDB}" type="parTrans" cxnId="{56D7701A-2CD8-4C24-8847-C357BD48EE32}">
      <dgm:prSet/>
      <dgm:spPr/>
      <dgm:t>
        <a:bodyPr rtlCol="1"/>
        <a:lstStyle/>
        <a:p>
          <a:pPr rtl="1"/>
          <a:endParaRPr lang="en-US"/>
        </a:p>
      </dgm:t>
    </dgm:pt>
    <dgm:pt modelId="{AB0CB672-0581-431B-A70D-63AC183D7B2B}" type="sibTrans" cxnId="{56D7701A-2CD8-4C24-8847-C357BD48EE32}">
      <dgm:prSet/>
      <dgm:spPr/>
      <dgm:t>
        <a:bodyPr rtlCol="1"/>
        <a:lstStyle/>
        <a:p>
          <a:pPr rtl="1"/>
          <a:endParaRPr lang="en-US"/>
        </a:p>
      </dgm:t>
    </dgm:pt>
    <dgm:pt modelId="{28B65F19-3F85-4E97-8D91-4BA7501F0BBB}">
      <dgm:prSet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>
              <a:solidFill>
                <a:srgbClr val="7030A0"/>
              </a:solidFill>
            </a:rPr>
            <a:t>عدم التهرب من دفع الضرائب</a:t>
          </a:r>
          <a:endParaRPr lang="en-US" dirty="0">
            <a:solidFill>
              <a:srgbClr val="7030A0"/>
            </a:solidFill>
          </a:endParaRPr>
        </a:p>
      </dgm:t>
    </dgm:pt>
    <dgm:pt modelId="{6D0E98AB-1ED8-4AC7-9594-562106E8E78F}" type="parTrans" cxnId="{4BD60FFE-CFD1-4F9B-AFE8-49A00F840132}">
      <dgm:prSet/>
      <dgm:spPr/>
      <dgm:t>
        <a:bodyPr rtlCol="1"/>
        <a:lstStyle/>
        <a:p>
          <a:pPr rtl="1"/>
          <a:endParaRPr lang="en-US"/>
        </a:p>
      </dgm:t>
    </dgm:pt>
    <dgm:pt modelId="{B5B04A23-8003-49B3-95EB-59F40B4AD205}" type="sibTrans" cxnId="{4BD60FFE-CFD1-4F9B-AFE8-49A00F840132}">
      <dgm:prSet/>
      <dgm:spPr/>
      <dgm:t>
        <a:bodyPr rtlCol="1"/>
        <a:lstStyle/>
        <a:p>
          <a:pPr rtl="1"/>
          <a:endParaRPr lang="en-US"/>
        </a:p>
      </dgm:t>
    </dgm:pt>
    <dgm:pt modelId="{1BE89C72-E7AF-4F03-875A-8C32124FAE6A}">
      <dgm:prSet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</a:gradFill>
      </dgm:spPr>
      <dgm:t>
        <a:bodyPr rtlCol="1"/>
        <a:lstStyle/>
        <a:p>
          <a:pPr rtl="1"/>
          <a:r>
            <a:rPr lang="ar" dirty="0">
              <a:solidFill>
                <a:srgbClr val="7030A0"/>
              </a:solidFill>
            </a:rPr>
            <a:t>استخدام الإعانات الحكومية بمسؤولية</a:t>
          </a:r>
          <a:endParaRPr lang="en-US" dirty="0">
            <a:solidFill>
              <a:srgbClr val="7030A0"/>
            </a:solidFill>
          </a:endParaRPr>
        </a:p>
      </dgm:t>
    </dgm:pt>
    <dgm:pt modelId="{DAC33A70-846A-49ED-ABB5-1AF8D68816FC}" type="parTrans" cxnId="{2E838779-A4D7-42C0-BF59-CF6F6A33BB90}">
      <dgm:prSet/>
      <dgm:spPr/>
      <dgm:t>
        <a:bodyPr rtlCol="1"/>
        <a:lstStyle/>
        <a:p>
          <a:pPr rtl="1"/>
          <a:endParaRPr lang="en-US"/>
        </a:p>
      </dgm:t>
    </dgm:pt>
    <dgm:pt modelId="{D40FDF66-13F1-466A-8018-65CEFA927C4D}" type="sibTrans" cxnId="{2E838779-A4D7-42C0-BF59-CF6F6A33BB90}">
      <dgm:prSet/>
      <dgm:spPr/>
      <dgm:t>
        <a:bodyPr rtlCol="1"/>
        <a:lstStyle/>
        <a:p>
          <a:pPr rtl="1"/>
          <a:endParaRPr lang="en-US"/>
        </a:p>
      </dgm:t>
    </dgm:pt>
    <dgm:pt modelId="{FDC396E0-B5DF-6848-A120-8698A2C84B09}" type="pres">
      <dgm:prSet presAssocID="{D7AD86A1-C1EB-43EC-A0AA-4257DBF74265}" presName="diagram" presStyleCnt="0">
        <dgm:presLayoutVars>
          <dgm:dir val="rev"/>
          <dgm:resizeHandles val="exact"/>
        </dgm:presLayoutVars>
      </dgm:prSet>
      <dgm:spPr/>
    </dgm:pt>
    <dgm:pt modelId="{C29452A1-59AD-4A43-B41C-3EE0CFF02744}" type="pres">
      <dgm:prSet presAssocID="{C723164B-7977-4809-9B92-CDD06F071938}" presName="node" presStyleLbl="node1" presStyleIdx="0" presStyleCnt="3">
        <dgm:presLayoutVars>
          <dgm:bulletEnabled val="1"/>
        </dgm:presLayoutVars>
      </dgm:prSet>
      <dgm:spPr/>
    </dgm:pt>
    <dgm:pt modelId="{2ADB4665-3134-2841-BC71-DC9967520079}" type="pres">
      <dgm:prSet presAssocID="{AB0CB672-0581-431B-A70D-63AC183D7B2B}" presName="sibTrans" presStyleCnt="0"/>
      <dgm:spPr/>
    </dgm:pt>
    <dgm:pt modelId="{BE993D9D-EB87-1945-9E6F-9090DB5B47C1}" type="pres">
      <dgm:prSet presAssocID="{28B65F19-3F85-4E97-8D91-4BA7501F0BBB}" presName="node" presStyleLbl="node1" presStyleIdx="1" presStyleCnt="3">
        <dgm:presLayoutVars>
          <dgm:bulletEnabled val="1"/>
        </dgm:presLayoutVars>
      </dgm:prSet>
      <dgm:spPr/>
    </dgm:pt>
    <dgm:pt modelId="{D83FC514-0291-3A41-BDAA-1651FBC28081}" type="pres">
      <dgm:prSet presAssocID="{B5B04A23-8003-49B3-95EB-59F40B4AD205}" presName="sibTrans" presStyleCnt="0"/>
      <dgm:spPr/>
    </dgm:pt>
    <dgm:pt modelId="{7B7F772F-BE0E-F943-8BFD-14E44EF69028}" type="pres">
      <dgm:prSet presAssocID="{1BE89C72-E7AF-4F03-875A-8C32124FAE6A}" presName="node" presStyleLbl="node1" presStyleIdx="2" presStyleCnt="3">
        <dgm:presLayoutVars>
          <dgm:bulletEnabled val="1"/>
        </dgm:presLayoutVars>
      </dgm:prSet>
      <dgm:spPr/>
    </dgm:pt>
  </dgm:ptLst>
  <dgm:cxnLst>
    <dgm:cxn modelId="{37928F03-80E6-9E4D-9F7D-6A0D62FD3077}" type="presOf" srcId="{C723164B-7977-4809-9B92-CDD06F071938}" destId="{C29452A1-59AD-4A43-B41C-3EE0CFF02744}" srcOrd="0" destOrd="0" presId="urn:microsoft.com/office/officeart/2005/8/layout/default"/>
    <dgm:cxn modelId="{56D7701A-2CD8-4C24-8847-C357BD48EE32}" srcId="{D7AD86A1-C1EB-43EC-A0AA-4257DBF74265}" destId="{C723164B-7977-4809-9B92-CDD06F071938}" srcOrd="0" destOrd="0" parTransId="{FCF91E66-81D4-4B84-9570-54F493D7DBDB}" sibTransId="{AB0CB672-0581-431B-A70D-63AC183D7B2B}"/>
    <dgm:cxn modelId="{E7EBA764-6CEA-A04F-BB49-B4876116971C}" type="presOf" srcId="{D7AD86A1-C1EB-43EC-A0AA-4257DBF74265}" destId="{FDC396E0-B5DF-6848-A120-8698A2C84B09}" srcOrd="0" destOrd="0" presId="urn:microsoft.com/office/officeart/2005/8/layout/default"/>
    <dgm:cxn modelId="{2E838779-A4D7-42C0-BF59-CF6F6A33BB90}" srcId="{D7AD86A1-C1EB-43EC-A0AA-4257DBF74265}" destId="{1BE89C72-E7AF-4F03-875A-8C32124FAE6A}" srcOrd="2" destOrd="0" parTransId="{DAC33A70-846A-49ED-ABB5-1AF8D68816FC}" sibTransId="{D40FDF66-13F1-466A-8018-65CEFA927C4D}"/>
    <dgm:cxn modelId="{95A025A1-E933-D04F-BF94-6E9C533DBD88}" type="presOf" srcId="{28B65F19-3F85-4E97-8D91-4BA7501F0BBB}" destId="{BE993D9D-EB87-1945-9E6F-9090DB5B47C1}" srcOrd="0" destOrd="0" presId="urn:microsoft.com/office/officeart/2005/8/layout/default"/>
    <dgm:cxn modelId="{A3E4B0CE-7924-BF4F-AA4E-69DCA42B58F7}" type="presOf" srcId="{1BE89C72-E7AF-4F03-875A-8C32124FAE6A}" destId="{7B7F772F-BE0E-F943-8BFD-14E44EF69028}" srcOrd="0" destOrd="0" presId="urn:microsoft.com/office/officeart/2005/8/layout/default"/>
    <dgm:cxn modelId="{4BD60FFE-CFD1-4F9B-AFE8-49A00F840132}" srcId="{D7AD86A1-C1EB-43EC-A0AA-4257DBF74265}" destId="{28B65F19-3F85-4E97-8D91-4BA7501F0BBB}" srcOrd="1" destOrd="0" parTransId="{6D0E98AB-1ED8-4AC7-9594-562106E8E78F}" sibTransId="{B5B04A23-8003-49B3-95EB-59F40B4AD205}"/>
    <dgm:cxn modelId="{F66F9126-165D-B54A-B098-CF9101EC2FB5}" type="presParOf" srcId="{FDC396E0-B5DF-6848-A120-8698A2C84B09}" destId="{C29452A1-59AD-4A43-B41C-3EE0CFF02744}" srcOrd="0" destOrd="0" presId="urn:microsoft.com/office/officeart/2005/8/layout/default"/>
    <dgm:cxn modelId="{8C414FE9-B176-EA44-A8DE-DAF80EE43237}" type="presParOf" srcId="{FDC396E0-B5DF-6848-A120-8698A2C84B09}" destId="{2ADB4665-3134-2841-BC71-DC9967520079}" srcOrd="1" destOrd="0" presId="urn:microsoft.com/office/officeart/2005/8/layout/default"/>
    <dgm:cxn modelId="{0503FBFA-B02F-5747-B434-FB958F2883A0}" type="presParOf" srcId="{FDC396E0-B5DF-6848-A120-8698A2C84B09}" destId="{BE993D9D-EB87-1945-9E6F-9090DB5B47C1}" srcOrd="2" destOrd="0" presId="urn:microsoft.com/office/officeart/2005/8/layout/default"/>
    <dgm:cxn modelId="{656C875F-12A6-3E45-B502-3A2F2AD80681}" type="presParOf" srcId="{FDC396E0-B5DF-6848-A120-8698A2C84B09}" destId="{D83FC514-0291-3A41-BDAA-1651FBC28081}" srcOrd="3" destOrd="0" presId="urn:microsoft.com/office/officeart/2005/8/layout/default"/>
    <dgm:cxn modelId="{D516D537-C1AA-E04B-8903-B1DD24C00BA6}" type="presParOf" srcId="{FDC396E0-B5DF-6848-A120-8698A2C84B09}" destId="{7B7F772F-BE0E-F943-8BFD-14E44EF6902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8EE1089-F845-471A-87DF-25B3D929C356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/>
      <dgm:spPr/>
      <dgm:t>
        <a:bodyPr rtlCol="1"/>
        <a:lstStyle/>
        <a:p>
          <a:pPr rtl="1"/>
          <a:endParaRPr lang="en-US"/>
        </a:p>
      </dgm:t>
    </dgm:pt>
    <dgm:pt modelId="{0612F314-6330-466A-A95E-47A4EB59B949}">
      <dgm:prSet/>
      <dgm:spPr/>
      <dgm:t>
        <a:bodyPr rtlCol="1"/>
        <a:lstStyle/>
        <a:p>
          <a:pPr rtl="1"/>
          <a:r>
            <a:rPr lang="ar"/>
            <a:t>ج-1 التخطيط للسياسة الأخلاقية</a:t>
          </a:r>
          <a:endParaRPr lang="en-US"/>
        </a:p>
      </dgm:t>
    </dgm:pt>
    <dgm:pt modelId="{45C8DFB6-B7A9-4ED1-B899-E9F4E644B9BE}" type="parTrans" cxnId="{9CB957FC-8AF7-4E1C-B342-17E6CF5E1815}">
      <dgm:prSet/>
      <dgm:spPr/>
      <dgm:t>
        <a:bodyPr rtlCol="1"/>
        <a:lstStyle/>
        <a:p>
          <a:pPr rtl="1"/>
          <a:endParaRPr lang="en-US"/>
        </a:p>
      </dgm:t>
    </dgm:pt>
    <dgm:pt modelId="{6621AF7F-C917-45E5-99EB-5D629CF6FEFC}" type="sibTrans" cxnId="{9CB957FC-8AF7-4E1C-B342-17E6CF5E1815}">
      <dgm:prSet/>
      <dgm:spPr/>
      <dgm:t>
        <a:bodyPr rtlCol="1"/>
        <a:lstStyle/>
        <a:p>
          <a:pPr rtl="1"/>
          <a:endParaRPr lang="en-US"/>
        </a:p>
      </dgm:t>
    </dgm:pt>
    <dgm:pt modelId="{1FB7E30E-97A5-4A56-937E-67C11C2A0874}">
      <dgm:prSet/>
      <dgm:spPr/>
      <dgm:t>
        <a:bodyPr rtlCol="1"/>
        <a:lstStyle/>
        <a:p>
          <a:pPr rtl="1"/>
          <a:r>
            <a:rPr lang="ar"/>
            <a:t>ج-2 وضع سياسة أخلاقية</a:t>
          </a:r>
          <a:endParaRPr lang="en-US"/>
        </a:p>
      </dgm:t>
    </dgm:pt>
    <dgm:pt modelId="{3522A8DF-0507-4965-B097-688234ED5BA3}" type="parTrans" cxnId="{1F6B5F66-1517-4CBA-9939-C76E45FB897C}">
      <dgm:prSet/>
      <dgm:spPr/>
      <dgm:t>
        <a:bodyPr rtlCol="1"/>
        <a:lstStyle/>
        <a:p>
          <a:pPr rtl="1"/>
          <a:endParaRPr lang="en-US"/>
        </a:p>
      </dgm:t>
    </dgm:pt>
    <dgm:pt modelId="{9A38CACD-BA7E-4B07-A649-6A41602F3517}" type="sibTrans" cxnId="{1F6B5F66-1517-4CBA-9939-C76E45FB897C}">
      <dgm:prSet/>
      <dgm:spPr/>
      <dgm:t>
        <a:bodyPr rtlCol="1"/>
        <a:lstStyle/>
        <a:p>
          <a:pPr rtl="1"/>
          <a:endParaRPr lang="en-US"/>
        </a:p>
      </dgm:t>
    </dgm:pt>
    <dgm:pt modelId="{6EEFB2E0-90C0-7042-8CD1-20A1C690C5A9}" type="pres">
      <dgm:prSet presAssocID="{98EE1089-F845-471A-87DF-25B3D929C356}" presName="hierChild1" presStyleCnt="0">
        <dgm:presLayoutVars>
          <dgm:chPref val="1"/>
          <dgm:dir val="rev"/>
          <dgm:animOne val="branch"/>
          <dgm:animLvl val="lvl"/>
          <dgm:resizeHandles/>
        </dgm:presLayoutVars>
      </dgm:prSet>
      <dgm:spPr/>
    </dgm:pt>
    <dgm:pt modelId="{BED8846A-E7A8-C842-A5D7-261AC8C28C14}" type="pres">
      <dgm:prSet presAssocID="{0612F314-6330-466A-A95E-47A4EB59B949}" presName="hierRoot1" presStyleCnt="0"/>
      <dgm:spPr/>
    </dgm:pt>
    <dgm:pt modelId="{5703E4AB-425A-574B-B773-B4528B2BEC00}" type="pres">
      <dgm:prSet presAssocID="{0612F314-6330-466A-A95E-47A4EB59B949}" presName="composite" presStyleCnt="0"/>
      <dgm:spPr/>
    </dgm:pt>
    <dgm:pt modelId="{379C4172-1FB8-C64D-9DF8-49A77EB2B12C}" type="pres">
      <dgm:prSet presAssocID="{0612F314-6330-466A-A95E-47A4EB59B949}" presName="background" presStyleLbl="node0" presStyleIdx="0" presStyleCnt="2"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</dgm:spPr>
    </dgm:pt>
    <dgm:pt modelId="{79E5FB0B-C01D-4840-80A5-0194AD7FFAF4}" type="pres">
      <dgm:prSet presAssocID="{0612F314-6330-466A-A95E-47A4EB59B949}" presName="text" presStyleLbl="fgAcc0" presStyleIdx="0" presStyleCnt="2">
        <dgm:presLayoutVars>
          <dgm:chPref val="3"/>
        </dgm:presLayoutVars>
      </dgm:prSet>
      <dgm:spPr/>
    </dgm:pt>
    <dgm:pt modelId="{F906C393-8551-7242-8CD7-C4309C211EEE}" type="pres">
      <dgm:prSet presAssocID="{0612F314-6330-466A-A95E-47A4EB59B949}" presName="hierChild2" presStyleCnt="0"/>
      <dgm:spPr/>
    </dgm:pt>
    <dgm:pt modelId="{1DE9C430-8051-484F-9CCD-4DE7AC3F0382}" type="pres">
      <dgm:prSet presAssocID="{1FB7E30E-97A5-4A56-937E-67C11C2A0874}" presName="hierRoot1" presStyleCnt="0"/>
      <dgm:spPr/>
    </dgm:pt>
    <dgm:pt modelId="{BABFE481-0C28-304C-B46A-3B882860EB94}" type="pres">
      <dgm:prSet presAssocID="{1FB7E30E-97A5-4A56-937E-67C11C2A0874}" presName="composite" presStyleCnt="0"/>
      <dgm:spPr/>
    </dgm:pt>
    <dgm:pt modelId="{ABA55FB1-A24C-C748-AA99-37E57BC29559}" type="pres">
      <dgm:prSet presAssocID="{1FB7E30E-97A5-4A56-937E-67C11C2A0874}" presName="background" presStyleLbl="node0" presStyleIdx="1" presStyleCnt="2"/>
      <dgm:spPr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</dgm:spPr>
    </dgm:pt>
    <dgm:pt modelId="{D9A063DB-7F65-E144-BF7C-E062436A3CE4}" type="pres">
      <dgm:prSet presAssocID="{1FB7E30E-97A5-4A56-937E-67C11C2A0874}" presName="text" presStyleLbl="fgAcc0" presStyleIdx="1" presStyleCnt="2">
        <dgm:presLayoutVars>
          <dgm:chPref val="3"/>
        </dgm:presLayoutVars>
      </dgm:prSet>
      <dgm:spPr/>
    </dgm:pt>
    <dgm:pt modelId="{CF82D1DA-9947-7B40-AEE5-0764B13F835A}" type="pres">
      <dgm:prSet presAssocID="{1FB7E30E-97A5-4A56-937E-67C11C2A0874}" presName="hierChild2" presStyleCnt="0"/>
      <dgm:spPr/>
    </dgm:pt>
  </dgm:ptLst>
  <dgm:cxnLst>
    <dgm:cxn modelId="{A0584824-139A-584F-9916-1252183DF7F5}" type="presOf" srcId="{1FB7E30E-97A5-4A56-937E-67C11C2A0874}" destId="{D9A063DB-7F65-E144-BF7C-E062436A3CE4}" srcOrd="0" destOrd="0" presId="urn:microsoft.com/office/officeart/2005/8/layout/hierarchy1"/>
    <dgm:cxn modelId="{F574FE3A-FBFE-0F47-9B9F-A8C82BE1FF1C}" type="presOf" srcId="{0612F314-6330-466A-A95E-47A4EB59B949}" destId="{79E5FB0B-C01D-4840-80A5-0194AD7FFAF4}" srcOrd="0" destOrd="0" presId="urn:microsoft.com/office/officeart/2005/8/layout/hierarchy1"/>
    <dgm:cxn modelId="{1F6B5F66-1517-4CBA-9939-C76E45FB897C}" srcId="{98EE1089-F845-471A-87DF-25B3D929C356}" destId="{1FB7E30E-97A5-4A56-937E-67C11C2A0874}" srcOrd="1" destOrd="0" parTransId="{3522A8DF-0507-4965-B097-688234ED5BA3}" sibTransId="{9A38CACD-BA7E-4B07-A649-6A41602F3517}"/>
    <dgm:cxn modelId="{CEE99778-83BC-2E42-850E-19EC48D48DD9}" type="presOf" srcId="{98EE1089-F845-471A-87DF-25B3D929C356}" destId="{6EEFB2E0-90C0-7042-8CD1-20A1C690C5A9}" srcOrd="0" destOrd="0" presId="urn:microsoft.com/office/officeart/2005/8/layout/hierarchy1"/>
    <dgm:cxn modelId="{9CB957FC-8AF7-4E1C-B342-17E6CF5E1815}" srcId="{98EE1089-F845-471A-87DF-25B3D929C356}" destId="{0612F314-6330-466A-A95E-47A4EB59B949}" srcOrd="0" destOrd="0" parTransId="{45C8DFB6-B7A9-4ED1-B899-E9F4E644B9BE}" sibTransId="{6621AF7F-C917-45E5-99EB-5D629CF6FEFC}"/>
    <dgm:cxn modelId="{6D3223D9-9B7D-D84C-9BB8-34E8309D4D06}" type="presParOf" srcId="{6EEFB2E0-90C0-7042-8CD1-20A1C690C5A9}" destId="{BED8846A-E7A8-C842-A5D7-261AC8C28C14}" srcOrd="0" destOrd="0" presId="urn:microsoft.com/office/officeart/2005/8/layout/hierarchy1"/>
    <dgm:cxn modelId="{7F30415B-A520-8C43-AA5C-6FD2412238F6}" type="presParOf" srcId="{BED8846A-E7A8-C842-A5D7-261AC8C28C14}" destId="{5703E4AB-425A-574B-B773-B4528B2BEC00}" srcOrd="0" destOrd="0" presId="urn:microsoft.com/office/officeart/2005/8/layout/hierarchy1"/>
    <dgm:cxn modelId="{EE848DB4-D05B-D54D-8199-3C568CE3872D}" type="presParOf" srcId="{5703E4AB-425A-574B-B773-B4528B2BEC00}" destId="{379C4172-1FB8-C64D-9DF8-49A77EB2B12C}" srcOrd="0" destOrd="0" presId="urn:microsoft.com/office/officeart/2005/8/layout/hierarchy1"/>
    <dgm:cxn modelId="{50BB3F17-8F29-CE4D-AEDB-F2903B643666}" type="presParOf" srcId="{5703E4AB-425A-574B-B773-B4528B2BEC00}" destId="{79E5FB0B-C01D-4840-80A5-0194AD7FFAF4}" srcOrd="1" destOrd="0" presId="urn:microsoft.com/office/officeart/2005/8/layout/hierarchy1"/>
    <dgm:cxn modelId="{EDE58A9C-4866-804A-BBF0-E6523B7F20E6}" type="presParOf" srcId="{BED8846A-E7A8-C842-A5D7-261AC8C28C14}" destId="{F906C393-8551-7242-8CD7-C4309C211EEE}" srcOrd="1" destOrd="0" presId="urn:microsoft.com/office/officeart/2005/8/layout/hierarchy1"/>
    <dgm:cxn modelId="{0C91D579-EB80-C44A-A3CB-97CA45486BDC}" type="presParOf" srcId="{6EEFB2E0-90C0-7042-8CD1-20A1C690C5A9}" destId="{1DE9C430-8051-484F-9CCD-4DE7AC3F0382}" srcOrd="1" destOrd="0" presId="urn:microsoft.com/office/officeart/2005/8/layout/hierarchy1"/>
    <dgm:cxn modelId="{68B1F07F-1430-684B-B176-BE00A5B81A79}" type="presParOf" srcId="{1DE9C430-8051-484F-9CCD-4DE7AC3F0382}" destId="{BABFE481-0C28-304C-B46A-3B882860EB94}" srcOrd="0" destOrd="0" presId="urn:microsoft.com/office/officeart/2005/8/layout/hierarchy1"/>
    <dgm:cxn modelId="{766551DE-1C32-B04D-8938-37F27BB373C6}" type="presParOf" srcId="{BABFE481-0C28-304C-B46A-3B882860EB94}" destId="{ABA55FB1-A24C-C748-AA99-37E57BC29559}" srcOrd="0" destOrd="0" presId="urn:microsoft.com/office/officeart/2005/8/layout/hierarchy1"/>
    <dgm:cxn modelId="{62AE3DBC-409A-4342-B69E-975C4C6CF281}" type="presParOf" srcId="{BABFE481-0C28-304C-B46A-3B882860EB94}" destId="{D9A063DB-7F65-E144-BF7C-E062436A3CE4}" srcOrd="1" destOrd="0" presId="urn:microsoft.com/office/officeart/2005/8/layout/hierarchy1"/>
    <dgm:cxn modelId="{C0F01A0B-95DE-B14F-875F-795550C06D09}" type="presParOf" srcId="{1DE9C430-8051-484F-9CCD-4DE7AC3F0382}" destId="{CF82D1DA-9947-7B40-AEE5-0764B13F835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59F91B-A412-4046-9AE9-167787D1DE0B}">
      <dsp:nvSpPr>
        <dsp:cNvPr id="0" name=""/>
        <dsp:cNvSpPr/>
      </dsp:nvSpPr>
      <dsp:spPr>
        <a:xfrm>
          <a:off x="0" y="473"/>
          <a:ext cx="8207375" cy="110785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89B75D-60E8-4A38-AC23-0DC503925009}">
      <dsp:nvSpPr>
        <dsp:cNvPr id="0" name=""/>
        <dsp:cNvSpPr/>
      </dsp:nvSpPr>
      <dsp:spPr>
        <a:xfrm>
          <a:off x="7311995" y="249740"/>
          <a:ext cx="609319" cy="6093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39B92-C7E8-4937-BA2F-63BBE1282096}">
      <dsp:nvSpPr>
        <dsp:cNvPr id="0" name=""/>
        <dsp:cNvSpPr/>
      </dsp:nvSpPr>
      <dsp:spPr>
        <a:xfrm>
          <a:off x="18295" y="473"/>
          <a:ext cx="6927803" cy="1107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48" tIns="117248" rIns="117248" bIns="117248" numCol="1" spcCol="1270" rtlCol="1" anchor="ctr" anchorCtr="0">
          <a:noAutofit/>
        </a:bodyPr>
        <a:lstStyle/>
        <a:p>
          <a:pPr marL="0" lvl="0" indent="0" algn="r" defTabSz="11112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500" b="1" kern="1200" dirty="0"/>
            <a:t>أ: فهم قيم الشركات والقيم الأخلاقية </a:t>
          </a:r>
          <a:endParaRPr lang="en-US" sz="2500" kern="1200" dirty="0"/>
        </a:p>
      </dsp:txBody>
      <dsp:txXfrm>
        <a:off x="18295" y="473"/>
        <a:ext cx="6927803" cy="1107854"/>
      </dsp:txXfrm>
    </dsp:sp>
    <dsp:sp modelId="{F43D942C-5076-405B-826A-BC7DA2026AC7}">
      <dsp:nvSpPr>
        <dsp:cNvPr id="0" name=""/>
        <dsp:cNvSpPr/>
      </dsp:nvSpPr>
      <dsp:spPr>
        <a:xfrm>
          <a:off x="0" y="1385290"/>
          <a:ext cx="8207375" cy="110785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D43BA3-C6FA-40D0-98FE-78504CE20FC3}">
      <dsp:nvSpPr>
        <dsp:cNvPr id="0" name=""/>
        <dsp:cNvSpPr/>
      </dsp:nvSpPr>
      <dsp:spPr>
        <a:xfrm>
          <a:off x="7311995" y="1634558"/>
          <a:ext cx="609319" cy="6093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A8200A-96B4-428C-8E55-83C8FFDC1FB3}">
      <dsp:nvSpPr>
        <dsp:cNvPr id="0" name=""/>
        <dsp:cNvSpPr/>
      </dsp:nvSpPr>
      <dsp:spPr>
        <a:xfrm>
          <a:off x="18295" y="1385290"/>
          <a:ext cx="6927803" cy="1107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48" tIns="117248" rIns="117248" bIns="117248" numCol="1" spcCol="1270" rtlCol="1" anchor="ctr" anchorCtr="0">
          <a:noAutofit/>
        </a:bodyPr>
        <a:lstStyle/>
        <a:p>
          <a:pPr marL="0" lvl="0" indent="0" algn="r" defTabSz="11112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500" b="1" kern="1200" dirty="0"/>
            <a:t>ب: اكتشاف الطرق التي يمكن أن تتسم من خلالها </a:t>
          </a:r>
          <a:br>
            <a:rPr lang="ar-EG" sz="2500" b="1" kern="1200" dirty="0"/>
          </a:br>
          <a:r>
            <a:rPr lang="ar" sz="2500" b="1" kern="1200" dirty="0"/>
            <a:t>الشركات بالأخلاقية </a:t>
          </a:r>
          <a:endParaRPr lang="en-US" sz="2500" kern="1200" dirty="0"/>
        </a:p>
      </dsp:txBody>
      <dsp:txXfrm>
        <a:off x="18295" y="1385290"/>
        <a:ext cx="6927803" cy="1107854"/>
      </dsp:txXfrm>
    </dsp:sp>
    <dsp:sp modelId="{875D741C-CAD9-4AF6-B4FA-DE20C2DFD952}">
      <dsp:nvSpPr>
        <dsp:cNvPr id="0" name=""/>
        <dsp:cNvSpPr/>
      </dsp:nvSpPr>
      <dsp:spPr>
        <a:xfrm>
          <a:off x="0" y="2770108"/>
          <a:ext cx="8207375" cy="110785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8AB56E-E0E6-4724-B224-7DF8D29317AC}">
      <dsp:nvSpPr>
        <dsp:cNvPr id="0" name=""/>
        <dsp:cNvSpPr/>
      </dsp:nvSpPr>
      <dsp:spPr>
        <a:xfrm>
          <a:off x="7311995" y="3019375"/>
          <a:ext cx="609319" cy="60931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D209A1-A39C-4A34-A67B-7F58F8B67DCB}">
      <dsp:nvSpPr>
        <dsp:cNvPr id="0" name=""/>
        <dsp:cNvSpPr/>
      </dsp:nvSpPr>
      <dsp:spPr>
        <a:xfrm>
          <a:off x="18295" y="2770108"/>
          <a:ext cx="6927803" cy="11078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48" tIns="117248" rIns="117248" bIns="117248" numCol="1" spcCol="1270" rtlCol="1" anchor="ctr" anchorCtr="0">
          <a:noAutofit/>
        </a:bodyPr>
        <a:lstStyle/>
        <a:p>
          <a:pPr marL="0" lvl="0" indent="0" algn="r" defTabSz="111125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500" b="1" kern="1200" dirty="0"/>
            <a:t>ج: تصميم سياسة أخلاقية لشركات مُحددة </a:t>
          </a:r>
          <a:endParaRPr lang="en-US" sz="2500" kern="1200" dirty="0"/>
        </a:p>
      </dsp:txBody>
      <dsp:txXfrm>
        <a:off x="18295" y="2770108"/>
        <a:ext cx="6927803" cy="11078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B8D0EB-42D3-F94B-89AB-EB0AD8AE92EB}">
      <dsp:nvSpPr>
        <dsp:cNvPr id="0" name=""/>
        <dsp:cNvSpPr/>
      </dsp:nvSpPr>
      <dsp:spPr>
        <a:xfrm>
          <a:off x="4258978" y="1874"/>
          <a:ext cx="3105818" cy="1863490"/>
        </a:xfrm>
        <a:prstGeom prst="rect">
          <a:avLst/>
        </a:prstGeom>
        <a:gradFill rotWithShape="0">
          <a:gsLst>
            <a:gs pos="0">
              <a:schemeClr val="accent6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rtlCol="1" anchor="ctr" anchorCtr="0">
          <a:noAutofit/>
        </a:bodyPr>
        <a:lstStyle/>
        <a:p>
          <a:pPr marL="0" lvl="0" indent="0" algn="ctr" defTabSz="1689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800" kern="1200" dirty="0"/>
            <a:t>أ-1 قيم مختلفة للشركات</a:t>
          </a:r>
          <a:endParaRPr lang="en-US" sz="3800" kern="1200" dirty="0"/>
        </a:p>
      </dsp:txBody>
      <dsp:txXfrm>
        <a:off x="4258978" y="1874"/>
        <a:ext cx="3105818" cy="1863490"/>
      </dsp:txXfrm>
    </dsp:sp>
    <dsp:sp modelId="{B54ED087-3C1B-CF4A-BD37-8BCD120117B5}">
      <dsp:nvSpPr>
        <dsp:cNvPr id="0" name=""/>
        <dsp:cNvSpPr/>
      </dsp:nvSpPr>
      <dsp:spPr>
        <a:xfrm>
          <a:off x="842578" y="1874"/>
          <a:ext cx="3105818" cy="1863490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rtlCol="1" anchor="ctr" anchorCtr="0">
          <a:noAutofit/>
        </a:bodyPr>
        <a:lstStyle/>
        <a:p>
          <a:pPr marL="0" lvl="0" indent="0" algn="ctr" defTabSz="1689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800" kern="1200"/>
            <a:t>أ-2 قيم أخلاقية مختلفة</a:t>
          </a:r>
          <a:endParaRPr lang="en-US" sz="3800" kern="1200"/>
        </a:p>
      </dsp:txBody>
      <dsp:txXfrm>
        <a:off x="842578" y="1874"/>
        <a:ext cx="3105818" cy="1863490"/>
      </dsp:txXfrm>
    </dsp:sp>
    <dsp:sp modelId="{652427F8-5B2D-D047-8AF1-559BA2B28C2E}">
      <dsp:nvSpPr>
        <dsp:cNvPr id="0" name=""/>
        <dsp:cNvSpPr/>
      </dsp:nvSpPr>
      <dsp:spPr>
        <a:xfrm>
          <a:off x="2550778" y="2175946"/>
          <a:ext cx="3105818" cy="1863490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rtlCol="1" anchor="ctr" anchorCtr="0">
          <a:noAutofit/>
        </a:bodyPr>
        <a:lstStyle/>
        <a:p>
          <a:pPr marL="0" lvl="0" indent="0" algn="ctr" defTabSz="1689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800" kern="1200"/>
            <a:t>أ-3 مزايا وعيوب الالتزام بالأخلاقيات</a:t>
          </a:r>
          <a:endParaRPr lang="en-US" sz="3800" kern="1200"/>
        </a:p>
      </dsp:txBody>
      <dsp:txXfrm>
        <a:off x="2550778" y="2175946"/>
        <a:ext cx="3105818" cy="18634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B8D0EB-42D3-F94B-89AB-EB0AD8AE92EB}">
      <dsp:nvSpPr>
        <dsp:cNvPr id="0" name=""/>
        <dsp:cNvSpPr/>
      </dsp:nvSpPr>
      <dsp:spPr>
        <a:xfrm>
          <a:off x="5642570" y="353532"/>
          <a:ext cx="2564804" cy="1538882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rtlCol="1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500" kern="1200" dirty="0">
              <a:solidFill>
                <a:srgbClr val="7030A0"/>
              </a:solidFill>
            </a:rPr>
            <a:t>ب-1 الطرق التي تعتبر بها الشركات أخلاقية تجاه الموظفين</a:t>
          </a:r>
          <a:endParaRPr lang="en-US" sz="2500" kern="1200" dirty="0">
            <a:solidFill>
              <a:srgbClr val="7030A0"/>
            </a:solidFill>
          </a:endParaRPr>
        </a:p>
      </dsp:txBody>
      <dsp:txXfrm>
        <a:off x="5642570" y="353532"/>
        <a:ext cx="2564804" cy="1538882"/>
      </dsp:txXfrm>
    </dsp:sp>
    <dsp:sp modelId="{B54ED087-3C1B-CF4A-BD37-8BCD120117B5}">
      <dsp:nvSpPr>
        <dsp:cNvPr id="0" name=""/>
        <dsp:cNvSpPr/>
      </dsp:nvSpPr>
      <dsp:spPr>
        <a:xfrm>
          <a:off x="2821285" y="353532"/>
          <a:ext cx="2564804" cy="1538882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rtlCol="1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500" kern="1200">
              <a:solidFill>
                <a:srgbClr val="7030A0"/>
              </a:solidFill>
            </a:rPr>
            <a:t>ب-2 طرق التي تتسم الشركات من خلالها بالأخلاقية تجاه الموردين</a:t>
          </a:r>
          <a:endParaRPr lang="en-US" sz="2500" kern="1200" dirty="0">
            <a:solidFill>
              <a:srgbClr val="7030A0"/>
            </a:solidFill>
          </a:endParaRPr>
        </a:p>
      </dsp:txBody>
      <dsp:txXfrm>
        <a:off x="2821285" y="353532"/>
        <a:ext cx="2564804" cy="1538882"/>
      </dsp:txXfrm>
    </dsp:sp>
    <dsp:sp modelId="{652427F8-5B2D-D047-8AF1-559BA2B28C2E}">
      <dsp:nvSpPr>
        <dsp:cNvPr id="0" name=""/>
        <dsp:cNvSpPr/>
      </dsp:nvSpPr>
      <dsp:spPr>
        <a:xfrm>
          <a:off x="0" y="353532"/>
          <a:ext cx="2564804" cy="1538882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rtlCol="1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500" kern="1200">
              <a:solidFill>
                <a:srgbClr val="7030A0"/>
              </a:solidFill>
            </a:rPr>
            <a:t>ب-3 الطرق التي تعتبر بها الشركات أخلاقية تجاه العملاء</a:t>
          </a:r>
          <a:endParaRPr lang="en-US" sz="2500" kern="1200" dirty="0">
            <a:solidFill>
              <a:srgbClr val="7030A0"/>
            </a:solidFill>
          </a:endParaRPr>
        </a:p>
      </dsp:txBody>
      <dsp:txXfrm>
        <a:off x="0" y="353532"/>
        <a:ext cx="2564804" cy="1538882"/>
      </dsp:txXfrm>
    </dsp:sp>
    <dsp:sp modelId="{3B8D58CB-2034-5B49-AE1C-D0D447ABD56E}">
      <dsp:nvSpPr>
        <dsp:cNvPr id="0" name=""/>
        <dsp:cNvSpPr/>
      </dsp:nvSpPr>
      <dsp:spPr>
        <a:xfrm>
          <a:off x="4231927" y="2148896"/>
          <a:ext cx="2564804" cy="1538882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rtlCol="1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500" kern="1200">
              <a:solidFill>
                <a:srgbClr val="7030A0"/>
              </a:solidFill>
            </a:rPr>
            <a:t>ب-4 الطرق التي تعتبر بها الشركات أخلاقية تجاه المجتمع</a:t>
          </a:r>
          <a:endParaRPr lang="en-US" sz="2500" kern="1200" dirty="0">
            <a:solidFill>
              <a:srgbClr val="7030A0"/>
            </a:solidFill>
          </a:endParaRPr>
        </a:p>
      </dsp:txBody>
      <dsp:txXfrm>
        <a:off x="4231927" y="2148896"/>
        <a:ext cx="2564804" cy="1538882"/>
      </dsp:txXfrm>
    </dsp:sp>
    <dsp:sp modelId="{6B659A42-BD98-DA47-84C2-7EDD80EF6456}">
      <dsp:nvSpPr>
        <dsp:cNvPr id="0" name=""/>
        <dsp:cNvSpPr/>
      </dsp:nvSpPr>
      <dsp:spPr>
        <a:xfrm>
          <a:off x="1410642" y="2148896"/>
          <a:ext cx="2564804" cy="1538882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rtlCol="1" anchor="ctr" anchorCtr="0">
          <a:noAutofit/>
        </a:bodyPr>
        <a:lstStyle/>
        <a:p>
          <a:pPr marL="0" lvl="0" indent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500" kern="1200">
              <a:solidFill>
                <a:srgbClr val="7030A0"/>
              </a:solidFill>
            </a:rPr>
            <a:t>ب-5 المخاطر المحتملة على الشركة إذا لم تتم معالجة المشكلات الأخلاقية</a:t>
          </a:r>
          <a:endParaRPr lang="en-US" sz="2500" kern="1200" dirty="0">
            <a:solidFill>
              <a:srgbClr val="7030A0"/>
            </a:solidFill>
          </a:endParaRPr>
        </a:p>
      </dsp:txBody>
      <dsp:txXfrm>
        <a:off x="1410642" y="2148896"/>
        <a:ext cx="2564804" cy="15388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B5AA7C-06C7-DB46-909A-1E175C5B762C}">
      <dsp:nvSpPr>
        <dsp:cNvPr id="0" name=""/>
        <dsp:cNvSpPr/>
      </dsp:nvSpPr>
      <dsp:spPr>
        <a:xfrm>
          <a:off x="0" y="1031286"/>
          <a:ext cx="5111751" cy="1208537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 dirty="0">
              <a:solidFill>
                <a:schemeClr val="accent4"/>
              </a:solidFill>
            </a:rPr>
            <a:t>توفر ملصقات غذائية دقيقة لأولئك الذين يعانون </a:t>
          </a:r>
          <a:br>
            <a:rPr lang="ar-EG" sz="2000" kern="1200" dirty="0">
              <a:solidFill>
                <a:schemeClr val="accent4"/>
              </a:solidFill>
            </a:rPr>
          </a:br>
          <a:r>
            <a:rPr lang="ar" sz="2000" kern="1200" dirty="0">
              <a:solidFill>
                <a:schemeClr val="accent4"/>
              </a:solidFill>
            </a:rPr>
            <a:t>من الحساسية والاحتياجات الغذائية</a:t>
          </a:r>
          <a:endParaRPr lang="en-US" sz="2000" kern="1200" dirty="0">
            <a:solidFill>
              <a:schemeClr val="accent4"/>
            </a:solidFill>
          </a:endParaRPr>
        </a:p>
      </dsp:txBody>
      <dsp:txXfrm>
        <a:off x="58996" y="1090282"/>
        <a:ext cx="4993759" cy="1090545"/>
      </dsp:txXfrm>
    </dsp:sp>
    <dsp:sp modelId="{21D33D2A-5518-C542-88BB-50B11B3AB644}">
      <dsp:nvSpPr>
        <dsp:cNvPr id="0" name=""/>
        <dsp:cNvSpPr/>
      </dsp:nvSpPr>
      <dsp:spPr>
        <a:xfrm>
          <a:off x="0" y="2233796"/>
          <a:ext cx="5111751" cy="121680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 dirty="0">
              <a:solidFill>
                <a:schemeClr val="accent4"/>
              </a:solidFill>
            </a:rPr>
            <a:t>تبين بوضوح القيمة الغذائية للطعام، بما في ذلك مستويات السكر والملح والدهون.</a:t>
          </a:r>
          <a:endParaRPr lang="en-US" sz="2000" kern="1200" dirty="0">
            <a:solidFill>
              <a:schemeClr val="accent4"/>
            </a:solidFill>
          </a:endParaRPr>
        </a:p>
      </dsp:txBody>
      <dsp:txXfrm>
        <a:off x="59399" y="2293195"/>
        <a:ext cx="4992953" cy="1098002"/>
      </dsp:txXfrm>
    </dsp:sp>
    <dsp:sp modelId="{22F2D8F1-0B3C-654A-BA37-11705357934E}">
      <dsp:nvSpPr>
        <dsp:cNvPr id="0" name=""/>
        <dsp:cNvSpPr/>
      </dsp:nvSpPr>
      <dsp:spPr>
        <a:xfrm>
          <a:off x="0" y="3468369"/>
          <a:ext cx="5111751" cy="121680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rtlCol="1" anchor="ctr" anchorCtr="0">
          <a:noAutofit/>
        </a:bodyPr>
        <a:lstStyle/>
        <a:p>
          <a:pPr marL="0" lvl="0" indent="0" algn="r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2000" kern="1200" dirty="0">
              <a:solidFill>
                <a:schemeClr val="accent4"/>
              </a:solidFill>
            </a:rPr>
            <a:t>تتأكد من سلامة منتجاتها وتغليفها لضمان عدم حدوث </a:t>
          </a:r>
          <a:br>
            <a:rPr lang="ar-EG" sz="2000" kern="1200" dirty="0">
              <a:solidFill>
                <a:schemeClr val="accent4"/>
              </a:solidFill>
            </a:rPr>
          </a:br>
          <a:r>
            <a:rPr lang="ar" sz="2000" kern="1200" dirty="0">
              <a:solidFill>
                <a:schemeClr val="accent4"/>
              </a:solidFill>
            </a:rPr>
            <a:t>أي ضرر أو إصابات للمستهلكين.</a:t>
          </a:r>
          <a:endParaRPr lang="en-US" sz="2000" kern="1200" dirty="0">
            <a:solidFill>
              <a:schemeClr val="accent4"/>
            </a:solidFill>
          </a:endParaRPr>
        </a:p>
      </dsp:txBody>
      <dsp:txXfrm>
        <a:off x="59399" y="3527768"/>
        <a:ext cx="4992953" cy="109800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9452A1-59AD-4A43-B41C-3EE0CFF02744}">
      <dsp:nvSpPr>
        <dsp:cNvPr id="0" name=""/>
        <dsp:cNvSpPr/>
      </dsp:nvSpPr>
      <dsp:spPr>
        <a:xfrm>
          <a:off x="4258978" y="1874"/>
          <a:ext cx="3105818" cy="1863490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rtlCol="1" anchor="ctr" anchorCtr="0">
          <a:noAutofit/>
        </a:bodyPr>
        <a:lstStyle/>
        <a:p>
          <a:pPr marL="0" lvl="0" indent="0" algn="ctr" defTabSz="1689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800" kern="1200" dirty="0">
              <a:solidFill>
                <a:srgbClr val="7030A0"/>
              </a:solidFill>
            </a:rPr>
            <a:t>دفع الضرائب </a:t>
          </a:r>
          <a:br>
            <a:rPr lang="ar-EG" sz="3800" kern="1200" dirty="0">
              <a:solidFill>
                <a:srgbClr val="7030A0"/>
              </a:solidFill>
            </a:rPr>
          </a:br>
          <a:r>
            <a:rPr lang="ar" sz="3800" kern="1200" dirty="0">
              <a:solidFill>
                <a:srgbClr val="7030A0"/>
              </a:solidFill>
            </a:rPr>
            <a:t>في وقتها</a:t>
          </a:r>
          <a:endParaRPr lang="en-US" sz="3800" kern="1200" dirty="0">
            <a:solidFill>
              <a:srgbClr val="7030A0"/>
            </a:solidFill>
          </a:endParaRPr>
        </a:p>
      </dsp:txBody>
      <dsp:txXfrm>
        <a:off x="4258978" y="1874"/>
        <a:ext cx="3105818" cy="1863490"/>
      </dsp:txXfrm>
    </dsp:sp>
    <dsp:sp modelId="{BE993D9D-EB87-1945-9E6F-9090DB5B47C1}">
      <dsp:nvSpPr>
        <dsp:cNvPr id="0" name=""/>
        <dsp:cNvSpPr/>
      </dsp:nvSpPr>
      <dsp:spPr>
        <a:xfrm>
          <a:off x="842578" y="1874"/>
          <a:ext cx="3105818" cy="1863490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rtlCol="1" anchor="ctr" anchorCtr="0">
          <a:noAutofit/>
        </a:bodyPr>
        <a:lstStyle/>
        <a:p>
          <a:pPr marL="0" lvl="0" indent="0" algn="ctr" defTabSz="1689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800" kern="1200">
              <a:solidFill>
                <a:srgbClr val="7030A0"/>
              </a:solidFill>
            </a:rPr>
            <a:t>عدم التهرب من دفع الضرائب</a:t>
          </a:r>
          <a:endParaRPr lang="en-US" sz="3800" kern="1200" dirty="0">
            <a:solidFill>
              <a:srgbClr val="7030A0"/>
            </a:solidFill>
          </a:endParaRPr>
        </a:p>
      </dsp:txBody>
      <dsp:txXfrm>
        <a:off x="842578" y="1874"/>
        <a:ext cx="3105818" cy="1863490"/>
      </dsp:txXfrm>
    </dsp:sp>
    <dsp:sp modelId="{7B7F772F-BE0E-F943-8BFD-14E44EF69028}">
      <dsp:nvSpPr>
        <dsp:cNvPr id="0" name=""/>
        <dsp:cNvSpPr/>
      </dsp:nvSpPr>
      <dsp:spPr>
        <a:xfrm>
          <a:off x="2550778" y="2175946"/>
          <a:ext cx="3105818" cy="1863490"/>
        </a:xfrm>
        <a:prstGeom prst="rect">
          <a:avLst/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rtlCol="1" anchor="ctr" anchorCtr="0">
          <a:noAutofit/>
        </a:bodyPr>
        <a:lstStyle/>
        <a:p>
          <a:pPr marL="0" lvl="0" indent="0" algn="ctr" defTabSz="1689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3800" kern="1200" dirty="0">
              <a:solidFill>
                <a:srgbClr val="7030A0"/>
              </a:solidFill>
            </a:rPr>
            <a:t>استخدام الإعانات الحكومية بمسؤولية</a:t>
          </a:r>
          <a:endParaRPr lang="en-US" sz="3800" kern="1200" dirty="0">
            <a:solidFill>
              <a:srgbClr val="7030A0"/>
            </a:solidFill>
          </a:endParaRPr>
        </a:p>
      </dsp:txBody>
      <dsp:txXfrm>
        <a:off x="2550778" y="2175946"/>
        <a:ext cx="3105818" cy="18634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9C4172-1FB8-C64D-9DF8-49A77EB2B12C}">
      <dsp:nvSpPr>
        <dsp:cNvPr id="0" name=""/>
        <dsp:cNvSpPr/>
      </dsp:nvSpPr>
      <dsp:spPr>
        <a:xfrm>
          <a:off x="4185964" y="537126"/>
          <a:ext cx="3424081" cy="21742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9E5FB0B-C01D-4840-80A5-0194AD7FFAF4}">
      <dsp:nvSpPr>
        <dsp:cNvPr id="0" name=""/>
        <dsp:cNvSpPr/>
      </dsp:nvSpPr>
      <dsp:spPr>
        <a:xfrm>
          <a:off x="4566417" y="898556"/>
          <a:ext cx="3424081" cy="21742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rtlCol="1" anchor="ctr" anchorCtr="0">
          <a:noAutofit/>
        </a:bodyPr>
        <a:lstStyle/>
        <a:p>
          <a:pPr marL="0" lvl="0" indent="0" algn="ctr" defTabSz="1911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4300" kern="1200"/>
            <a:t>ج-1 التخطيط للسياسة الأخلاقية</a:t>
          </a:r>
          <a:endParaRPr lang="en-US" sz="4300" kern="1200"/>
        </a:p>
      </dsp:txBody>
      <dsp:txXfrm>
        <a:off x="4630100" y="962239"/>
        <a:ext cx="3296715" cy="2046925"/>
      </dsp:txXfrm>
    </dsp:sp>
    <dsp:sp modelId="{ABA55FB1-A24C-C748-AA99-37E57BC29559}">
      <dsp:nvSpPr>
        <dsp:cNvPr id="0" name=""/>
        <dsp:cNvSpPr/>
      </dsp:nvSpPr>
      <dsp:spPr>
        <a:xfrm>
          <a:off x="975" y="537126"/>
          <a:ext cx="3424081" cy="217429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lumMod val="20000"/>
                <a:lumOff val="8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9A063DB-7F65-E144-BF7C-E062436A3CE4}">
      <dsp:nvSpPr>
        <dsp:cNvPr id="0" name=""/>
        <dsp:cNvSpPr/>
      </dsp:nvSpPr>
      <dsp:spPr>
        <a:xfrm>
          <a:off x="381429" y="898556"/>
          <a:ext cx="3424081" cy="21742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rtlCol="1" anchor="ctr" anchorCtr="0">
          <a:noAutofit/>
        </a:bodyPr>
        <a:lstStyle/>
        <a:p>
          <a:pPr marL="0" lvl="0" indent="0" algn="ctr" defTabSz="1911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" sz="4300" kern="1200"/>
            <a:t>ج-2 وضع سياسة أخلاقية</a:t>
          </a:r>
          <a:endParaRPr lang="en-US" sz="4300" kern="1200"/>
        </a:p>
      </dsp:txBody>
      <dsp:txXfrm>
        <a:off x="445112" y="962239"/>
        <a:ext cx="3296715" cy="20469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 algn="r" rtl="1">
          <a:lnSpc>
            <a:spcPct val="100000"/>
          </a:lnSpc>
        </a:lvl1pPr>
        <a:lvl2pPr algn="r" rtl="1"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 noProof="0"/>
              <a:t>Click to edit Master text styles</a:t>
            </a:r>
          </a:p>
          <a:p>
            <a:pPr lvl="1" rtl="1"/>
            <a:r>
              <a:rPr lang="ar" noProof="0"/>
              <a:t>Second level</a:t>
            </a:r>
          </a:p>
          <a:p>
            <a:pPr lvl="2" rtl="1"/>
            <a:r>
              <a:rPr lang="ar" noProof="0"/>
              <a:t>Third level</a:t>
            </a:r>
          </a:p>
          <a:p>
            <a:pPr lvl="3" rtl="1"/>
            <a:r>
              <a:rPr lang="ar" noProof="0"/>
              <a:t>Fourth level</a:t>
            </a:r>
          </a:p>
          <a:p>
            <a:pPr lvl="4" rtl="1"/>
            <a:r>
              <a:rPr lang="ar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</a:bodyPr>
          <a:lstStyle>
            <a:lvl1pPr algn="r" rtl="1" eaLnBrk="1" hangingPunct="1">
              <a:defRPr sz="1200"/>
            </a:lvl1pPr>
          </a:lstStyle>
          <a:p>
            <a:pPr rtl="1"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dirty="0">
              <a:effectLst/>
              <a:latin typeface="Helvetica" pitchFamily="2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782827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65911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0528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8550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74102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506431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70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293504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184381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dirty="0">
              <a:effectLst/>
              <a:latin typeface="Helvetica" pitchFamily="2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47329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749988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964551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117471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781256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021914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222544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179099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841029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16177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159649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9543483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594890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926575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/>
              <a:t>34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917786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/>
          <a:p>
            <a:pPr rtl="1"/>
            <a:endParaRPr lang="en-GB" altLang="en-US" dirty="0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/>
            <a:fld id="{386B70D7-3B14-48B4-B744-A52FB5A4C04C}" type="slidenum">
              <a:rPr lang="en-GB" altLang="en-US" smtClean="0"/>
              <a:pPr rtl="1"/>
              <a:t>35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24036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Unit X: xxxxxxxxxxxxxxxxxxxxx</a:t>
            </a:r>
            <a:endParaRPr lang="en-GB" altLang="en-US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</a:lstStyle>
          <a:p>
            <a:pPr rtl="1"/>
            <a:r>
              <a:rPr lang="ar"/>
              <a:t>Learning aim x</a:t>
            </a:r>
            <a:endParaRPr lang="en-US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  <a:endParaRPr lang="en-GB" alt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  <a:p>
            <a:pPr rtl="1"/>
            <a:endParaRPr lang="en-GB"/>
          </a:p>
          <a:p>
            <a:pPr rtl="1"/>
            <a:endParaRPr lang="en-GB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Blue subhead</a:t>
            </a:r>
          </a:p>
          <a:p>
            <a:pPr rtl="1"/>
            <a:r>
              <a:rPr lang="ar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Body text xxxxxxxxxxxxxxxxxxxxxxxxxxxxxxxxxxxxxxxxx: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r>
              <a:rPr lang="ar"/>
              <a:t>Bullet text</a:t>
            </a:r>
          </a:p>
          <a:p>
            <a:pPr lvl="1" rt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rtlCol="1"/>
          <a:lstStyle>
            <a:lvl1pPr marL="0" indent="0" algn="ctr" rtl="1">
              <a:buNone/>
              <a:defRPr/>
            </a:lvl1pPr>
            <a:lvl2pPr marL="457200" indent="0" algn="ctr" rtl="1">
              <a:buNone/>
              <a:defRPr/>
            </a:lvl2pPr>
            <a:lvl3pPr marL="914400" indent="0" algn="ctr" rtl="1">
              <a:buNone/>
              <a:defRPr/>
            </a:lvl3pPr>
            <a:lvl4pPr marL="1371600" indent="0" algn="ctr" rtl="1">
              <a:buNone/>
              <a:defRPr/>
            </a:lvl4pPr>
            <a:lvl5pPr marL="1828800" indent="0" algn="ctr" rtl="1">
              <a:buNone/>
              <a:defRPr/>
            </a:lvl5pPr>
            <a:lvl6pPr marL="2286000" indent="0" algn="ctr" rtl="1">
              <a:buNone/>
              <a:defRPr/>
            </a:lvl6pPr>
            <a:lvl7pPr marL="2743200" indent="0" algn="ctr" rtl="1">
              <a:buNone/>
              <a:defRPr/>
            </a:lvl7pPr>
            <a:lvl8pPr marL="3200400" indent="0" algn="ctr" rtl="1">
              <a:buNone/>
              <a:defRPr/>
            </a:lvl8pPr>
            <a:lvl9pPr marL="3657600" indent="0" algn="ctr" rtl="1">
              <a:buNone/>
              <a:defRPr/>
            </a:lvl9pPr>
          </a:lstStyle>
          <a:p>
            <a:pPr rtl="1"/>
            <a:r>
              <a:rPr lang="ar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rtlCol="1" anchor="t"/>
          <a:lstStyle>
            <a:lvl1pPr algn="r" rtl="1">
              <a:defRPr sz="4000" b="1" cap="all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000"/>
            </a:lvl1pPr>
            <a:lvl2pPr marL="457200" indent="0" algn="r" rtl="1">
              <a:buNone/>
              <a:defRPr sz="1800"/>
            </a:lvl2pPr>
            <a:lvl3pPr marL="914400" indent="0" algn="r" rtl="1">
              <a:buNone/>
              <a:defRPr sz="1600"/>
            </a:lvl3pPr>
            <a:lvl4pPr marL="1371600" indent="0" algn="r" rtl="1">
              <a:buNone/>
              <a:defRPr sz="1400"/>
            </a:lvl4pPr>
            <a:lvl5pPr marL="1828800" indent="0" algn="r" rtl="1">
              <a:buNone/>
              <a:defRPr sz="1400"/>
            </a:lvl5pPr>
            <a:lvl6pPr marL="2286000" indent="0" algn="r" rtl="1">
              <a:buNone/>
              <a:defRPr sz="1400"/>
            </a:lvl6pPr>
            <a:lvl7pPr marL="2743200" indent="0" algn="r" rtl="1">
              <a:buNone/>
              <a:defRPr sz="1400"/>
            </a:lvl7pPr>
            <a:lvl8pPr marL="3200400" indent="0" algn="r" rtl="1">
              <a:buNone/>
              <a:defRPr sz="1400"/>
            </a:lvl8pPr>
            <a:lvl9pPr marL="3657600" indent="0" algn="r" rtl="1">
              <a:buNone/>
              <a:defRPr sz="14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800"/>
            </a:lvl6pPr>
            <a:lvl7pPr algn="r" rtl="1">
              <a:defRPr sz="1800"/>
            </a:lvl7pPr>
            <a:lvl8pPr algn="r" rtl="1">
              <a:defRPr sz="1800"/>
            </a:lvl8pPr>
            <a:lvl9pPr algn="r" rtl="1">
              <a:defRPr sz="18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>
            <a:lvl1pPr algn="r" rtl="1">
              <a:defRPr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rtlCol="1" anchor="b"/>
          <a:lstStyle>
            <a:lvl1pPr marL="0" indent="0" algn="r" rtl="1">
              <a:buNone/>
              <a:defRPr sz="2400" b="1"/>
            </a:lvl1pPr>
            <a:lvl2pPr marL="457200" indent="0" algn="r" rtl="1">
              <a:buNone/>
              <a:defRPr sz="2000" b="1"/>
            </a:lvl2pPr>
            <a:lvl3pPr marL="914400" indent="0" algn="r" rtl="1">
              <a:buNone/>
              <a:defRPr sz="1800" b="1"/>
            </a:lvl3pPr>
            <a:lvl4pPr marL="1371600" indent="0" algn="r" rtl="1">
              <a:buNone/>
              <a:defRPr sz="1600" b="1"/>
            </a:lvl4pPr>
            <a:lvl5pPr marL="1828800" indent="0" algn="r" rtl="1">
              <a:buNone/>
              <a:defRPr sz="1600" b="1"/>
            </a:lvl5pPr>
            <a:lvl6pPr marL="2286000" indent="0" algn="r" rtl="1">
              <a:buNone/>
              <a:defRPr sz="1600" b="1"/>
            </a:lvl6pPr>
            <a:lvl7pPr marL="2743200" indent="0" algn="r" rtl="1">
              <a:buNone/>
              <a:defRPr sz="1600" b="1"/>
            </a:lvl7pPr>
            <a:lvl8pPr marL="3200400" indent="0" algn="r" rtl="1">
              <a:buNone/>
              <a:defRPr sz="1600" b="1"/>
            </a:lvl8pPr>
            <a:lvl9pPr marL="3657600" indent="0" algn="r" rtl="1">
              <a:buNone/>
              <a:defRPr sz="1600" b="1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1600"/>
            </a:lvl6pPr>
            <a:lvl7pPr algn="r" rtl="1">
              <a:defRPr sz="1600"/>
            </a:lvl7pPr>
            <a:lvl8pPr algn="r" rtl="1">
              <a:defRPr sz="1600"/>
            </a:lvl8pPr>
            <a:lvl9pPr algn="r" rtl="1">
              <a:defRPr sz="16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 rtlCol="1"/>
          <a:lstStyle>
            <a:lvl1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 algn="r" rtl="1">
              <a:defRPr sz="2000"/>
            </a:lvl6pPr>
            <a:lvl7pPr algn="r" rtl="1">
              <a:defRPr sz="2000"/>
            </a:lvl7pPr>
            <a:lvl8pPr algn="r" rtl="1">
              <a:defRPr sz="2000"/>
            </a:lvl8pPr>
            <a:lvl9pPr algn="r" rtl="1">
              <a:defRPr sz="2000"/>
            </a:lvl9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1">
            <a:normAutofit/>
          </a:bodyPr>
          <a:lstStyle>
            <a:lvl1pPr marL="0" indent="0" algn="r" rtl="1">
              <a:buNone/>
              <a:defRPr sz="3200"/>
            </a:lvl1pPr>
            <a:lvl2pPr marL="457200" indent="0" algn="r" rtl="1">
              <a:buNone/>
              <a:defRPr sz="2800"/>
            </a:lvl2pPr>
            <a:lvl3pPr marL="914400" indent="0" algn="r" rtl="1">
              <a:buNone/>
              <a:defRPr sz="2400"/>
            </a:lvl3pPr>
            <a:lvl4pPr marL="1371600" indent="0" algn="r" rtl="1">
              <a:buNone/>
              <a:defRPr sz="2000"/>
            </a:lvl4pPr>
            <a:lvl5pPr marL="1828800" indent="0" algn="r" rtl="1">
              <a:buNone/>
              <a:defRPr sz="2000"/>
            </a:lvl5pPr>
            <a:lvl6pPr marL="2286000" indent="0" algn="r" rtl="1">
              <a:buNone/>
              <a:defRPr sz="2000"/>
            </a:lvl6pPr>
            <a:lvl7pPr marL="2743200" indent="0" algn="r" rtl="1">
              <a:buNone/>
              <a:defRPr sz="2000"/>
            </a:lvl7pPr>
            <a:lvl8pPr marL="3200400" indent="0" algn="r" rtl="1">
              <a:buNone/>
              <a:defRPr sz="2000"/>
            </a:lvl8pPr>
            <a:lvl9pPr marL="3657600" indent="0" algn="r" rtl="1">
              <a:buNone/>
              <a:defRPr sz="2000"/>
            </a:lvl9pPr>
          </a:lstStyle>
          <a:p>
            <a:pPr lvl="0" rtl="1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rtlCol="1" anchor="b"/>
          <a:lstStyle>
            <a:lvl1pPr algn="r" rtl="1">
              <a:defRPr sz="2000" b="1"/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 rtlCol="1"/>
          <a:lstStyle>
            <a:lvl1pPr marL="0" indent="0" algn="r" rtl="1">
              <a:buNone/>
              <a:defRPr sz="1400"/>
            </a:lvl1pPr>
            <a:lvl2pPr marL="457200" indent="0" algn="r" rtl="1">
              <a:buNone/>
              <a:defRPr sz="1200"/>
            </a:lvl2pPr>
            <a:lvl3pPr marL="914400" indent="0" algn="r" rtl="1">
              <a:buNone/>
              <a:defRPr sz="1000"/>
            </a:lvl3pPr>
            <a:lvl4pPr marL="1371600" indent="0" algn="r" rtl="1">
              <a:buNone/>
              <a:defRPr sz="900"/>
            </a:lvl4pPr>
            <a:lvl5pPr marL="1828800" indent="0" algn="r" rtl="1">
              <a:buNone/>
              <a:defRPr sz="900"/>
            </a:lvl5pPr>
            <a:lvl6pPr marL="2286000" indent="0" algn="r" rtl="1">
              <a:buNone/>
              <a:defRPr sz="900"/>
            </a:lvl6pPr>
            <a:lvl7pPr marL="2743200" indent="0" algn="r" rtl="1">
              <a:buNone/>
              <a:defRPr sz="900"/>
            </a:lvl7pPr>
            <a:lvl8pPr marL="3200400" indent="0" algn="r" rtl="1">
              <a:buNone/>
              <a:defRPr sz="900"/>
            </a:lvl8pPr>
            <a:lvl9pPr marL="3657600" indent="0" algn="r" rtl="1">
              <a:buNone/>
              <a:defRPr sz="900"/>
            </a:lvl9pPr>
          </a:lstStyle>
          <a:p>
            <a:pPr lvl="0" rtl="1"/>
            <a:r>
              <a:rPr lang="ar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 rtlCol="1"/>
          <a:lstStyle>
            <a:lvl1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 rtlCol="1"/>
          <a:lstStyle>
            <a:lvl1pPr algn="r" rtl="1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r" rtl="1"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1"/>
            <a:r>
              <a:rPr lang="ar"/>
              <a:t>Click to edit Master text styles</a:t>
            </a:r>
          </a:p>
          <a:p>
            <a:pPr lvl="1" rtl="1"/>
            <a:r>
              <a:rPr lang="ar"/>
              <a:t>Second level</a:t>
            </a:r>
          </a:p>
          <a:p>
            <a:pPr lvl="2" rtl="1"/>
            <a:r>
              <a:rPr lang="ar"/>
              <a:t>Third level</a:t>
            </a:r>
          </a:p>
          <a:p>
            <a:pPr lvl="3" rtl="1"/>
            <a:r>
              <a:rPr lang="ar"/>
              <a:t>Fourth level</a:t>
            </a:r>
          </a:p>
          <a:p>
            <a:pPr lvl="4" rtl="1"/>
            <a:r>
              <a:rPr lang="ar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 rtlCol="1"/>
          <a:lstStyle/>
          <a:p>
            <a:pPr rtl="1"/>
            <a:r>
              <a:rPr lang="ar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1">
            <a:normAutofit/>
          </a:bodyPr>
          <a:lstStyle/>
          <a:p>
            <a:pPr lvl="0" rtl="1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 rtlCol="1"/>
          <a:lstStyle>
            <a:lvl1pPr algn="r" rtl="1">
              <a:defRPr/>
            </a:lvl1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audio" Target="../media/audio1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5" Type="http://schemas.openxmlformats.org/officeDocument/2006/relationships/image" Target="../media/image6.jpeg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audio" Target="../media/audio1.bin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image" Target="../media/image7.jpeg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audio" Target="../media/audio1.bin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2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7.xml"/><Relationship Id="rId7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6.xml"/><Relationship Id="rId2" Type="http://schemas.openxmlformats.org/officeDocument/2006/relationships/slideLayout" Target="../slideLayouts/slideLayout76.xml"/><Relationship Id="rId1" Type="http://schemas.openxmlformats.org/officeDocument/2006/relationships/slideLayout" Target="../slideLayouts/slideLayout75.xml"/><Relationship Id="rId6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5.xml"/><Relationship Id="rId5" Type="http://schemas.openxmlformats.org/officeDocument/2006/relationships/slideLayout" Target="../slideLayouts/slideLayout79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4.xml"/><Relationship Id="rId4" Type="http://schemas.openxmlformats.org/officeDocument/2006/relationships/slideLayout" Target="../slideLayouts/slideLayout78.xml"/><Relationship Id="rId9" Type="http://schemas.openxmlformats.org/officeDocument/2006/relationships/slideLayout" Target="../slideLayouts/slideLayout83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4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9.xml"/><Relationship Id="rId7" Type="http://schemas.openxmlformats.org/officeDocument/2006/relationships/slideLayout" Target="../slideLayouts/slideLayout93.xml"/><Relationship Id="rId12" Type="http://schemas.openxmlformats.org/officeDocument/2006/relationships/slideLayout" Target="../slideLayouts/slideLayout98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Relationship Id="rId6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1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0.xml"/><Relationship Id="rId9" Type="http://schemas.openxmlformats.org/officeDocument/2006/relationships/slideLayout" Target="../slideLayouts/slideLayout95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2" Type="http://schemas.openxmlformats.org/officeDocument/2006/relationships/slideLayout" Target="../slideLayouts/slideLayout100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slideLayout" Target="../slideLayouts/slideLayout122.xml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115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D2F03B45-C01A-B8EF-DE73-3B3276B919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 rtlCol="1">
            <a:sp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rtl="1" eaLnBrk="1" hangingPunct="1">
              <a:defRPr/>
            </a:pPr>
            <a:r>
              <a:rPr lang="ar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lvl="0" rtl="1"/>
            <a:r>
              <a:rPr lang="ar"/>
              <a:t>Use simple bullet points and lines, with no more than two lines per bullet point if possible.</a:t>
            </a:r>
          </a:p>
          <a:p>
            <a:pPr lvl="0" rtl="1"/>
            <a:r>
              <a:rPr lang="ar"/>
              <a:t>Try to use a maximum of ten words per line. </a:t>
            </a:r>
          </a:p>
          <a:p>
            <a:pPr lvl="0" rtl="1"/>
            <a:r>
              <a:rPr lang="ar"/>
              <a:t>Set up generic formatting on this master. </a:t>
            </a:r>
          </a:p>
          <a:p>
            <a:pPr lvl="0" rtl="1"/>
            <a:r>
              <a:rPr lang="ar"/>
              <a:t>By applying this master to your slides, you’ll maintain consistent font and bullet style.</a:t>
            </a:r>
          </a:p>
          <a:p>
            <a:pPr lvl="0" rtl="1"/>
            <a:r>
              <a:rPr lang="ar"/>
              <a:t>To change the layout of individual slides, select ‘Slide layout’ and choose the desired layout from the right-hand menu.</a:t>
            </a:r>
          </a:p>
          <a:p>
            <a:pPr lvl="0" rtl="1"/>
            <a:r>
              <a:rPr lang="ar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>
            <a:lvl1pPr algn="ctr" rtl="1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 algn="r" rtl="1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 algn="r" rtl="1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 rtl="1">
              <a:defRPr/>
            </a:pPr>
            <a:r>
              <a:rPr lang="ar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.xml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0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1.jpe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3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7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23.jpeg"/></Relationships>
</file>

<file path=ppt/slides/_rels/slide2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8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29587" y="1596401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-SA" dirty="0"/>
              <a:t>الوحدة 13</a:t>
            </a:r>
            <a:br>
              <a:rPr lang="ar-SA" altLang="en-US" dirty="0"/>
            </a:br>
            <a:r>
              <a:rPr lang="ar-SA" dirty="0"/>
              <a:t>أخلاقيات العمل</a:t>
            </a:r>
            <a:r>
              <a:rPr lang="ar-EG" dirty="0"/>
              <a:t> </a:t>
            </a:r>
            <a:br>
              <a:rPr lang="ar-SA" altLang="en-US" dirty="0"/>
            </a:br>
            <a:br>
              <a:rPr lang="ar-SA" altLang="en-US" dirty="0"/>
            </a:br>
            <a:endParaRPr lang="ar-SA" altLang="en-US" dirty="0"/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rtlCol="1" anchor="t">
            <a:normAutofit/>
          </a:bodyPr>
          <a:lstStyle/>
          <a:p>
            <a:pPr algn="ctr" rtl="1">
              <a:lnSpc>
                <a:spcPct val="90000"/>
              </a:lnSpc>
              <a:spcAft>
                <a:spcPts val="600"/>
              </a:spcAft>
              <a:defRPr/>
            </a:pPr>
            <a:r>
              <a:rPr lang="ar-SA" sz="1400" dirty="0"/>
              <a:t>© شركة بيرسون إيديوكيشن ليمتد 2023. لا يُسمح بالنسخ إلا للمؤسسة المُشترية فقط </a:t>
            </a:r>
          </a:p>
        </p:txBody>
      </p:sp>
      <p:pic>
        <p:nvPicPr>
          <p:cNvPr id="2" name="Picture 1" descr="Close-up of a person shaking hands&#10;&#10;Description automatically generated">
            <a:extLst>
              <a:ext uri="{FF2B5EF4-FFF2-40B4-BE49-F238E27FC236}">
                <a16:creationId xmlns:a16="http://schemas.microsoft.com/office/drawing/2014/main" id="{EF1EDEA0-1831-8F72-7F6A-5E1EB5D1E19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4387" y="3342459"/>
            <a:ext cx="5411972" cy="20790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7C1497-BDA6-3FA1-3532-D1238A8042DC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rtl="1"/>
            <a:r>
              <a:rPr lang="ar-SA" dirty="0"/>
              <a:t>أخلاقيات العمل</a:t>
            </a:r>
            <a:endParaRPr lang="ar-SA" altLang="en-US" dirty="0">
              <a:highlight>
                <a:srgbClr val="FFFF00"/>
              </a:highlight>
            </a:endParaRP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8" y="2077391"/>
            <a:ext cx="8424935" cy="372787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dirty="0"/>
              <a:t>في هذه الوحدة، سيتعرف المتعلمون على قيم العمل والقيم الأخلاقية. </a:t>
            </a:r>
          </a:p>
          <a:p>
            <a:pPr marL="0" indent="0" rtl="1">
              <a:buNone/>
            </a:pPr>
            <a:endParaRPr lang="ar-SA" altLang="en-US" dirty="0"/>
          </a:p>
          <a:p>
            <a:pPr marL="0" indent="0" rtl="1">
              <a:buNone/>
            </a:pPr>
            <a:r>
              <a:rPr lang="ar-SA" dirty="0"/>
              <a:t>وسيستكشفون الطرق التي تكون بها الشركات أخرقية تجاه الموظفين، </a:t>
            </a:r>
            <a:br>
              <a:rPr lang="ar-SA" dirty="0"/>
            </a:br>
            <a:r>
              <a:rPr lang="ar-SA" dirty="0"/>
              <a:t>والعملاء، والموردين، والمجتمع. </a:t>
            </a:r>
          </a:p>
          <a:p>
            <a:pPr marL="0" indent="0" rtl="1">
              <a:buNone/>
            </a:pPr>
            <a:endParaRPr lang="ar-SA" altLang="en-US" dirty="0"/>
          </a:p>
          <a:p>
            <a:pPr marL="0" indent="0" rtl="1">
              <a:buNone/>
            </a:pPr>
            <a:r>
              <a:rPr lang="ar-SA" dirty="0"/>
              <a:t>وسيتعلمون كيفية تصميم وتبرير سياسة أخلاقية لشركة مختارة.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59AB5F-D411-992D-09A1-EA85AB364E77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200"/>
            <a:ext cx="8229600" cy="8640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/>
          <a:p>
            <a:pPr rtl="1"/>
            <a:r>
              <a:rPr lang="ar-SA" dirty="0"/>
              <a:t>أهداف التعلم</a:t>
            </a:r>
            <a:endParaRPr lang="ar-SA" altLang="en-US" dirty="0"/>
          </a:p>
        </p:txBody>
      </p:sp>
      <p:graphicFrame>
        <p:nvGraphicFramePr>
          <p:cNvPr id="32773" name="Content Placeholder 3">
            <a:extLst>
              <a:ext uri="{FF2B5EF4-FFF2-40B4-BE49-F238E27FC236}">
                <a16:creationId xmlns:a16="http://schemas.microsoft.com/office/drawing/2014/main" id="{B617BCA7-F402-EA08-9C0C-630C9DA79D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2047171"/>
              </p:ext>
            </p:extLst>
          </p:nvPr>
        </p:nvGraphicFramePr>
        <p:xfrm>
          <a:off x="468311" y="2196000"/>
          <a:ext cx="8207375" cy="3878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02E1027-77E1-069E-A3A6-B954537A72E7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4972FC8C-DE48-E72E-644B-B7FEA8508A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2719478"/>
              </p:ext>
            </p:extLst>
          </p:nvPr>
        </p:nvGraphicFramePr>
        <p:xfrm>
          <a:off x="222978" y="2242844"/>
          <a:ext cx="8207375" cy="4041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BA046072-89F1-313F-A9F5-6C06A79BE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-SA" sz="3400" b="1" dirty="0">
                <a:solidFill>
                  <a:schemeClr val="tx2"/>
                </a:solidFill>
              </a:rPr>
              <a:t>هدف التعلم أ - الموضوعات</a:t>
            </a:r>
            <a:endParaRPr lang="ar-SA" altLang="en-US" sz="3400" b="1" dirty="0">
              <a:solidFill>
                <a:schemeClr val="tx2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A24CCC-50C3-9F1B-3D58-D3E268AC2E59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61E0-738C-F832-DC86-37065D1A9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951924"/>
          </a:xfrm>
        </p:spPr>
        <p:txBody>
          <a:bodyPr wrap="square" rtlCol="1" anchor="ctr">
            <a:normAutofit/>
          </a:bodyPr>
          <a:lstStyle/>
          <a:p>
            <a:pPr rtl="1">
              <a:lnSpc>
                <a:spcPct val="90000"/>
              </a:lnSpc>
            </a:pPr>
            <a:r>
              <a:rPr lang="ar-SA" sz="3200" dirty="0">
                <a:effectLst/>
              </a:rPr>
              <a:t>أ-1 قيم مختلفة للشركات</a:t>
            </a:r>
            <a:endParaRPr lang="ar-SA" sz="1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D2D87-AC72-CD4B-9403-621D3926E5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309" y="3152586"/>
            <a:ext cx="4333429" cy="2587617"/>
          </a:xfrm>
        </p:spPr>
        <p:txBody>
          <a:bodyPr wrap="square" rtlCol="1" anchor="t">
            <a:norm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-SA" sz="2000" dirty="0">
                <a:effectLst/>
                <a:latin typeface="Arial"/>
                <a:cs typeface="Arial"/>
              </a:rPr>
              <a:t>تتضمن قيم العمل النموذجية ما يلي:</a:t>
            </a:r>
          </a:p>
          <a:p>
            <a:pPr marL="0" indent="0" rtl="1">
              <a:lnSpc>
                <a:spcPct val="90000"/>
              </a:lnSpc>
              <a:buNone/>
            </a:pPr>
            <a:endParaRPr lang="ar-SA" sz="2000" dirty="0">
              <a:latin typeface="Arial"/>
              <a:cs typeface="Arial"/>
            </a:endParaRPr>
          </a:p>
          <a:p>
            <a:pPr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SA" sz="2000" dirty="0">
                <a:effectLst/>
                <a:latin typeface="Arial"/>
                <a:cs typeface="Arial"/>
              </a:rPr>
              <a:t>الكفاءة</a:t>
            </a:r>
          </a:p>
          <a:p>
            <a:pPr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SA" sz="2000" dirty="0">
                <a:effectLst/>
                <a:latin typeface="Arial"/>
                <a:cs typeface="Arial"/>
              </a:rPr>
              <a:t>جودة الخدمات والسلع</a:t>
            </a:r>
          </a:p>
          <a:p>
            <a:pPr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SA" sz="2000" dirty="0">
                <a:effectLst/>
                <a:latin typeface="Arial"/>
                <a:cs typeface="Arial"/>
              </a:rPr>
              <a:t>النمو</a:t>
            </a:r>
          </a:p>
          <a:p>
            <a:pPr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SA" sz="2000" dirty="0">
                <a:effectLst/>
                <a:latin typeface="Arial"/>
                <a:cs typeface="Arial"/>
              </a:rPr>
              <a:t>الابتكار</a:t>
            </a:r>
          </a:p>
          <a:p>
            <a:pPr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SA" sz="2000" dirty="0">
                <a:effectLst/>
                <a:latin typeface="Arial"/>
                <a:cs typeface="Arial"/>
              </a:rPr>
              <a:t>الرِّبْح</a:t>
            </a:r>
            <a:endParaRPr lang="ar-SA" sz="2000" dirty="0"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E88F95-6533-30D6-EAF4-23FD11C7F1B0}"/>
              </a:ext>
            </a:extLst>
          </p:cNvPr>
          <p:cNvSpPr txBox="1"/>
          <p:nvPr/>
        </p:nvSpPr>
        <p:spPr>
          <a:xfrm>
            <a:off x="827584" y="1983662"/>
            <a:ext cx="7568270" cy="1015663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rtl="1"/>
            <a:r>
              <a:rPr lang="ar-SA" sz="2000" dirty="0">
                <a:latin typeface="Arial"/>
                <a:cs typeface="Arial"/>
              </a:rPr>
              <a:t>قد يطلق على </a:t>
            </a:r>
            <a:r>
              <a:rPr lang="ar-SA" sz="2000" b="1" dirty="0">
                <a:latin typeface="Arial"/>
                <a:cs typeface="Arial"/>
              </a:rPr>
              <a:t>قيم الشركة</a:t>
            </a:r>
            <a:r>
              <a:rPr lang="ar-SA" sz="2000" dirty="0">
                <a:latin typeface="Arial"/>
                <a:cs typeface="Arial"/>
              </a:rPr>
              <a:t> أحيانًا القيم المحورية. </a:t>
            </a:r>
            <a:endParaRPr lang="ar-SA" sz="2000" dirty="0"/>
          </a:p>
          <a:p>
            <a:pPr rtl="1"/>
            <a:r>
              <a:rPr lang="ar-SA" sz="2000" dirty="0">
                <a:latin typeface="Arial"/>
                <a:cs typeface="Arial"/>
              </a:rPr>
              <a:t>وهي قوام ما تمثله الشركة - أي معتقداتها ومبادئها.</a:t>
            </a:r>
          </a:p>
          <a:p>
            <a:pPr rtl="1"/>
            <a:r>
              <a:rPr lang="ar-SA" sz="2000" dirty="0">
                <a:latin typeface="Arial"/>
                <a:cs typeface="Arial"/>
              </a:rPr>
              <a:t>ويتم استخدامها لتوجيه الطريقة التي تعمل بها الشركة</a:t>
            </a:r>
          </a:p>
        </p:txBody>
      </p:sp>
      <p:pic>
        <p:nvPicPr>
          <p:cNvPr id="4" name="Picture 3" descr="A hand pouring a small glass to a plant">
            <a:extLst>
              <a:ext uri="{FF2B5EF4-FFF2-40B4-BE49-F238E27FC236}">
                <a16:creationId xmlns:a16="http://schemas.microsoft.com/office/drawing/2014/main" id="{18691422-D27E-D6B2-C040-B69A30B9FFF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50530" y="3308984"/>
            <a:ext cx="3345324" cy="22748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324A6C-305F-BFDA-390C-E2F6B0225911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123634923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8A245-74F7-02D9-D34C-114F6B0A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</p:spPr>
        <p:txBody>
          <a:bodyPr wrap="square" rtlCol="1" anchor="ctr">
            <a:noAutofit/>
          </a:bodyPr>
          <a:lstStyle/>
          <a:p>
            <a:pPr rtl="1">
              <a:lnSpc>
                <a:spcPct val="90000"/>
              </a:lnSpc>
            </a:pPr>
            <a:br>
              <a:rPr lang="ar-SA" sz="3200" dirty="0">
                <a:effectLst/>
              </a:rPr>
            </a:br>
            <a:r>
              <a:rPr lang="ar-SA" sz="3200" dirty="0">
                <a:effectLst/>
              </a:rPr>
              <a:t>أ-2 قيم أخلاقية مختلفة</a:t>
            </a:r>
            <a:br>
              <a:rPr lang="ar-SA" sz="3200" dirty="0">
                <a:effectLst/>
              </a:rPr>
            </a:br>
            <a:endParaRPr lang="ar-SA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DAB57-C471-AAD7-D535-5D5F0F15B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16871" y="3272035"/>
            <a:ext cx="4258815" cy="3096344"/>
          </a:xfrm>
        </p:spPr>
        <p:txBody>
          <a:bodyPr wrap="square" rtlCol="1" anchor="t">
            <a:normAutofit lnSpcReduction="10000"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-SA" dirty="0">
                <a:effectLst/>
                <a:latin typeface="Arial"/>
                <a:cs typeface="Arial"/>
              </a:rPr>
              <a:t>تشمل القيم الأخلاقية النموذجية ما يلي:</a:t>
            </a:r>
          </a:p>
          <a:p>
            <a:pPr marL="0" indent="0" rtl="1">
              <a:lnSpc>
                <a:spcPct val="90000"/>
              </a:lnSpc>
              <a:buNone/>
            </a:pPr>
            <a:endParaRPr lang="ar-SA" dirty="0">
              <a:latin typeface="Arial"/>
              <a:cs typeface="Arial"/>
            </a:endParaRPr>
          </a:p>
          <a:p>
            <a:pPr lvl="1" rtl="1">
              <a:lnSpc>
                <a:spcPct val="90000"/>
              </a:lnSpc>
              <a:buFont typeface="Arial" pitchFamily="2" charset="2"/>
              <a:buChar char="•"/>
            </a:pPr>
            <a:r>
              <a:rPr lang="ar-SA" dirty="0">
                <a:effectLst/>
                <a:latin typeface="Arial"/>
                <a:cs typeface="Arial"/>
              </a:rPr>
              <a:t>المسؤولية</a:t>
            </a:r>
            <a:endParaRPr lang="ar-SA" dirty="0">
              <a:effectLst/>
              <a:latin typeface="Arial" charset="0"/>
              <a:cs typeface="Arial"/>
            </a:endParaRPr>
          </a:p>
          <a:p>
            <a:pPr lvl="1" rtl="1">
              <a:lnSpc>
                <a:spcPct val="90000"/>
              </a:lnSpc>
              <a:buFont typeface="Arial" pitchFamily="2" charset="2"/>
              <a:buChar char="•"/>
            </a:pPr>
            <a:r>
              <a:rPr lang="ar-SA" dirty="0">
                <a:effectLst/>
                <a:latin typeface="Arial"/>
                <a:cs typeface="Arial"/>
              </a:rPr>
              <a:t>الصدق</a:t>
            </a:r>
            <a:endParaRPr lang="ar-SA" dirty="0">
              <a:effectLst/>
              <a:latin typeface="Arial" charset="0"/>
              <a:cs typeface="Arial"/>
            </a:endParaRPr>
          </a:p>
          <a:p>
            <a:pPr lvl="1" rtl="1">
              <a:lnSpc>
                <a:spcPct val="90000"/>
              </a:lnSpc>
              <a:buFont typeface="Arial" pitchFamily="2" charset="2"/>
              <a:buChar char="•"/>
            </a:pPr>
            <a:r>
              <a:rPr lang="ar-SA" dirty="0">
                <a:effectLst/>
                <a:latin typeface="Arial"/>
                <a:cs typeface="Arial"/>
              </a:rPr>
              <a:t>الانفتاح</a:t>
            </a:r>
            <a:endParaRPr lang="ar-SA" dirty="0">
              <a:effectLst/>
              <a:latin typeface="Arial" charset="0"/>
              <a:cs typeface="Arial"/>
            </a:endParaRPr>
          </a:p>
          <a:p>
            <a:pPr lvl="1" rtl="1">
              <a:lnSpc>
                <a:spcPct val="90000"/>
              </a:lnSpc>
              <a:buFont typeface="Arial" pitchFamily="2" charset="2"/>
              <a:buChar char="•"/>
            </a:pPr>
            <a:r>
              <a:rPr lang="ar-SA" dirty="0">
                <a:effectLst/>
                <a:latin typeface="Arial"/>
                <a:cs typeface="Arial"/>
              </a:rPr>
              <a:t>الشفافية</a:t>
            </a:r>
            <a:endParaRPr lang="ar-SA" dirty="0">
              <a:effectLst/>
              <a:latin typeface="Arial" charset="0"/>
              <a:cs typeface="Arial"/>
            </a:endParaRPr>
          </a:p>
          <a:p>
            <a:pPr lvl="1" rtl="1">
              <a:lnSpc>
                <a:spcPct val="90000"/>
              </a:lnSpc>
              <a:buFont typeface="Arial" pitchFamily="2" charset="2"/>
              <a:buChar char="•"/>
            </a:pPr>
            <a:r>
              <a:rPr lang="ar-SA" dirty="0">
                <a:effectLst/>
                <a:latin typeface="Arial"/>
                <a:cs typeface="Arial"/>
              </a:rPr>
              <a:t>الاحترام</a:t>
            </a:r>
            <a:endParaRPr lang="ar-SA" dirty="0">
              <a:effectLst/>
              <a:latin typeface="Arial" charset="0"/>
              <a:cs typeface="Arial"/>
            </a:endParaRPr>
          </a:p>
          <a:p>
            <a:pPr lvl="1" rtl="1">
              <a:lnSpc>
                <a:spcPct val="90000"/>
              </a:lnSpc>
              <a:buFont typeface="Arial" pitchFamily="2" charset="2"/>
              <a:buChar char="•"/>
            </a:pPr>
            <a:r>
              <a:rPr lang="ar-SA" dirty="0">
                <a:effectLst/>
                <a:latin typeface="Arial"/>
                <a:cs typeface="Arial"/>
              </a:rPr>
              <a:t>الإنصاف.</a:t>
            </a:r>
            <a:endParaRPr lang="ar-SA" dirty="0">
              <a:effectLst/>
              <a:latin typeface="Arial" charset="0"/>
              <a:cs typeface="Arial"/>
            </a:endParaRPr>
          </a:p>
          <a:p>
            <a:pPr rtl="1">
              <a:lnSpc>
                <a:spcPct val="90000"/>
              </a:lnSpc>
            </a:pPr>
            <a:endParaRPr lang="ar-SA" dirty="0"/>
          </a:p>
          <a:p>
            <a:pPr rtl="1">
              <a:lnSpc>
                <a:spcPct val="90000"/>
              </a:lnSpc>
            </a:pPr>
            <a:endParaRPr lang="ar-S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3CBBC0-85D0-E44B-46F3-B7CFA5E7247D}"/>
              </a:ext>
            </a:extLst>
          </p:cNvPr>
          <p:cNvSpPr txBox="1"/>
          <p:nvPr/>
        </p:nvSpPr>
        <p:spPr>
          <a:xfrm>
            <a:off x="544512" y="2097557"/>
            <a:ext cx="8131174" cy="757130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pPr rtl="1">
              <a:lnSpc>
                <a:spcPct val="90000"/>
              </a:lnSpc>
            </a:pPr>
            <a:r>
              <a:rPr lang="ar-SA" sz="2400" dirty="0">
                <a:latin typeface="Arial"/>
                <a:cs typeface="Arial"/>
              </a:rPr>
              <a:t>تشكل </a:t>
            </a:r>
            <a:r>
              <a:rPr lang="ar-SA" sz="2400" b="1" dirty="0">
                <a:latin typeface="Arial"/>
                <a:cs typeface="Arial"/>
              </a:rPr>
              <a:t>القيم الأخلاقية</a:t>
            </a:r>
            <a:r>
              <a:rPr lang="ar-SA" sz="2400" dirty="0">
                <a:latin typeface="Arial"/>
                <a:cs typeface="Arial"/>
              </a:rPr>
              <a:t> نبراسًا تهتدي به الشركة في أداء أعمالها. </a:t>
            </a:r>
            <a:endParaRPr lang="ar-SA" sz="2400" dirty="0"/>
          </a:p>
          <a:p>
            <a:pPr rtl="1">
              <a:lnSpc>
                <a:spcPct val="90000"/>
              </a:lnSpc>
            </a:pPr>
            <a:r>
              <a:rPr lang="ar-SA" sz="2400" dirty="0">
                <a:latin typeface="Arial"/>
                <a:cs typeface="Arial"/>
              </a:rPr>
              <a:t>وهي ترتبط بالغرض من الشركة وقيمها. </a:t>
            </a:r>
            <a:endParaRPr lang="ar-SA" sz="240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5CF99A3-1945-1A99-40F2-CB2EA05026A5}"/>
              </a:ext>
            </a:extLst>
          </p:cNvPr>
          <p:cNvGrpSpPr/>
          <p:nvPr/>
        </p:nvGrpSpPr>
        <p:grpSpPr>
          <a:xfrm>
            <a:off x="289841" y="4820207"/>
            <a:ext cx="2564804" cy="1538882"/>
            <a:chOff x="0" y="353532"/>
            <a:chExt cx="2564804" cy="15388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1515CB-6D34-6532-2FF3-ACC927122F78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C76931-5F0D-83A4-3BEB-162438B3965C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sz="2400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sz="2400" dirty="0">
                  <a:solidFill>
                    <a:srgbClr val="7030A0"/>
                  </a:solidFill>
                </a:rPr>
                <a:t>لماذا تعتبر القيم الأخلاقية مهمة؟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81774A8-7731-A311-DD43-EA2330EE98BA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62786941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B47D-73AF-0ADD-9D35-16E632F14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6752"/>
            <a:ext cx="9144000" cy="1125866"/>
          </a:xfrm>
        </p:spPr>
        <p:txBody>
          <a:bodyPr rtlCol="1"/>
          <a:lstStyle/>
          <a:p>
            <a:pPr rtl="1"/>
            <a:br>
              <a:rPr lang="ar-SA" dirty="0">
                <a:effectLst/>
                <a:latin typeface="Helvetica" pitchFamily="2" charset="0"/>
              </a:rPr>
            </a:br>
            <a:r>
              <a:rPr lang="ar-SA" sz="2800" dirty="0">
                <a:effectLst/>
              </a:rPr>
              <a:t>أ-3 مزايا وعيوب الالتزام بالأخلاقيات (2)</a:t>
            </a:r>
            <a:br>
              <a:rPr lang="ar-SA" dirty="0">
                <a:effectLst/>
                <a:latin typeface="Helvetica" pitchFamily="2" charset="0"/>
              </a:rPr>
            </a:br>
            <a:endParaRPr lang="ar-S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3A824-3236-EA8C-EF9E-4F369C750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312" y="2636912"/>
            <a:ext cx="7991475" cy="3508332"/>
          </a:xfrm>
        </p:spPr>
        <p:txBody>
          <a:bodyPr rtlCol="1"/>
          <a:lstStyle/>
          <a:p>
            <a:pPr marL="0" indent="0" rtl="1">
              <a:buNone/>
            </a:pPr>
            <a:r>
              <a:rPr lang="ar-SA" dirty="0">
                <a:effectLst/>
                <a:latin typeface="Helvetica" pitchFamily="2" charset="0"/>
              </a:rPr>
              <a:t>هناك أيضًا </a:t>
            </a:r>
            <a:r>
              <a:rPr lang="ar-SA" b="1" dirty="0">
                <a:effectLst/>
                <a:latin typeface="Helvetica" pitchFamily="2" charset="0"/>
              </a:rPr>
              <a:t>مزايا غير مالية </a:t>
            </a:r>
            <a:r>
              <a:rPr lang="ar-SA" dirty="0">
                <a:effectLst/>
                <a:latin typeface="Helvetica" pitchFamily="2" charset="0"/>
              </a:rPr>
              <a:t>تحصلها الشركات من وراء التزامها بالأخلاقيات. </a:t>
            </a:r>
            <a:br>
              <a:rPr lang="ar-SA" dirty="0">
                <a:effectLst/>
                <a:latin typeface="Helvetica" pitchFamily="2" charset="0"/>
              </a:rPr>
            </a:br>
            <a:r>
              <a:rPr lang="ar-SA" dirty="0">
                <a:effectLst/>
                <a:latin typeface="Helvetica" pitchFamily="2" charset="0"/>
              </a:rPr>
              <a:t>قد تشمل ما يلي: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dirty="0">
                <a:effectLst/>
                <a:latin typeface="Helvetica" pitchFamily="2" charset="0"/>
              </a:rPr>
              <a:t>تحسين ولاء العملاء واستبقائهم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dirty="0"/>
              <a:t>إنشاء صورة إيجابية للعلامة التجارية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dirty="0">
                <a:effectLst/>
                <a:latin typeface="Helvetica" pitchFamily="2" charset="0"/>
              </a:rPr>
              <a:t>تعزيز ممارسات الموارد البشرية (بما في ذلك تحفيز الموظفين بشكل أفضل، والتوظيف الأسهل، والاحتفاظ بالموظفين)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dirty="0">
                <a:effectLst/>
                <a:latin typeface="Helvetica" pitchFamily="2" charset="0"/>
              </a:rPr>
              <a:t>تقليل مخاطر شكاوى العملاء أو عمل مجموعات الضغط.</a:t>
            </a:r>
          </a:p>
          <a:p>
            <a:pPr rtl="1"/>
            <a:endParaRPr lang="ar-S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FC5EE3-EBED-E915-6A28-0BF39EE7B25C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2452961407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B47D-73AF-0ADD-9D35-16E632F14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268760"/>
            <a:ext cx="8910736" cy="432048"/>
          </a:xfrm>
        </p:spPr>
        <p:txBody>
          <a:bodyPr rtlCol="1"/>
          <a:lstStyle/>
          <a:p>
            <a:pPr algn="r" rtl="1"/>
            <a:br>
              <a:rPr lang="ar-SA" dirty="0">
                <a:effectLst/>
                <a:latin typeface="Helvetica" pitchFamily="2" charset="0"/>
              </a:rPr>
            </a:br>
            <a:r>
              <a:rPr lang="ar-SA" sz="2800" dirty="0">
                <a:effectLst/>
              </a:rPr>
              <a:t>أ-3 مزايا وعيوب الالتزام بالأخلاقيات (1)</a:t>
            </a:r>
            <a:br>
              <a:rPr lang="ar-SA" sz="4400" dirty="0">
                <a:effectLst/>
                <a:latin typeface="Helvetica" pitchFamily="2" charset="0"/>
              </a:rPr>
            </a:br>
            <a:br>
              <a:rPr lang="ar-SA" sz="4400" dirty="0">
                <a:effectLst/>
                <a:latin typeface="Helvetica" pitchFamily="2" charset="0"/>
              </a:rPr>
            </a:br>
            <a:endParaRPr lang="ar-SA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3A824-3236-EA8C-EF9E-4F369C750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18537" y="2479539"/>
            <a:ext cx="4701935" cy="3672408"/>
          </a:xfrm>
        </p:spPr>
        <p:txBody>
          <a:bodyPr rtlCol="1"/>
          <a:lstStyle/>
          <a:p>
            <a:pPr rtl="1">
              <a:buFont typeface="Arial" panose="020B0604020202020204" pitchFamily="34" charset="0"/>
              <a:buChar char="•"/>
            </a:pPr>
            <a:r>
              <a:rPr lang="ar-SA" sz="2000" dirty="0">
                <a:latin typeface="Arial"/>
                <a:cs typeface="Arial"/>
              </a:rPr>
              <a:t>دعم أفضل للعملاء، يؤدي إلى:</a:t>
            </a:r>
          </a:p>
          <a:p>
            <a:pPr lvl="1" rtl="1">
              <a:buFont typeface="Courier New" panose="02070309020205020404" pitchFamily="49" charset="0"/>
              <a:buChar char="o"/>
            </a:pPr>
            <a:r>
              <a:rPr lang="ar-SA" sz="2000" dirty="0"/>
              <a:t>زيادة في حجم مبيعاتها وقيمة المبيعات</a:t>
            </a:r>
          </a:p>
          <a:p>
            <a:pPr lvl="1" rtl="1">
              <a:buFont typeface="Courier New" panose="02070309020205020404" pitchFamily="49" charset="0"/>
              <a:buChar char="o"/>
            </a:pPr>
            <a:r>
              <a:rPr lang="ar-SA" sz="2000" dirty="0"/>
              <a:t>زيادة الربحية</a:t>
            </a:r>
            <a:endParaRPr lang="ar-SA" sz="2000" dirty="0">
              <a:latin typeface="Arial"/>
              <a:cs typeface="Arial"/>
            </a:endParaRPr>
          </a:p>
          <a:p>
            <a:pPr lvl="1" rtl="1">
              <a:buFont typeface="Courier New" panose="02070309020205020404" pitchFamily="49" charset="0"/>
              <a:buChar char="o"/>
            </a:pPr>
            <a:r>
              <a:rPr lang="ar-SA" sz="2000" dirty="0">
                <a:latin typeface="Arial"/>
                <a:cs typeface="Arial"/>
              </a:rPr>
              <a:t>زيادة القيمة الإجمالية للشركة</a:t>
            </a:r>
            <a:endParaRPr lang="ar-SA" sz="2000" dirty="0">
              <a:effectLst/>
              <a:latin typeface="Arial"/>
              <a:cs typeface="Arial"/>
            </a:endParaRPr>
          </a:p>
          <a:p>
            <a:pPr rtl="1">
              <a:buFont typeface="Arial" panose="020B0604020202020204" pitchFamily="34" charset="0"/>
              <a:buChar char="•"/>
            </a:pPr>
            <a:r>
              <a:rPr lang="ar-SA" sz="2000" dirty="0"/>
              <a:t>الحصول على القروض والمنح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sz="2000" dirty="0"/>
              <a:t>مزيد من القدرة على فرض أسعار متميزة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sz="2000" dirty="0">
                <a:latin typeface="Arial"/>
                <a:cs typeface="Arial"/>
              </a:rPr>
              <a:t>الحد من مخاطر الأعمال.</a:t>
            </a:r>
            <a:endParaRPr lang="ar-SA" sz="2000" dirty="0">
              <a:effectLst/>
              <a:latin typeface="Arial"/>
              <a:cs typeface="Arial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9C53BD6-2D94-BEDB-B979-F117118589F0}"/>
              </a:ext>
            </a:extLst>
          </p:cNvPr>
          <p:cNvGrpSpPr/>
          <p:nvPr/>
        </p:nvGrpSpPr>
        <p:grpSpPr>
          <a:xfrm>
            <a:off x="126417" y="4149080"/>
            <a:ext cx="2905369" cy="2016224"/>
            <a:chOff x="-169894" y="353532"/>
            <a:chExt cx="2734698" cy="153888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64E0CD6-BF13-560B-568B-02580BFD7BD7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919A67F-46A4-179A-3010-639207841481}"/>
                </a:ext>
              </a:extLst>
            </p:cNvPr>
            <p:cNvSpPr txBox="1"/>
            <p:nvPr/>
          </p:nvSpPr>
          <p:spPr>
            <a:xfrm>
              <a:off x="-169894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sz="2400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sz="2400" dirty="0">
                  <a:solidFill>
                    <a:srgbClr val="7030A0"/>
                  </a:solidFill>
                </a:rPr>
                <a:t>لماذا قد تحتاج الشركة </a:t>
              </a:r>
              <a:br>
                <a:rPr lang="ar-SA" sz="2400" dirty="0">
                  <a:solidFill>
                    <a:srgbClr val="7030A0"/>
                  </a:solidFill>
                </a:rPr>
              </a:br>
              <a:r>
                <a:rPr lang="ar-SA" sz="2400" dirty="0">
                  <a:solidFill>
                    <a:srgbClr val="7030A0"/>
                  </a:solidFill>
                </a:rPr>
                <a:t>إلى قرض أو منحة؟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057E0DC-8BAE-99EE-958D-47039A8D71ED}"/>
              </a:ext>
            </a:extLst>
          </p:cNvPr>
          <p:cNvSpPr txBox="1"/>
          <p:nvPr/>
        </p:nvSpPr>
        <p:spPr>
          <a:xfrm>
            <a:off x="756740" y="1700808"/>
            <a:ext cx="8181428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rtl="1"/>
            <a:r>
              <a:rPr lang="ar-SA" sz="2000" dirty="0">
                <a:effectLst/>
                <a:latin typeface="Helvetica" pitchFamily="2" charset="0"/>
              </a:rPr>
              <a:t>هناك </a:t>
            </a:r>
            <a:r>
              <a:rPr lang="ar-SA" sz="2000" b="1" dirty="0">
                <a:effectLst/>
                <a:latin typeface="Helvetica" pitchFamily="2" charset="0"/>
              </a:rPr>
              <a:t>مزايا مالية </a:t>
            </a:r>
            <a:r>
              <a:rPr lang="ar-SA" sz="2000" dirty="0">
                <a:effectLst/>
                <a:latin typeface="Helvetica" pitchFamily="2" charset="0"/>
              </a:rPr>
              <a:t>تحصلها الشركات من وراء التزامها بالأخلاقيات. 
قد تشمل ما يلي:</a:t>
            </a:r>
            <a:endParaRPr lang="ar-SA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76E13-8567-A34B-B9F3-B53F58C1609A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813790570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3B47D-73AF-0ADD-9D35-16E632F14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95200"/>
            <a:ext cx="9144000" cy="864000"/>
          </a:xfrm>
        </p:spPr>
        <p:txBody>
          <a:bodyPr wrap="square" rtlCol="1" anchor="ctr">
            <a:noAutofit/>
          </a:bodyPr>
          <a:lstStyle/>
          <a:p>
            <a:pPr rtl="1">
              <a:lnSpc>
                <a:spcPct val="90000"/>
              </a:lnSpc>
            </a:pPr>
            <a:br>
              <a:rPr lang="ar-SA" sz="2800" dirty="0">
                <a:effectLst/>
              </a:rPr>
            </a:br>
            <a:r>
              <a:rPr lang="ar-SA" sz="2800" dirty="0">
                <a:effectLst/>
              </a:rPr>
              <a:t>أ-3 مزايا وعيوب الالتزام بالأخلاقيات (3)</a:t>
            </a:r>
            <a:br>
              <a:rPr lang="ar-SA" sz="2800" dirty="0">
                <a:effectLst/>
              </a:rPr>
            </a:br>
            <a:endParaRPr lang="ar-SA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3A824-3236-EA8C-EF9E-4F369C750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03848" y="3140968"/>
            <a:ext cx="5462445" cy="3012560"/>
          </a:xfrm>
        </p:spPr>
        <p:txBody>
          <a:bodyPr wrap="square" rtlCol="1" anchor="t">
            <a:norm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-SA" sz="1900" dirty="0"/>
              <a:t>قد تشمل ما يلي:</a:t>
            </a:r>
          </a:p>
          <a:p>
            <a:pPr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SA" sz="1900" dirty="0"/>
              <a:t>تشتت الانتباه عن  الأعمال الأساسية</a:t>
            </a:r>
          </a:p>
          <a:p>
            <a:pPr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SA" sz="1900" dirty="0"/>
              <a:t>تكبد تكاليف أعلى للبحث و/أو الاستثمار في أساليب </a:t>
            </a:r>
            <a:br>
              <a:rPr lang="ar-EG" sz="1900" dirty="0"/>
            </a:br>
            <a:r>
              <a:rPr lang="ar-SA" sz="1900" dirty="0"/>
              <a:t>الإنتاج الجديدة </a:t>
            </a:r>
          </a:p>
          <a:p>
            <a:pPr rt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SA" sz="1900" dirty="0"/>
              <a:t>قد تكون النفقات العامة أعلى من حيث التكلفة</a:t>
            </a:r>
          </a:p>
          <a:p>
            <a:pPr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ar-SA" sz="1900" dirty="0"/>
              <a:t>غالبًا ما يكون الحصول على اللوازم من مصادر </a:t>
            </a:r>
            <a:br>
              <a:rPr lang="ar-SA" sz="1900" dirty="0"/>
            </a:br>
            <a:r>
              <a:rPr lang="ar-SA" sz="1900" dirty="0"/>
              <a:t>أخلاقية أكثر تكلفة</a:t>
            </a:r>
          </a:p>
          <a:p>
            <a:pPr rt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ar-SA" sz="1900" dirty="0"/>
          </a:p>
          <a:p>
            <a:pPr marL="57150" indent="0" rtl="1">
              <a:lnSpc>
                <a:spcPct val="90000"/>
              </a:lnSpc>
              <a:buNone/>
            </a:pPr>
            <a:r>
              <a:rPr lang="ar-SA" sz="1900" dirty="0"/>
              <a:t>كل هذا من شأنه التأثير سلبًا على الربحية.</a:t>
            </a:r>
          </a:p>
          <a:p>
            <a:pPr rtl="1">
              <a:lnSpc>
                <a:spcPct val="90000"/>
              </a:lnSpc>
            </a:pPr>
            <a:endParaRPr lang="ar-SA" sz="1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19CF2C-95D5-9893-9478-7EA71C189178}"/>
              </a:ext>
            </a:extLst>
          </p:cNvPr>
          <p:cNvSpPr txBox="1"/>
          <p:nvPr/>
        </p:nvSpPr>
        <p:spPr>
          <a:xfrm>
            <a:off x="477705" y="2304618"/>
            <a:ext cx="8188588" cy="3416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-SA" dirty="0"/>
              <a:t>هناك أيضًا </a:t>
            </a:r>
            <a:r>
              <a:rPr lang="ar-SA" b="1" dirty="0"/>
              <a:t>عيوب</a:t>
            </a:r>
            <a:r>
              <a:rPr lang="ar-SA" dirty="0"/>
              <a:t> محتملة لالتزام الشركات بالأخلاقيات في عملها.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6283AED-70AE-998D-43F7-C6E88F3AE6A4}"/>
              </a:ext>
            </a:extLst>
          </p:cNvPr>
          <p:cNvGrpSpPr/>
          <p:nvPr/>
        </p:nvGrpSpPr>
        <p:grpSpPr>
          <a:xfrm>
            <a:off x="323527" y="2891668"/>
            <a:ext cx="2611950" cy="1445715"/>
            <a:chOff x="0" y="353532"/>
            <a:chExt cx="2564804" cy="153888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8A4FAF7-26E1-6684-0036-99AC319183B3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60F2CCC-F012-B6BA-EF51-817B4E795954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مأ أهمية تحقيق الأرباح </a:t>
              </a:r>
              <a:br>
                <a:rPr lang="ar-SA" dirty="0">
                  <a:solidFill>
                    <a:srgbClr val="7030A0"/>
                  </a:solidFill>
                </a:rPr>
              </a:br>
              <a:r>
                <a:rPr lang="ar-SA" dirty="0">
                  <a:solidFill>
                    <a:srgbClr val="7030A0"/>
                  </a:solidFill>
                </a:rPr>
                <a:t>بالنسبة للشركات؟</a:t>
              </a:r>
            </a:p>
          </p:txBody>
        </p:sp>
      </p:grpSp>
      <p:pic>
        <p:nvPicPr>
          <p:cNvPr id="4" name="Picture 3" descr="A scale with a globe and a pile of money on it">
            <a:extLst>
              <a:ext uri="{FF2B5EF4-FFF2-40B4-BE49-F238E27FC236}">
                <a16:creationId xmlns:a16="http://schemas.microsoft.com/office/drawing/2014/main" id="{D5ED437C-04AE-C9B7-43CB-48E82F6168B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427" y="4475026"/>
            <a:ext cx="2462149" cy="18466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2245AE-AC86-8B9D-9E92-12EC1820DE3B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578325495"/>
      </p:ext>
    </p:extLst>
  </p:cSld>
  <p:clrMapOvr>
    <a:masterClrMapping/>
  </p:clrMapOvr>
  <p:transition>
    <p:sndAc>
      <p:stSnd>
        <p:snd r:embed="rId2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-SA" sz="3400" b="1" dirty="0">
                <a:solidFill>
                  <a:schemeClr val="tx2"/>
                </a:solidFill>
              </a:rPr>
              <a:t>هدف التعلم ب - الموضوعات</a:t>
            </a:r>
            <a:endParaRPr lang="ar-SA" altLang="en-US" sz="3400" b="1" dirty="0">
              <a:solidFill>
                <a:schemeClr val="tx2"/>
              </a:solidFill>
            </a:endParaRP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E3C0C4FA-B447-ECCC-3D22-A8513DC29FCC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692361859"/>
              </p:ext>
            </p:extLst>
          </p:nvPr>
        </p:nvGraphicFramePr>
        <p:xfrm>
          <a:off x="457199" y="2196000"/>
          <a:ext cx="8207375" cy="4041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819163B-6157-5B35-6928-361FB5197644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94342182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744989" y="1977470"/>
            <a:ext cx="5976564" cy="396044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sz="2000" dirty="0">
                <a:latin typeface="Helvetica"/>
                <a:cs typeface="Arial"/>
              </a:rPr>
              <a:t>الشركة الملتزمة بالأخلاقيات: </a:t>
            </a:r>
            <a:endParaRPr lang="ar-SA" sz="2000" dirty="0">
              <a:latin typeface="Helvetica" pitchFamily="2" charset="0"/>
            </a:endParaRPr>
          </a:p>
          <a:p>
            <a:pPr marL="0" indent="0" rtl="1">
              <a:buNone/>
            </a:pPr>
            <a:endParaRPr lang="ar-SA" sz="2000" dirty="0">
              <a:latin typeface="Helvetica"/>
              <a:cs typeface="Arial"/>
            </a:endParaRPr>
          </a:p>
          <a:p>
            <a:pPr rtl="1">
              <a:buFont typeface="Arial" panose="05000000000000000000" pitchFamily="2" charset="2"/>
              <a:buChar char="•"/>
            </a:pPr>
            <a:r>
              <a:rPr lang="ar-SA" sz="2000" dirty="0"/>
              <a:t>تقارن أجور ومكافآت المديرين التنفيذيين - المدفوعات المقدمة لأعضاء مجلس الإدارة والمديرين بمتوسط الدخل داخل الشركة.</a:t>
            </a:r>
          </a:p>
          <a:p>
            <a:pPr rtl="1">
              <a:buFont typeface="Arial" panose="05000000000000000000" pitchFamily="2" charset="2"/>
              <a:buChar char="•"/>
            </a:pPr>
            <a:r>
              <a:rPr lang="ar-SA" sz="2000" dirty="0">
                <a:effectLst/>
                <a:latin typeface="Helvetica"/>
                <a:cs typeface="Arial"/>
              </a:rPr>
              <a:t>تدفع الحد الأدنى للأجور/الأجور المعيشية للموظفين لضمان حصولهم على أموال كافية لإعالة أنفسهم ومن يعولون</a:t>
            </a:r>
          </a:p>
          <a:p>
            <a:pPr rtl="1">
              <a:buFont typeface="Arial" panose="05000000000000000000" pitchFamily="2" charset="2"/>
              <a:buChar char="•"/>
            </a:pPr>
            <a:r>
              <a:rPr lang="ar-SA" sz="2000" dirty="0"/>
              <a:t>تتحمل المسؤولية عن الصحة والسلامة بما يشمل </a:t>
            </a:r>
            <a:br>
              <a:rPr lang="ar-SA" sz="2000" dirty="0"/>
            </a:br>
            <a:r>
              <a:rPr lang="ar-SA" sz="2000" dirty="0"/>
              <a:t>تدريب الموظفين واستخدام المعدات الآمنة.</a:t>
            </a:r>
            <a:endParaRPr lang="ar-SA" altLang="en-US" sz="2000" dirty="0">
              <a:latin typeface="Helvetica"/>
              <a:cs typeface="Arial"/>
            </a:endParaRPr>
          </a:p>
          <a:p>
            <a:pPr marL="685800" rtl="1"/>
            <a:endParaRPr lang="ar-SA" altLang="en-US" sz="2000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6752"/>
            <a:ext cx="9144000" cy="100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3200" dirty="0">
                <a:effectLst/>
              </a:rPr>
              <a:t>ب-1 الطرق التي تعتبر بها الشركات أخلاقية تجاه الموظفين (1)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06268BB-EBD5-FB31-45CE-1F28B4139FB4}"/>
              </a:ext>
            </a:extLst>
          </p:cNvPr>
          <p:cNvGrpSpPr/>
          <p:nvPr/>
        </p:nvGrpSpPr>
        <p:grpSpPr>
          <a:xfrm>
            <a:off x="283992" y="4399464"/>
            <a:ext cx="3144434" cy="1800200"/>
            <a:chOff x="0" y="353532"/>
            <a:chExt cx="2564804" cy="15388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5D520C9-C6E6-6934-1C5F-E45DF3D29BE9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57BDB83-9063-64C7-FDC1-63E5EC88335B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sz="2000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sz="2000" dirty="0">
                  <a:solidFill>
                    <a:srgbClr val="7030A0"/>
                  </a:solidFill>
                </a:rPr>
                <a:t>مأ أهمية الحفاظ على سلامة الموظفين بالنسبة للشركات؟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37AC096-1D1F-DEDF-B6AB-8D86CB109140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276076"/>
            <a:ext cx="9144000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-SA" sz="3200" dirty="0">
                <a:solidFill>
                  <a:schemeClr val="tx2"/>
                </a:solidFill>
                <a:effectLst/>
              </a:rPr>
              <a:t>ب-1 الطرق التي تعتبر بها الشركات أخلاقية تجاه الموظفين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8" y="2568666"/>
            <a:ext cx="4595719" cy="375328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  <a:buFont typeface="Arial" pitchFamily="2" charset="2"/>
              <a:buChar char="•"/>
            </a:pPr>
            <a:r>
              <a:rPr lang="ar-SA" sz="2000" dirty="0">
                <a:latin typeface="Arial"/>
                <a:cs typeface="Arial"/>
              </a:rPr>
              <a:t>إبرام عقود دائمة معهم</a:t>
            </a:r>
          </a:p>
          <a:p>
            <a:pPr rtl="1">
              <a:lnSpc>
                <a:spcPct val="90000"/>
              </a:lnSpc>
              <a:buFont typeface="Arial" pitchFamily="2" charset="2"/>
              <a:buChar char="•"/>
            </a:pPr>
            <a:r>
              <a:rPr lang="ar-SA" sz="2000" dirty="0">
                <a:latin typeface="Arial"/>
                <a:cs typeface="Arial"/>
              </a:rPr>
              <a:t>تجنب:</a:t>
            </a:r>
          </a:p>
          <a:p>
            <a:pPr lvl="1" rt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ar-SA" sz="2000" dirty="0"/>
              <a:t>استخدام عقود العمل بعدد الساعات الصفرية، بدلاً من ذلك يتم ضمان عدد الساعات</a:t>
            </a:r>
          </a:p>
          <a:p>
            <a:pPr lvl="1" rt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ar-SA" sz="2000" dirty="0"/>
              <a:t>التسريح غير ضروري للموظفين </a:t>
            </a:r>
          </a:p>
          <a:p>
            <a:pPr rtl="1">
              <a:lnSpc>
                <a:spcPct val="90000"/>
              </a:lnSpc>
              <a:buFont typeface="Arial" pitchFamily="2" charset="2"/>
              <a:buChar char="•"/>
            </a:pPr>
            <a:r>
              <a:rPr lang="ar-SA" sz="2000" dirty="0">
                <a:latin typeface="Arial"/>
                <a:cs typeface="Arial"/>
              </a:rPr>
              <a:t>تستخدم التحفيز بطريقة مقبولة لمراقبة </a:t>
            </a:r>
            <a:br>
              <a:rPr lang="ar-EG" sz="2000" dirty="0">
                <a:latin typeface="Arial"/>
                <a:cs typeface="Arial"/>
              </a:rPr>
            </a:br>
            <a:r>
              <a:rPr lang="ar-SA" sz="2000" dirty="0">
                <a:latin typeface="Arial"/>
                <a:cs typeface="Arial"/>
              </a:rPr>
              <a:t>أو تقييد الموظفين </a:t>
            </a:r>
            <a:endParaRPr lang="ar-SA" sz="2000" dirty="0"/>
          </a:p>
          <a:p>
            <a:pPr rtl="1">
              <a:lnSpc>
                <a:spcPct val="90000"/>
              </a:lnSpc>
              <a:buFont typeface="Arial" pitchFamily="2" charset="2"/>
              <a:buChar char="•"/>
            </a:pPr>
            <a:r>
              <a:rPr lang="ar-SA" sz="2000" dirty="0"/>
              <a:t>وجود سياسات مناسبة لتقنية المعلومات والتدريب على تقنية المعلومات.</a:t>
            </a:r>
            <a:endParaRPr lang="ar-SA" sz="2000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DE14CF-1CF5-7AC8-9D8D-83D58B090886}"/>
              </a:ext>
            </a:extLst>
          </p:cNvPr>
          <p:cNvSpPr txBox="1"/>
          <p:nvPr/>
        </p:nvSpPr>
        <p:spPr>
          <a:xfrm>
            <a:off x="498376" y="1735179"/>
            <a:ext cx="8147248" cy="3416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-SA" dirty="0"/>
              <a:t>الشركات التي تلتزم بالأخلاقيات لا تستغل موظفيها أو تقلل من شأنهم بل تحفز الموظفين من خلال:</a:t>
            </a:r>
          </a:p>
        </p:txBody>
      </p:sp>
      <p:pic>
        <p:nvPicPr>
          <p:cNvPr id="3" name="Picture 2" descr="A person wearing a head scarf">
            <a:extLst>
              <a:ext uri="{FF2B5EF4-FFF2-40B4-BE49-F238E27FC236}">
                <a16:creationId xmlns:a16="http://schemas.microsoft.com/office/drawing/2014/main" id="{A1CBD541-4B3E-999A-4B3A-C7023DE7ABB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59152" y="2782854"/>
            <a:ext cx="3486472" cy="28948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E0E551-644A-CA2C-1C01-24ECA97377E2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292527279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4" y="2060848"/>
            <a:ext cx="8208712" cy="424847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dirty="0">
                <a:effectLst/>
                <a:latin typeface="Helvetica"/>
                <a:cs typeface="Arial"/>
              </a:rPr>
              <a:t>الشركة الملتزمة بالأخلاقيات:</a:t>
            </a:r>
          </a:p>
          <a:p>
            <a:pPr rtl="1"/>
            <a:r>
              <a:rPr lang="ar-SA" dirty="0">
                <a:latin typeface="Helvetica"/>
                <a:cs typeface="Arial"/>
              </a:rPr>
              <a:t>تضمن الإعلان عن </a:t>
            </a:r>
            <a:r>
              <a:rPr lang="ar-SA" b="1" dirty="0">
                <a:latin typeface="Helvetica"/>
                <a:cs typeface="Arial"/>
              </a:rPr>
              <a:t>تضارب المصالح</a:t>
            </a:r>
            <a:r>
              <a:rPr lang="ar-SA" dirty="0">
                <a:latin typeface="Helvetica"/>
                <a:cs typeface="Arial"/>
              </a:rPr>
              <a:t> (مثل العمل لدى منافس) من قبل الموظفين</a:t>
            </a:r>
          </a:p>
          <a:p>
            <a:pPr rtl="1"/>
            <a:r>
              <a:rPr lang="ar-SA" dirty="0">
                <a:latin typeface="Helvetica"/>
                <a:cs typeface="Arial"/>
              </a:rPr>
              <a:t>توفر </a:t>
            </a:r>
            <a:r>
              <a:rPr lang="ar-SA" b="1" dirty="0">
                <a:latin typeface="Helvetica"/>
                <a:cs typeface="Arial"/>
              </a:rPr>
              <a:t>حماية جيدة للبيانات</a:t>
            </a:r>
            <a:r>
              <a:rPr lang="ar-SA" dirty="0">
                <a:latin typeface="Helvetica"/>
                <a:cs typeface="Arial"/>
              </a:rPr>
              <a:t> لحماية البيانات الشخصية والمصرفية لموظفيها</a:t>
            </a:r>
          </a:p>
          <a:p>
            <a:pPr rtl="1"/>
            <a:r>
              <a:rPr lang="ar-SA" dirty="0">
                <a:latin typeface="Helvetica"/>
                <a:cs typeface="Arial"/>
              </a:rPr>
              <a:t>تعزز </a:t>
            </a:r>
            <a:r>
              <a:rPr lang="ar-SA" b="1" dirty="0">
                <a:latin typeface="Helvetica"/>
                <a:cs typeface="Arial"/>
              </a:rPr>
              <a:t>التنوع </a:t>
            </a:r>
            <a:r>
              <a:rPr lang="ar-SA" dirty="0">
                <a:latin typeface="Helvetica"/>
                <a:cs typeface="Arial"/>
              </a:rPr>
              <a:t>بفاعلية في مكان العمل من خلال تشجيع توظيف الفئات الممثلة تمثيلاً ناقصًا مثل ذوي الإعاقة</a:t>
            </a:r>
          </a:p>
          <a:p>
            <a:pPr rtl="1"/>
            <a:r>
              <a:rPr lang="ar-SA" dirty="0">
                <a:effectLst/>
                <a:latin typeface="Helvetica"/>
                <a:cs typeface="Arial"/>
              </a:rPr>
              <a:t>تشجع </a:t>
            </a:r>
            <a:r>
              <a:rPr lang="ar-SA" b="1" dirty="0">
                <a:effectLst/>
                <a:latin typeface="Helvetica"/>
                <a:cs typeface="Arial"/>
              </a:rPr>
              <a:t>تكافؤ الفرص للجميع</a:t>
            </a:r>
            <a:r>
              <a:rPr lang="ar-SA" dirty="0">
                <a:effectLst/>
                <a:latin typeface="Helvetica"/>
                <a:cs typeface="Arial"/>
              </a:rPr>
              <a:t> في التوظيف والترقية والتدريب.</a:t>
            </a:r>
          </a:p>
          <a:p>
            <a:pPr rtl="1"/>
            <a:endParaRPr lang="ar-SA" dirty="0">
              <a:effectLst/>
              <a:latin typeface="Helvetica" pitchFamily="2" charset="0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6752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3200" dirty="0">
                <a:effectLst/>
              </a:rPr>
              <a:t>ب-1 الطرق التي تعتبر بها الشركات أخلاقية تجاه الموظفين (3)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736E6D-4CB7-E412-7A04-DD7933F82877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54092440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131840" y="1988840"/>
            <a:ext cx="5369460" cy="410445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sz="2000" dirty="0">
                <a:effectLst/>
                <a:latin typeface="Helvetica" pitchFamily="2" charset="0"/>
              </a:rPr>
              <a:t>الشركة الملتزمة بالأخلاقيات:</a:t>
            </a:r>
          </a:p>
          <a:p>
            <a:pPr rtl="1"/>
            <a:r>
              <a:rPr lang="ar-SA" sz="2000" dirty="0">
                <a:latin typeface="Helvetica" pitchFamily="2" charset="0"/>
              </a:rPr>
              <a:t>تتبع سياسات عدم التسامح تجاه </a:t>
            </a:r>
            <a:r>
              <a:rPr lang="ar-SA" sz="2000" b="1" dirty="0">
                <a:latin typeface="Helvetica" pitchFamily="2" charset="0"/>
              </a:rPr>
              <a:t>دفع الرشاوى</a:t>
            </a:r>
          </a:p>
          <a:p>
            <a:pPr rtl="1"/>
            <a:r>
              <a:rPr lang="ar-SA" sz="2000" dirty="0">
                <a:latin typeface="Helvetica" pitchFamily="2" charset="0"/>
              </a:rPr>
              <a:t>لديها أنظمة قائمة لتفادي </a:t>
            </a:r>
            <a:r>
              <a:rPr lang="ar-SA" sz="2000" b="1" dirty="0">
                <a:latin typeface="Helvetica" pitchFamily="2" charset="0"/>
              </a:rPr>
              <a:t>الفساد والاحتيال</a:t>
            </a:r>
          </a:p>
          <a:p>
            <a:pPr rtl="1"/>
            <a:r>
              <a:rPr lang="ar-SA" sz="2000" dirty="0">
                <a:latin typeface="Helvetica" pitchFamily="2" charset="0"/>
              </a:rPr>
              <a:t>تحمي </a:t>
            </a:r>
            <a:r>
              <a:rPr lang="ar-SA" sz="2000" b="1" dirty="0">
                <a:latin typeface="Helvetica" pitchFamily="2" charset="0"/>
              </a:rPr>
              <a:t>المبلغين عن المخالفات</a:t>
            </a:r>
            <a:r>
              <a:rPr lang="ar-SA" sz="2000" dirty="0">
                <a:latin typeface="Helvetica" pitchFamily="2" charset="0"/>
              </a:rPr>
              <a:t> وتشجع ثقافة "التحدث" </a:t>
            </a:r>
            <a:br>
              <a:rPr lang="ar-SA" sz="2000" dirty="0">
                <a:latin typeface="Helvetica" pitchFamily="2" charset="0"/>
              </a:rPr>
            </a:br>
            <a:r>
              <a:rPr lang="ar-SA" sz="2000" dirty="0">
                <a:latin typeface="Helvetica" pitchFamily="2" charset="0"/>
              </a:rPr>
              <a:t>في مكان العمل</a:t>
            </a:r>
          </a:p>
          <a:p>
            <a:pPr rtl="1"/>
            <a:r>
              <a:rPr lang="ar-SA" sz="2000" dirty="0">
                <a:latin typeface="Helvetica" pitchFamily="2" charset="0"/>
              </a:rPr>
              <a:t>تتجنب استخدام </a:t>
            </a:r>
            <a:r>
              <a:rPr lang="ar-SA" sz="2000" b="1" dirty="0">
                <a:latin typeface="Helvetica" pitchFamily="2" charset="0"/>
              </a:rPr>
              <a:t>عمالة الأطفال</a:t>
            </a:r>
            <a:r>
              <a:rPr lang="ar-SA" sz="2000" dirty="0">
                <a:latin typeface="Helvetica" pitchFamily="2" charset="0"/>
              </a:rPr>
              <a:t> مباشرة أو عبر سلسلة التوريد، على سبيل المثال عن طريق التأكد من عدم وجود أطفال صغار يعملون في مصانع الموردين أو في المناجم.</a:t>
            </a:r>
          </a:p>
          <a:p>
            <a:pPr rtl="1"/>
            <a:endParaRPr lang="ar-SA" dirty="0">
              <a:effectLst/>
              <a:latin typeface="Helvetica" pitchFamily="2" charset="0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196752"/>
            <a:ext cx="923470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3200" dirty="0">
                <a:effectLst/>
              </a:rPr>
              <a:t>ب-1 الطرق التي تعتبر بها الشركات أخلاقية تجاه الموظفين (4)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8CFB9B2-D334-3779-40ED-00CC302F7C0E}"/>
              </a:ext>
            </a:extLst>
          </p:cNvPr>
          <p:cNvGrpSpPr/>
          <p:nvPr/>
        </p:nvGrpSpPr>
        <p:grpSpPr>
          <a:xfrm>
            <a:off x="319800" y="4796681"/>
            <a:ext cx="2611950" cy="1445715"/>
            <a:chOff x="0" y="353532"/>
            <a:chExt cx="2564804" cy="15388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003C8F1-89FE-2322-A57C-EBB4D99B5DA7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B21DF40-F467-5505-0A48-88CA67F28E7F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هل من الخطأ أن تستخدم الشركات الأطفال الصغار </a:t>
              </a:r>
              <a:br>
                <a:rPr lang="ar-SA" dirty="0">
                  <a:solidFill>
                    <a:srgbClr val="7030A0"/>
                  </a:solidFill>
                </a:rPr>
              </a:br>
              <a:r>
                <a:rPr lang="ar-SA" dirty="0">
                  <a:solidFill>
                    <a:srgbClr val="7030A0"/>
                  </a:solidFill>
                </a:rPr>
                <a:t>في قوتها العاملة؟ </a:t>
              </a:r>
            </a:p>
          </p:txBody>
        </p:sp>
      </p:grpSp>
      <p:pic>
        <p:nvPicPr>
          <p:cNvPr id="6" name="Picture 5" descr="A group of children carrying a basket on their head">
            <a:extLst>
              <a:ext uri="{FF2B5EF4-FFF2-40B4-BE49-F238E27FC236}">
                <a16:creationId xmlns:a16="http://schemas.microsoft.com/office/drawing/2014/main" id="{A70FC253-622B-9402-D918-AC1426B6B8A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945" y="2126882"/>
            <a:ext cx="2579660" cy="2452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E2D18A-816C-FDC0-D42E-B1F0759C0E81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50745555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85642" y="2060848"/>
            <a:ext cx="5390715" cy="399556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sz="2000" dirty="0">
                <a:effectLst/>
                <a:latin typeface="Helvetica" pitchFamily="2" charset="0"/>
              </a:rPr>
              <a:t>الشركة الملتزمة بالأخلاقيات:</a:t>
            </a:r>
          </a:p>
          <a:p>
            <a:pPr rtl="1"/>
            <a:r>
              <a:rPr lang="ar-SA" sz="2000" dirty="0">
                <a:latin typeface="Helvetica" pitchFamily="2" charset="0"/>
              </a:rPr>
              <a:t>تعزز شروط </a:t>
            </a:r>
            <a:r>
              <a:rPr lang="ar-SA" sz="2000" b="1" dirty="0">
                <a:latin typeface="Helvetica" pitchFamily="2" charset="0"/>
              </a:rPr>
              <a:t>التجارة العادلة</a:t>
            </a:r>
            <a:r>
              <a:rPr lang="ar-SA" sz="2000" dirty="0">
                <a:latin typeface="Helvetica" pitchFamily="2" charset="0"/>
              </a:rPr>
              <a:t> من خلال دفع أسعار أفضل، وضمان ظروف عمل أفضل للمزارعين</a:t>
            </a:r>
          </a:p>
          <a:p>
            <a:pPr rtl="1"/>
            <a:r>
              <a:rPr lang="ar-SA" sz="2000" dirty="0">
                <a:latin typeface="Helvetica" pitchFamily="2" charset="0"/>
              </a:rPr>
              <a:t>تستخدم </a:t>
            </a:r>
            <a:r>
              <a:rPr lang="ar-SA" sz="2000" b="1" dirty="0">
                <a:latin typeface="Helvetica" pitchFamily="2" charset="0"/>
              </a:rPr>
              <a:t>مستلزمات عضوية</a:t>
            </a:r>
            <a:r>
              <a:rPr lang="ar-SA" sz="2000" dirty="0">
                <a:latin typeface="Helvetica" pitchFamily="2" charset="0"/>
              </a:rPr>
              <a:t> وتدفع أسعارًا متميزة لمنتجات مثل الفواكه والخضروات التي يتم إنتاجها بشكل طبيعي وبدون استخدام مواد كيميائية</a:t>
            </a:r>
          </a:p>
          <a:p>
            <a:pPr rtl="1"/>
            <a:r>
              <a:rPr lang="ar-SA" sz="2000" dirty="0">
                <a:latin typeface="Helvetica" pitchFamily="2" charset="0"/>
              </a:rPr>
              <a:t>تتجنب إجبار </a:t>
            </a:r>
            <a:r>
              <a:rPr lang="ar-SA" sz="2000" b="1" dirty="0">
                <a:effectLst/>
                <a:latin typeface="Helvetica" pitchFamily="2" charset="0"/>
              </a:rPr>
              <a:t>سعر المورد</a:t>
            </a:r>
            <a:r>
              <a:rPr lang="ar-SA" sz="2000" dirty="0">
                <a:latin typeface="Helvetica" pitchFamily="2" charset="0"/>
              </a:rPr>
              <a:t> على الانخفاض إلى ما دون تكاليفه لتزويد العملاء بأسعار أكثر تنافسية من خلال دفع سعر أعلى من تكاليف المورد</a:t>
            </a:r>
            <a:endParaRPr lang="ar-SA" sz="2000" dirty="0">
              <a:effectLst/>
              <a:latin typeface="Helvetica" pitchFamily="2" charset="0"/>
            </a:endParaRPr>
          </a:p>
          <a:p>
            <a:pPr rtl="1"/>
            <a:endParaRPr lang="ar-SA" dirty="0">
              <a:effectLst/>
              <a:latin typeface="Helvetica" pitchFamily="2" charset="0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6752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3000" dirty="0">
                <a:effectLst/>
              </a:rPr>
              <a:t>ب-2 الطرق التي تتسم الشركات من خلالها بالأخلاقية تجاه الموردين (1)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B8BE38-38AD-5769-6D19-ACF02BBAB916}"/>
              </a:ext>
            </a:extLst>
          </p:cNvPr>
          <p:cNvGrpSpPr/>
          <p:nvPr/>
        </p:nvGrpSpPr>
        <p:grpSpPr>
          <a:xfrm>
            <a:off x="292816" y="4662683"/>
            <a:ext cx="2880320" cy="1733747"/>
            <a:chOff x="0" y="353532"/>
            <a:chExt cx="2564804" cy="15388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2F5DDBE-A11F-3DD9-47E2-91F1F671DFB5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02DE0D5-7E06-CEC3-D186-CB6A7F102A81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sz="2000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sz="2000" dirty="0">
                  <a:solidFill>
                    <a:srgbClr val="7030A0"/>
                  </a:solidFill>
                </a:rPr>
                <a:t>من قد يهتم إذا كانت الشركة تستخدم المواد الكيميائية </a:t>
              </a:r>
              <a:br>
                <a:rPr lang="ar-SA" sz="2000" dirty="0">
                  <a:solidFill>
                    <a:srgbClr val="7030A0"/>
                  </a:solidFill>
                </a:rPr>
              </a:br>
              <a:r>
                <a:rPr lang="ar-SA" sz="2000" dirty="0">
                  <a:solidFill>
                    <a:srgbClr val="7030A0"/>
                  </a:solidFill>
                </a:rPr>
                <a:t>في منتجاتها؟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3C09244-0E9E-A95A-5A97-9FFA4D1F61C5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83302750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504" y="1195200"/>
            <a:ext cx="9036496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 fontScale="92500"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-SA" sz="3200" dirty="0">
                <a:solidFill>
                  <a:schemeClr val="tx2"/>
                </a:solidFill>
                <a:effectLst/>
              </a:rPr>
              <a:t>ب-2 الطرق التي تتسم الشركات من خلالها بالأخلاقية تجاه الموردين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95043" y="1914935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-SA" sz="2200" dirty="0">
                <a:effectLst/>
                <a:latin typeface="Helvetica" pitchFamily="2" charset="0"/>
                <a:cs typeface="Arial"/>
              </a:rPr>
              <a:t>الشركة الملتزمة بالأخلاقيات:</a:t>
            </a:r>
          </a:p>
          <a:p>
            <a:pPr marL="0" indent="0" rtl="1">
              <a:lnSpc>
                <a:spcPct val="90000"/>
              </a:lnSpc>
              <a:buNone/>
            </a:pPr>
            <a:endParaRPr lang="ar-SA" sz="1800" dirty="0">
              <a:latin typeface="Helvetica" pitchFamily="2" charset="0"/>
              <a:cs typeface="Arial"/>
            </a:endParaRPr>
          </a:p>
          <a:p>
            <a:pPr rtl="1">
              <a:lnSpc>
                <a:spcPct val="90000"/>
              </a:lnSpc>
            </a:pPr>
            <a:r>
              <a:rPr lang="ar-SA" sz="1800" dirty="0"/>
              <a:t>تتأكد من عدم استغلال </a:t>
            </a:r>
            <a:r>
              <a:rPr lang="ar-SA" sz="1800" b="1" dirty="0">
                <a:latin typeface="Helvetica" pitchFamily="2" charset="0"/>
                <a:cs typeface="Arial"/>
              </a:rPr>
              <a:t>الهدايا </a:t>
            </a:r>
            <a:r>
              <a:rPr lang="ar-SA" sz="1800" dirty="0"/>
              <a:t>والضيافة للحصول على العقود</a:t>
            </a:r>
          </a:p>
          <a:p>
            <a:pPr rtl="1">
              <a:lnSpc>
                <a:spcPct val="90000"/>
              </a:lnSpc>
            </a:pPr>
            <a:r>
              <a:rPr lang="ar-SA" sz="1800" dirty="0">
                <a:effectLst/>
                <a:latin typeface="Helvetica" pitchFamily="2" charset="0"/>
                <a:cs typeface="Arial"/>
              </a:rPr>
              <a:t>تدفع جميع </a:t>
            </a:r>
            <a:r>
              <a:rPr lang="ar-SA" sz="1800" b="1" dirty="0">
                <a:effectLst/>
                <a:latin typeface="Helvetica" pitchFamily="2" charset="0"/>
                <a:cs typeface="Arial"/>
              </a:rPr>
              <a:t>الفواتير </a:t>
            </a:r>
            <a:r>
              <a:rPr lang="ar-SA" sz="1800" dirty="0">
                <a:effectLst/>
                <a:latin typeface="Helvetica" pitchFamily="2" charset="0"/>
                <a:cs typeface="Arial"/>
              </a:rPr>
              <a:t>بالكامل في الوقت المحدد</a:t>
            </a:r>
          </a:p>
          <a:p>
            <a:pPr rtl="1">
              <a:lnSpc>
                <a:spcPct val="90000"/>
              </a:lnSpc>
            </a:pPr>
            <a:r>
              <a:rPr lang="ar-SA" sz="1800" dirty="0">
                <a:effectLst/>
                <a:latin typeface="Helvetica" pitchFamily="2" charset="0"/>
                <a:cs typeface="Arial"/>
              </a:rPr>
              <a:t>تشارك </a:t>
            </a:r>
            <a:r>
              <a:rPr lang="ar-SA" sz="1800" b="1" dirty="0">
                <a:effectLst/>
                <a:latin typeface="Helvetica" pitchFamily="2" charset="0"/>
                <a:cs typeface="Arial"/>
              </a:rPr>
              <a:t>الحد الأدنى من المعايير</a:t>
            </a:r>
            <a:r>
              <a:rPr lang="ar-SA" sz="1800" dirty="0">
                <a:effectLst/>
                <a:latin typeface="Helvetica" pitchFamily="2" charset="0"/>
                <a:cs typeface="Arial"/>
              </a:rPr>
              <a:t> مثل متطلبات الصحة والسلامة مع مورديها</a:t>
            </a:r>
            <a:r>
              <a:rPr lang="ar-SA" sz="1800" dirty="0">
                <a:latin typeface="Helvetica" pitchFamily="2" charset="0"/>
                <a:cs typeface="Arial"/>
              </a:rPr>
              <a:t> </a:t>
            </a:r>
            <a:endParaRPr lang="ar-SA" sz="1800" dirty="0">
              <a:latin typeface="Helvetica" pitchFamily="2" charset="0"/>
            </a:endParaRPr>
          </a:p>
          <a:p>
            <a:pPr rtl="1">
              <a:lnSpc>
                <a:spcPct val="90000"/>
              </a:lnSpc>
            </a:pPr>
            <a:r>
              <a:rPr lang="ar-SA" sz="1800" dirty="0">
                <a:effectLst/>
                <a:latin typeface="Helvetica" pitchFamily="2" charset="0"/>
                <a:cs typeface="Arial"/>
              </a:rPr>
              <a:t>تضمن ألا تؤدي المنتجات الموردة بشكل مباشر أو غير مباشر إلى </a:t>
            </a:r>
            <a:r>
              <a:rPr lang="ar-SA" sz="1800" b="1" dirty="0">
                <a:effectLst/>
                <a:latin typeface="Helvetica" pitchFamily="2" charset="0"/>
                <a:cs typeface="Arial"/>
              </a:rPr>
              <a:t>التصحر</a:t>
            </a:r>
            <a:r>
              <a:rPr lang="ar-SA" sz="1800" dirty="0">
                <a:effectLst/>
                <a:latin typeface="Helvetica" pitchFamily="2" charset="0"/>
                <a:cs typeface="Arial"/>
              </a:rPr>
              <a:t> أو التأثير على النظم البيئية الطبيعية والتنوع البيولوجي والمناخ</a:t>
            </a:r>
          </a:p>
          <a:p>
            <a:pPr rtl="1">
              <a:lnSpc>
                <a:spcPct val="90000"/>
              </a:lnSpc>
            </a:pPr>
            <a:endParaRPr lang="ar-SA" sz="1800" b="1" dirty="0">
              <a:effectLst/>
            </a:endParaRPr>
          </a:p>
          <a:p>
            <a:pPr rtl="1">
              <a:lnSpc>
                <a:spcPct val="90000"/>
              </a:lnSpc>
            </a:pPr>
            <a:endParaRPr lang="ar-SA" sz="1800" dirty="0">
              <a:effectLst/>
            </a:endParaRPr>
          </a:p>
          <a:p>
            <a:pPr rtl="1">
              <a:lnSpc>
                <a:spcPct val="90000"/>
              </a:lnSpc>
            </a:pPr>
            <a:endParaRPr lang="ar-SA" sz="1800" dirty="0">
              <a:effectLst/>
            </a:endParaRPr>
          </a:p>
        </p:txBody>
      </p:sp>
      <p:pic>
        <p:nvPicPr>
          <p:cNvPr id="3" name="Picture 2" descr="A person holding a tablet in a warehouse&#10;&#10;Description automatically generated">
            <a:extLst>
              <a:ext uri="{FF2B5EF4-FFF2-40B4-BE49-F238E27FC236}">
                <a16:creationId xmlns:a16="http://schemas.microsoft.com/office/drawing/2014/main" id="{45452F53-3CCF-0EC0-BEEF-1D8DD0DA475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526" y="2757470"/>
            <a:ext cx="3778390" cy="25224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2290AB-6022-2129-F642-F7212DF3DE50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402109092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635896" y="1844452"/>
            <a:ext cx="5040510" cy="4752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sz="2000" dirty="0">
                <a:effectLst/>
                <a:latin typeface="Helvetica" pitchFamily="2" charset="0"/>
              </a:rPr>
              <a:t>تضمن الشركات التي تلتزم بالأخلاقيات أن المنتجات الموردة لا تنطوي على </a:t>
            </a:r>
            <a:r>
              <a:rPr lang="ar-SA" sz="2000" b="1" dirty="0">
                <a:latin typeface="Helvetica" pitchFamily="2" charset="0"/>
              </a:rPr>
              <a:t>القسوة على الحيوانات</a:t>
            </a:r>
            <a:r>
              <a:rPr lang="ar-SA" sz="2000" dirty="0">
                <a:effectLst/>
                <a:latin typeface="Helvetica" pitchFamily="2" charset="0"/>
              </a:rPr>
              <a:t>.</a:t>
            </a:r>
          </a:p>
          <a:p>
            <a:pPr marL="0" indent="0" rtl="1">
              <a:buNone/>
            </a:pPr>
            <a:r>
              <a:rPr lang="ar-SA" sz="2000" dirty="0">
                <a:latin typeface="Helvetica" pitchFamily="2" charset="0"/>
              </a:rPr>
              <a:t>وقد تتجنب ما يلي:</a:t>
            </a:r>
          </a:p>
          <a:p>
            <a:pPr rtl="1"/>
            <a:r>
              <a:rPr lang="ar-SA" sz="2000" dirty="0"/>
              <a:t>استخدام أصواف الأغنام وأرانب الأنجورا والموهير </a:t>
            </a:r>
            <a:br>
              <a:rPr lang="ar-EG" sz="2000" dirty="0"/>
            </a:br>
            <a:r>
              <a:rPr lang="ar-SA" sz="2000" dirty="0"/>
              <a:t>من ماعز الأنجورا، والجلود من الأبقار والماعز والأغنام والحيوانات الغريبة مثل التمساح والنعام والكنغر.</a:t>
            </a:r>
            <a:endParaRPr lang="ar-SA" sz="2000" dirty="0">
              <a:latin typeface="Helvetica" pitchFamily="2" charset="0"/>
            </a:endParaRPr>
          </a:p>
          <a:p>
            <a:pPr rtl="1"/>
            <a:r>
              <a:rPr lang="ar-SA" sz="2000" dirty="0">
                <a:latin typeface="Helvetica" pitchFamily="2" charset="0"/>
              </a:rPr>
              <a:t>اختبار مستحضرات التجميل مثل الشامبو أو الماسكارا على الحيوانات</a:t>
            </a:r>
          </a:p>
          <a:p>
            <a:pPr rtl="1"/>
            <a:r>
              <a:rPr lang="ar-SA" sz="2000" dirty="0">
                <a:latin typeface="Helvetica" pitchFamily="2" charset="0"/>
              </a:rPr>
              <a:t>ممارسات الزراعة المكثفة للمحاصيل و/أو الحيوانات باستخدام الآلات والأسمدة</a:t>
            </a:r>
            <a:endParaRPr lang="ar-SA" sz="2000" dirty="0">
              <a:effectLst/>
              <a:latin typeface="Helvetica" pitchFamily="2" charset="0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6752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3000" dirty="0">
                <a:effectLst/>
              </a:rPr>
              <a:t>ب-2 طرق التي تتسم الشركات من خلالها بالأخلاقية تجاه الموردين (3)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59C195-85FA-B525-AC49-0A02114C1647}"/>
              </a:ext>
            </a:extLst>
          </p:cNvPr>
          <p:cNvGrpSpPr/>
          <p:nvPr/>
        </p:nvGrpSpPr>
        <p:grpSpPr>
          <a:xfrm>
            <a:off x="412251" y="4578877"/>
            <a:ext cx="2929382" cy="1800200"/>
            <a:chOff x="0" y="353532"/>
            <a:chExt cx="2564804" cy="15388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CE2D438-4205-08A1-8F93-EC3EE56C0405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7FB0F91-1BE1-D017-D024-28F9CFF56A32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sz="2000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sz="2000" dirty="0">
                  <a:solidFill>
                    <a:srgbClr val="7030A0"/>
                  </a:solidFill>
                </a:rPr>
                <a:t>ما هو شعورك تجاه الشركات </a:t>
              </a:r>
              <a:br>
                <a:rPr lang="ar-SA" sz="2000" dirty="0">
                  <a:solidFill>
                    <a:srgbClr val="7030A0"/>
                  </a:solidFill>
                </a:rPr>
              </a:br>
              <a:r>
                <a:rPr lang="ar-SA" sz="2000" dirty="0">
                  <a:solidFill>
                    <a:srgbClr val="7030A0"/>
                  </a:solidFill>
                </a:rPr>
                <a:t>التي تضمن رفاهية الحيوانات؟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939F31C-3A40-F920-B489-720CFBD486B0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200662797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5200"/>
            <a:ext cx="91440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 fontScale="92500"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-SA" sz="3200" dirty="0">
                <a:solidFill>
                  <a:schemeClr val="tx2"/>
                </a:solidFill>
                <a:effectLst/>
              </a:rPr>
              <a:t>ب-2 طرق التي تتسم الشركات من خلالها بالأخلاقية تجاه الموردين (4)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91880" y="2196001"/>
            <a:ext cx="5256584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-SA" dirty="0">
                <a:effectLst/>
              </a:rPr>
              <a:t>الشركة الملتزمة بالأخلاقيات:</a:t>
            </a:r>
          </a:p>
          <a:p>
            <a:pPr rtl="1">
              <a:lnSpc>
                <a:spcPct val="90000"/>
              </a:lnSpc>
            </a:pPr>
            <a:r>
              <a:rPr lang="ar-SA" dirty="0"/>
              <a:t>التأكد من أن الموردين يدفعون للموظفين أعلى من </a:t>
            </a:r>
            <a:r>
              <a:rPr lang="ar-SA" b="1" dirty="0"/>
              <a:t>الحد الأدنى للأجور / الأجور المعيشية</a:t>
            </a:r>
            <a:r>
              <a:rPr lang="ar-SA" dirty="0"/>
              <a:t> </a:t>
            </a:r>
            <a:br>
              <a:rPr lang="ar-SA" dirty="0"/>
            </a:br>
            <a:r>
              <a:rPr lang="ar-SA" dirty="0"/>
              <a:t>في بلادهم</a:t>
            </a:r>
          </a:p>
          <a:p>
            <a:pPr rtl="1">
              <a:lnSpc>
                <a:spcPct val="90000"/>
              </a:lnSpc>
            </a:pPr>
            <a:r>
              <a:rPr lang="ar-SA" dirty="0"/>
              <a:t>الالتزام </a:t>
            </a:r>
            <a:r>
              <a:rPr lang="ar-SA" b="1" dirty="0"/>
              <a:t>بسلسلة التوريد المستدامة</a:t>
            </a:r>
            <a:r>
              <a:rPr lang="ar-SA" dirty="0"/>
              <a:t> من خلال:</a:t>
            </a:r>
          </a:p>
          <a:p>
            <a:pPr lvl="1" rt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ar-SA" dirty="0"/>
              <a:t>التقليل من النفايات</a:t>
            </a:r>
          </a:p>
          <a:p>
            <a:pPr lvl="1" rtl="1">
              <a:lnSpc>
                <a:spcPct val="90000"/>
              </a:lnSpc>
              <a:buFont typeface="Courier New" panose="02070309020205020404" pitchFamily="49" charset="0"/>
              <a:buChar char="o"/>
            </a:pPr>
            <a:r>
              <a:rPr lang="ar-SA" dirty="0"/>
              <a:t>إعادة تدوير الإلكترونيات والأجهزة.</a:t>
            </a:r>
          </a:p>
          <a:p>
            <a:pPr rtl="1">
              <a:lnSpc>
                <a:spcPct val="90000"/>
              </a:lnSpc>
            </a:pPr>
            <a:endParaRPr lang="ar-SA" dirty="0">
              <a:effectLst/>
            </a:endParaRPr>
          </a:p>
          <a:p>
            <a:pPr rtl="1">
              <a:lnSpc>
                <a:spcPct val="90000"/>
              </a:lnSpc>
            </a:pPr>
            <a:endParaRPr lang="ar-SA" dirty="0">
              <a:effectLst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BDD93C8-8E13-E04B-21C6-55AB7CCF3FD2}"/>
              </a:ext>
            </a:extLst>
          </p:cNvPr>
          <p:cNvGrpSpPr/>
          <p:nvPr/>
        </p:nvGrpSpPr>
        <p:grpSpPr>
          <a:xfrm>
            <a:off x="442731" y="4271339"/>
            <a:ext cx="3276896" cy="2003187"/>
            <a:chOff x="0" y="353532"/>
            <a:chExt cx="2564804" cy="1538882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BA1483-7925-BE5E-A3A4-73CF0F2CD236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C6998F2-A36C-5189-E258-211464A0972B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sz="2000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sz="2000" dirty="0">
                  <a:solidFill>
                    <a:srgbClr val="7030A0"/>
                  </a:solidFill>
                </a:rPr>
                <a:t>ماذا تفعل بأجهزتك الإلكترونية القديمة عند الانتهاء من استخدامها؟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15B8AECD-CB40-89BA-4BE3-C7630BB4BC1A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390441641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5200"/>
            <a:ext cx="91440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-SA" sz="3200" dirty="0">
                <a:solidFill>
                  <a:schemeClr val="tx2"/>
                </a:solidFill>
                <a:effectLst/>
              </a:rPr>
              <a:t>ب3 الطرق التي تتسم الشركات من خلالها بالأخلاقية تجاه العملاء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-SA" sz="2000" dirty="0">
                <a:effectLst/>
              </a:rPr>
              <a:t>الشركة الملتزمة بالأخلاقيات:</a:t>
            </a:r>
          </a:p>
          <a:p>
            <a:pPr rtl="1">
              <a:lnSpc>
                <a:spcPct val="90000"/>
              </a:lnSpc>
            </a:pPr>
            <a:r>
              <a:rPr lang="ar-SA" sz="2000" dirty="0"/>
              <a:t>تضمن أن اتصالاته امع المستهلكين </a:t>
            </a:r>
            <a:r>
              <a:rPr lang="ar-SA" sz="2000" b="1" dirty="0"/>
              <a:t>منفتحة وصادقة ودقيقة</a:t>
            </a:r>
          </a:p>
          <a:p>
            <a:pPr rtl="1">
              <a:lnSpc>
                <a:spcPct val="90000"/>
              </a:lnSpc>
            </a:pPr>
            <a:r>
              <a:rPr lang="ar-SA" sz="2000" dirty="0"/>
              <a:t>تضمن </a:t>
            </a:r>
            <a:r>
              <a:rPr lang="ar-SA" sz="2000" b="1" dirty="0"/>
              <a:t>تجنب </a:t>
            </a:r>
            <a:r>
              <a:rPr lang="ar-SA" sz="2000" dirty="0"/>
              <a:t>الأنشطة التسويقية والترويجية لما يلي:</a:t>
            </a:r>
          </a:p>
          <a:p>
            <a:pPr lvl="1" rtl="1">
              <a:lnSpc>
                <a:spcPct val="90000"/>
              </a:lnSpc>
            </a:pPr>
            <a:r>
              <a:rPr lang="ar-SA" sz="2000" dirty="0"/>
              <a:t>الإعلانات المضللة/الكاذبة</a:t>
            </a:r>
          </a:p>
          <a:p>
            <a:pPr lvl="1" rtl="1">
              <a:lnSpc>
                <a:spcPct val="90000"/>
              </a:lnSpc>
            </a:pPr>
            <a:r>
              <a:rPr lang="ar-SA" sz="2000" dirty="0"/>
              <a:t>الإعلانات غير المناسبة</a:t>
            </a:r>
          </a:p>
          <a:p>
            <a:pPr lvl="1" rtl="1">
              <a:lnSpc>
                <a:spcPct val="90000"/>
              </a:lnSpc>
            </a:pPr>
            <a:r>
              <a:rPr lang="ar-SA" sz="2000" dirty="0"/>
              <a:t>الأوصاف الكاذبة</a:t>
            </a:r>
          </a:p>
          <a:p>
            <a:pPr lvl="1" rtl="1">
              <a:lnSpc>
                <a:spcPct val="90000"/>
              </a:lnSpc>
            </a:pPr>
            <a:r>
              <a:rPr lang="ar-SA" sz="2000" dirty="0"/>
              <a:t>استهداف الفئات الضعيفة</a:t>
            </a:r>
          </a:p>
          <a:p>
            <a:pPr rtl="1">
              <a:lnSpc>
                <a:spcPct val="90000"/>
              </a:lnSpc>
            </a:pPr>
            <a:endParaRPr lang="ar-SA" sz="2000" dirty="0"/>
          </a:p>
          <a:p>
            <a:pPr rtl="1">
              <a:lnSpc>
                <a:spcPct val="90000"/>
              </a:lnSpc>
            </a:pPr>
            <a:endParaRPr lang="ar-SA" sz="2000" dirty="0">
              <a:effectLst/>
            </a:endParaRPr>
          </a:p>
        </p:txBody>
      </p:sp>
      <p:pic>
        <p:nvPicPr>
          <p:cNvPr id="3" name="Picture 2" descr="A group of hands holding each other's fists">
            <a:extLst>
              <a:ext uri="{FF2B5EF4-FFF2-40B4-BE49-F238E27FC236}">
                <a16:creationId xmlns:a16="http://schemas.microsoft.com/office/drawing/2014/main" id="{ECF5834A-366C-929F-5119-EEF43268DEB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308" y="2752752"/>
            <a:ext cx="3474177" cy="26360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DC6F52-D1A6-10BC-CA6D-7A45B7432347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15863244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1195200"/>
            <a:ext cx="9143999" cy="72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b" anchorCtr="0" compatLnSpc="1">
            <a:prstTxWarp prst="textNoShape">
              <a:avLst/>
            </a:prstTxWarp>
            <a:no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spcAft>
                <a:spcPts val="600"/>
              </a:spcAft>
            </a:pPr>
            <a:r>
              <a:rPr lang="ar-SA" sz="3000" dirty="0">
                <a:solidFill>
                  <a:schemeClr val="tx2"/>
                </a:solidFill>
                <a:effectLst/>
              </a:rPr>
              <a:t>ب3 الطرق التي تتسم الشركات من خلالها بالأخلاقية تجاه العملاء (2)</a:t>
            </a:r>
          </a:p>
        </p:txBody>
      </p:sp>
      <p:sp>
        <p:nvSpPr>
          <p:cNvPr id="34826" name="Text Placeholder 2">
            <a:extLst>
              <a:ext uri="{FF2B5EF4-FFF2-40B4-BE49-F238E27FC236}">
                <a16:creationId xmlns:a16="http://schemas.microsoft.com/office/drawing/2014/main" id="{974DD207-70E5-7C8A-3141-FA8B797F1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96136" y="2596723"/>
            <a:ext cx="2890663" cy="2592288"/>
          </a:xfrm>
        </p:spPr>
        <p:txBody>
          <a:bodyPr rtlCol="1"/>
          <a:lstStyle/>
          <a:p>
            <a:pPr rtl="1"/>
            <a:r>
              <a:rPr lang="ar-SA" sz="2400" dirty="0"/>
              <a:t>تأخذ الشركات التي تلتزم بالأخلاقيات في الاعتبار تأثيرات المنتجات </a:t>
            </a:r>
            <a:br>
              <a:rPr lang="ar-SA" sz="2400" dirty="0"/>
            </a:br>
            <a:r>
              <a:rPr lang="ar-SA" sz="2400" dirty="0"/>
              <a:t>على صحة المستهلكين.</a:t>
            </a:r>
            <a:endParaRPr lang="ar-SA" dirty="0"/>
          </a:p>
        </p:txBody>
      </p:sp>
      <p:graphicFrame>
        <p:nvGraphicFramePr>
          <p:cNvPr id="34823" name="Content Placeholder 3">
            <a:extLst>
              <a:ext uri="{FF2B5EF4-FFF2-40B4-BE49-F238E27FC236}">
                <a16:creationId xmlns:a16="http://schemas.microsoft.com/office/drawing/2014/main" id="{C43EA193-3D55-E732-E0F6-9D4C90E74E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2449885"/>
              </p:ext>
            </p:extLst>
          </p:nvPr>
        </p:nvGraphicFramePr>
        <p:xfrm>
          <a:off x="457201" y="1500170"/>
          <a:ext cx="5111751" cy="47853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4" name="Group 3">
            <a:extLst>
              <a:ext uri="{FF2B5EF4-FFF2-40B4-BE49-F238E27FC236}">
                <a16:creationId xmlns:a16="http://schemas.microsoft.com/office/drawing/2014/main" id="{37D10C49-F955-AA5C-1E54-1D8901D51B38}"/>
              </a:ext>
            </a:extLst>
          </p:cNvPr>
          <p:cNvGrpSpPr/>
          <p:nvPr/>
        </p:nvGrpSpPr>
        <p:grpSpPr>
          <a:xfrm>
            <a:off x="5935493" y="4665877"/>
            <a:ext cx="2611950" cy="1445715"/>
            <a:chOff x="0" y="353532"/>
            <a:chExt cx="2564804" cy="153888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FC6F99-ED63-34E6-90F4-87EBC9117582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C8B22EA-BC35-D2A0-864C-1013FA13D0D2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هل تقرأ المعلومات الموجودة </a:t>
              </a:r>
              <a:br>
                <a:rPr lang="ar-SA" dirty="0">
                  <a:solidFill>
                    <a:srgbClr val="7030A0"/>
                  </a:solidFill>
                </a:rPr>
              </a:br>
              <a:r>
                <a:rPr lang="ar-SA" dirty="0">
                  <a:solidFill>
                    <a:srgbClr val="7030A0"/>
                  </a:solidFill>
                </a:rPr>
                <a:t>على عبوات الطعام؟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لماذا/ لمَ لا؟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543F547-CE9A-22BB-2C23-72ADC1B7E58F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392187653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47749" y="3400749"/>
            <a:ext cx="5256584" cy="259266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sz="2000" dirty="0">
                <a:solidFill>
                  <a:srgbClr val="000800"/>
                </a:solidFill>
                <a:latin typeface="Helvetica"/>
                <a:cs typeface="Arial"/>
              </a:rPr>
              <a:t>الشركة:</a:t>
            </a:r>
          </a:p>
          <a:p>
            <a:pPr rtl="1"/>
            <a:r>
              <a:rPr lang="ar-SA" sz="2000" dirty="0"/>
              <a:t>تتجنب استخدام المواد غير المعمرة مثل الورق المقوى والكرتون والبلاستيك سهل الكسر</a:t>
            </a:r>
          </a:p>
          <a:p>
            <a:pPr rtl="1"/>
            <a:r>
              <a:rPr lang="ar-SA" sz="2000" dirty="0"/>
              <a:t>تضمن توفر إمدادات من قطع الغيار لسلعها مثل الهواتف المحمولة أو أجهزة التلفزيون.</a:t>
            </a:r>
          </a:p>
          <a:p>
            <a:pPr rtl="1"/>
            <a:endParaRPr lang="ar-SA" sz="2000" dirty="0">
              <a:latin typeface="Helvetica" pitchFamily="2" charset="0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6752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3000" dirty="0">
                <a:effectLst/>
              </a:rPr>
              <a:t>ب3 الطرق التي تتسم الشركات من خلالها بالأخلاقية تجاه العملاء (3)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72B6846-0B32-8022-FEB9-B249E8F18242}"/>
              </a:ext>
            </a:extLst>
          </p:cNvPr>
          <p:cNvGrpSpPr/>
          <p:nvPr/>
        </p:nvGrpSpPr>
        <p:grpSpPr>
          <a:xfrm>
            <a:off x="355745" y="4938390"/>
            <a:ext cx="2611950" cy="1445715"/>
            <a:chOff x="0" y="353532"/>
            <a:chExt cx="2564804" cy="15388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BCE825B-529F-1A18-2DBB-96668099D19F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069A6F-23CB-C1E3-303C-C5E51B807192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ما هو معدل تغييرك لأجهزتك المحمولة؟ ولماذا؟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3CAB1F13-C0C1-761D-8023-476602BDAAC1}"/>
              </a:ext>
            </a:extLst>
          </p:cNvPr>
          <p:cNvSpPr txBox="1"/>
          <p:nvPr/>
        </p:nvSpPr>
        <p:spPr>
          <a:xfrm>
            <a:off x="447882" y="2228671"/>
            <a:ext cx="8081682" cy="67710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buNone/>
            </a:pPr>
            <a:r>
              <a:rPr lang="ar-SA" dirty="0"/>
              <a:t>تتجنب الشركات التي تلتزم بالأخلاقيات</a:t>
            </a:r>
            <a:r>
              <a:rPr lang="ar-SA" sz="2000" b="1" dirty="0">
                <a:effectLst/>
                <a:latin typeface="Helvetica" pitchFamily="2" charset="0"/>
              </a:rPr>
              <a:t> التقادم المخطط</a:t>
            </a:r>
            <a:r>
              <a:rPr lang="ar-SA" dirty="0"/>
              <a:t> (استراتيجية تنفذ قصدًا لضمان أن الإصدار الحالي من منتج معين يصبح قديمًا أو عديم الفائدة خلال فترة زمنية معروفة).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C40D04-1A50-54E5-73A4-5B30B7D907B5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262399426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19872" y="2276872"/>
            <a:ext cx="5256534" cy="35283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sz="2000" dirty="0">
                <a:effectLst/>
                <a:latin typeface="Helvetica" pitchFamily="2" charset="0"/>
              </a:rPr>
              <a:t>الشركة الملتزمة بالأخلاقيات:</a:t>
            </a:r>
          </a:p>
          <a:p>
            <a:pPr rtl="1"/>
            <a:r>
              <a:rPr lang="ar-SA" sz="2000" dirty="0">
                <a:effectLst/>
                <a:latin typeface="Helvetica" pitchFamily="2" charset="0"/>
              </a:rPr>
              <a:t>تقدم </a:t>
            </a:r>
            <a:r>
              <a:rPr lang="ar-SA" sz="2000" b="1" dirty="0">
                <a:effectLst/>
                <a:latin typeface="Helvetica" pitchFamily="2" charset="0"/>
              </a:rPr>
              <a:t>تبرعات وتقوم بأعمال خيرية</a:t>
            </a:r>
            <a:r>
              <a:rPr lang="ar-SA" sz="2000" dirty="0">
                <a:effectLst/>
                <a:latin typeface="Helvetica" pitchFamily="2" charset="0"/>
              </a:rPr>
              <a:t> في المجتمع المحلي</a:t>
            </a:r>
          </a:p>
          <a:p>
            <a:pPr rtl="1"/>
            <a:r>
              <a:rPr lang="ar-SA" sz="2000" dirty="0">
                <a:effectLst/>
                <a:latin typeface="Helvetica" pitchFamily="2" charset="0"/>
              </a:rPr>
              <a:t>ترعى الفعاليات المحلية والفرق الرياضية والمسابقات</a:t>
            </a:r>
          </a:p>
          <a:p>
            <a:pPr rtl="1"/>
            <a:r>
              <a:rPr lang="ar-SA" sz="2000" dirty="0">
                <a:effectLst/>
                <a:latin typeface="Helvetica" pitchFamily="2" charset="0"/>
              </a:rPr>
              <a:t>تطلب من الموظفين تقديم الدعم في المجتمع المحلي، </a:t>
            </a:r>
            <a:br>
              <a:rPr lang="ar-SA" sz="2000" dirty="0">
                <a:effectLst/>
                <a:latin typeface="Helvetica" pitchFamily="2" charset="0"/>
              </a:rPr>
            </a:br>
            <a:r>
              <a:rPr lang="ar-SA" sz="2000" dirty="0">
                <a:effectLst/>
                <a:latin typeface="Helvetica" pitchFamily="2" charset="0"/>
              </a:rPr>
              <a:t>على سبيل المثال: في المدارس ومجموعات الشباب </a:t>
            </a:r>
            <a:br>
              <a:rPr lang="ar-EG" sz="2000" dirty="0">
                <a:effectLst/>
                <a:latin typeface="Helvetica" pitchFamily="2" charset="0"/>
              </a:rPr>
            </a:br>
            <a:r>
              <a:rPr lang="ar-SA" sz="2000" dirty="0">
                <a:effectLst/>
                <a:latin typeface="Helvetica" pitchFamily="2" charset="0"/>
              </a:rPr>
              <a:t>أو في مشاريع البستنة المحلية أو أحداث التنظيف </a:t>
            </a:r>
            <a:br>
              <a:rPr lang="ar-EG" sz="2000" dirty="0">
                <a:effectLst/>
                <a:latin typeface="Helvetica" pitchFamily="2" charset="0"/>
              </a:rPr>
            </a:br>
            <a:r>
              <a:rPr lang="ar-SA" sz="2000" dirty="0">
                <a:effectLst/>
                <a:latin typeface="Helvetica" pitchFamily="2" charset="0"/>
              </a:rPr>
              <a:t>للجداول المحلية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6752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2800" dirty="0">
                <a:effectLst/>
              </a:rPr>
              <a:t>B4 الطرق التي تعتبر بها الشركات أخلاقية تجاه المجتمع (1)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7375CAC-CBF7-374E-8A2A-B3D20A12E527}"/>
              </a:ext>
            </a:extLst>
          </p:cNvPr>
          <p:cNvGrpSpPr/>
          <p:nvPr/>
        </p:nvGrpSpPr>
        <p:grpSpPr>
          <a:xfrm>
            <a:off x="515027" y="4938390"/>
            <a:ext cx="2611950" cy="1445715"/>
            <a:chOff x="0" y="353532"/>
            <a:chExt cx="2564804" cy="153888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06738C-C924-1433-6B8A-48D8A0553BE0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876207F-DBFF-E329-511D-84226AB041AE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هل «رد الجميل» للمجتمع واجب على الشركات؟ لماذا/ لمَ لا؟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285E6B3-CA21-5991-4554-7DCCAC0DAC5A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27401174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594" y="2276872"/>
            <a:ext cx="8208812" cy="381642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dirty="0">
                <a:latin typeface="Helvetica"/>
                <a:cs typeface="Arial"/>
              </a:rPr>
              <a:t>الشركات التي تلتزم بالأخلاقيات لديها </a:t>
            </a:r>
            <a:r>
              <a:rPr lang="ar-SA" b="1" dirty="0">
                <a:latin typeface="Helvetica"/>
                <a:cs typeface="Arial"/>
              </a:rPr>
              <a:t>سياسات للمسؤولية الاجتماعية</a:t>
            </a:r>
            <a:r>
              <a:rPr lang="ar-SA" dirty="0">
                <a:latin typeface="Helvetica"/>
                <a:cs typeface="Arial"/>
              </a:rPr>
              <a:t> قائمة </a:t>
            </a:r>
            <a:br>
              <a:rPr lang="ar-SA" dirty="0">
                <a:latin typeface="Helvetica"/>
                <a:cs typeface="Arial"/>
              </a:rPr>
            </a:br>
            <a:r>
              <a:rPr lang="ar-SA" dirty="0">
                <a:latin typeface="Helvetica"/>
                <a:cs typeface="Arial"/>
              </a:rPr>
              <a:t>(التنظيم الذاتي)، والتي:</a:t>
            </a:r>
          </a:p>
          <a:p>
            <a:pPr rtl="1">
              <a:buFont typeface="Wingdings"/>
              <a:buChar char="§"/>
            </a:pPr>
            <a:r>
              <a:rPr lang="ar-SA" dirty="0"/>
              <a:t>تدمج الاهتمامات البيئية والاجتماعية في تخطيط الأعمال والعمليات التشغيلية</a:t>
            </a:r>
          </a:p>
          <a:p>
            <a:pPr rtl="1">
              <a:buFont typeface="Wingdings"/>
            </a:pPr>
            <a:r>
              <a:rPr lang="ar-SA" dirty="0">
                <a:latin typeface="Helvetica"/>
                <a:cs typeface="Arial"/>
              </a:rPr>
              <a:t>تصرح علناً بالتزامها تجاه المجتمع والبيئة.</a:t>
            </a:r>
          </a:p>
          <a:p>
            <a:pPr rtl="1">
              <a:buFont typeface="Wingdings"/>
              <a:buChar char="§"/>
            </a:pPr>
            <a:r>
              <a:rPr lang="ar-SA" dirty="0"/>
              <a:t>تضمن تقليل التأثير البيئي السلبي للعمليات التشغيلية للشركة.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196752"/>
            <a:ext cx="91440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2800" dirty="0">
                <a:effectLst/>
              </a:rPr>
              <a:t>B4 الطرق التي تعتبر بها الشركات أخلاقية تجاه المجتمع (2)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BD980A-B836-3CB4-F1E1-4ADDCD5A3C32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38622258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520" y="1195200"/>
            <a:ext cx="864096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-SA" sz="2800" dirty="0">
                <a:solidFill>
                  <a:schemeClr val="tx2"/>
                </a:solidFill>
                <a:effectLst/>
              </a:rPr>
              <a:t>B4 الطرق التي تعتبر بها الشركات أخلاقية تجاه المجتمع (3)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8312" y="2196001"/>
            <a:ext cx="4027488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-SA" sz="2000" dirty="0">
                <a:effectLst/>
              </a:rPr>
              <a:t>تهتم الشركات التي تلتزم بالأخلاقيات بقضايا البيئة من خلال:</a:t>
            </a:r>
          </a:p>
          <a:p>
            <a:pPr rtl="1">
              <a:lnSpc>
                <a:spcPct val="90000"/>
              </a:lnSpc>
            </a:pPr>
            <a:r>
              <a:rPr lang="ar-SA" sz="2000" dirty="0"/>
              <a:t>تقليل ما يُرمى في مكبات النفايات وزيادة عمليات التدوير</a:t>
            </a:r>
          </a:p>
          <a:p>
            <a:pPr rtl="1">
              <a:lnSpc>
                <a:spcPct val="90000"/>
              </a:lnSpc>
            </a:pPr>
            <a:r>
              <a:rPr lang="ar-SA" sz="2000" dirty="0"/>
              <a:t>الانتقال من الوقود الأحفوري واستخدام موارد مستدامة مثل طاقة الرياح</a:t>
            </a:r>
          </a:p>
          <a:p>
            <a:pPr rtl="1">
              <a:lnSpc>
                <a:spcPct val="90000"/>
              </a:lnSpc>
            </a:pPr>
            <a:r>
              <a:rPr lang="ar-SA" sz="2000" dirty="0"/>
              <a:t>تقليل أثرها الكربوني وترشيد استهلاك الطاقة عن طريق إطفاء الأنوار</a:t>
            </a:r>
          </a:p>
          <a:p>
            <a:pPr rtl="1">
              <a:lnSpc>
                <a:spcPct val="90000"/>
              </a:lnSpc>
            </a:pPr>
            <a:r>
              <a:rPr lang="ar-SA" sz="2000" dirty="0"/>
              <a:t>تقليل الانبعاثات التي تلوث الهواء والماء</a:t>
            </a:r>
          </a:p>
        </p:txBody>
      </p:sp>
      <p:pic>
        <p:nvPicPr>
          <p:cNvPr id="3" name="Picture 2" descr="A large pile of garbage">
            <a:extLst>
              <a:ext uri="{FF2B5EF4-FFF2-40B4-BE49-F238E27FC236}">
                <a16:creationId xmlns:a16="http://schemas.microsoft.com/office/drawing/2014/main" id="{2F4E8BFD-FA9D-0C23-EB80-5208648A545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662" y="2713702"/>
            <a:ext cx="3829004" cy="255266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4490E8-DFBD-DF2C-367F-6E79C77A3AD2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273029524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195200"/>
            <a:ext cx="8856984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-SA" sz="2800" dirty="0">
                <a:solidFill>
                  <a:schemeClr val="tx2"/>
                </a:solidFill>
                <a:effectLst/>
              </a:rPr>
              <a:t>B4 الطرق التي تعتبر بها الشركات أخلاقية تجاه المجتمع (4)</a:t>
            </a: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078EAD65-173F-88C6-A1B4-FA9F0CE31F00}"/>
              </a:ext>
            </a:extLst>
          </p:cNvPr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762496871"/>
              </p:ext>
            </p:extLst>
          </p:nvPr>
        </p:nvGraphicFramePr>
        <p:xfrm>
          <a:off x="457199" y="2196000"/>
          <a:ext cx="8207375" cy="4041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8E9B7586-4672-B37A-4817-EDA88A29945B}"/>
              </a:ext>
            </a:extLst>
          </p:cNvPr>
          <p:cNvGrpSpPr/>
          <p:nvPr/>
        </p:nvGrpSpPr>
        <p:grpSpPr>
          <a:xfrm>
            <a:off x="278338" y="4363247"/>
            <a:ext cx="2320877" cy="2010865"/>
            <a:chOff x="0" y="353532"/>
            <a:chExt cx="2564804" cy="15388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3DCD806-96A4-D32C-34F9-FB25C9E2384A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B9A19CC-2FBB-1996-DDDE-F0F59AD89AF0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لماذا يجب على الشركات </a:t>
              </a:r>
              <a:br>
                <a:rPr lang="ar-SA" dirty="0">
                  <a:solidFill>
                    <a:srgbClr val="7030A0"/>
                  </a:solidFill>
                </a:rPr>
              </a:br>
              <a:r>
                <a:rPr lang="ar-SA" dirty="0">
                  <a:solidFill>
                    <a:srgbClr val="7030A0"/>
                  </a:solidFill>
                </a:rPr>
                <a:t>دفع الضرائب؟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4C19708A-25B0-D26A-E290-17460A46F4FF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424735930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3599" y="2358032"/>
            <a:ext cx="8208812" cy="35283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dirty="0"/>
              <a:t>عدم التعامل مع القضايا الأخلاقية يمكن أن يؤدي إلى مخاطر قانونية.</a:t>
            </a:r>
          </a:p>
          <a:p>
            <a:pPr marL="0" indent="0" rtl="1">
              <a:buNone/>
            </a:pPr>
            <a:r>
              <a:rPr lang="ar-SA" dirty="0"/>
              <a:t>يمكن أن يرجع ذلك إلى سوء:</a:t>
            </a:r>
          </a:p>
          <a:p>
            <a:pPr rtl="1"/>
            <a:r>
              <a:rPr lang="ar-SA" dirty="0">
                <a:latin typeface="Helvetica" pitchFamily="2" charset="0"/>
              </a:rPr>
              <a:t>ممارسات التوظيف</a:t>
            </a:r>
          </a:p>
          <a:p>
            <a:pPr rtl="1"/>
            <a:r>
              <a:rPr lang="ar-SA" dirty="0">
                <a:latin typeface="Helvetica" pitchFamily="2" charset="0"/>
              </a:rPr>
              <a:t>حماية المستهلك</a:t>
            </a:r>
          </a:p>
          <a:p>
            <a:pPr rtl="1"/>
            <a:r>
              <a:rPr lang="ar-SA" dirty="0">
                <a:latin typeface="Helvetica" pitchFamily="2" charset="0"/>
              </a:rPr>
              <a:t>حماية البيانات</a:t>
            </a:r>
          </a:p>
          <a:p>
            <a:pPr rtl="1"/>
            <a:r>
              <a:rPr lang="ar-SA" dirty="0">
                <a:latin typeface="Helvetica" pitchFamily="2" charset="0"/>
              </a:rPr>
              <a:t>الصحة و السلامة</a:t>
            </a:r>
          </a:p>
          <a:p>
            <a:pPr marL="0" indent="0" rtl="1">
              <a:buNone/>
            </a:pPr>
            <a:r>
              <a:rPr lang="ar-SA" dirty="0">
                <a:latin typeface="Helvetica"/>
                <a:cs typeface="Arial"/>
              </a:rPr>
              <a:t>يجب على الشركات أن تفهم تأثير خرق القانون، على سبيل المثال قد يتم مقاضاتها و/أو تغريمها.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" y="1196752"/>
            <a:ext cx="8892481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2800" dirty="0">
                <a:effectLst/>
              </a:rPr>
              <a:t>B5 المخاطر المحتملة على الشركة إذا لم تتم معالجة المشكلات الأخلاقية (1)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E6F166-30AF-F8F4-F0AC-FD35924F242D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16991286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139952" y="3573016"/>
            <a:ext cx="4572771" cy="252028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sz="2000" dirty="0">
                <a:latin typeface="Helvetica"/>
                <a:cs typeface="Arial"/>
              </a:rPr>
              <a:t>وهو ما قد يؤدي إلى تقليل:</a:t>
            </a:r>
          </a:p>
          <a:p>
            <a:pPr rtl="1"/>
            <a:r>
              <a:rPr lang="ar-SA" sz="2000" b="1" dirty="0">
                <a:latin typeface="Helvetica" pitchFamily="2" charset="0"/>
              </a:rPr>
              <a:t>المبيعات </a:t>
            </a:r>
            <a:r>
              <a:rPr lang="ar-SA" sz="2000" dirty="0">
                <a:latin typeface="Helvetica" pitchFamily="2" charset="0"/>
              </a:rPr>
              <a:t>التي تحققها الشركة</a:t>
            </a:r>
          </a:p>
          <a:p>
            <a:pPr rtl="1"/>
            <a:r>
              <a:rPr lang="ar-SA" sz="2000" dirty="0">
                <a:latin typeface="Helvetica" pitchFamily="2" charset="0"/>
              </a:rPr>
              <a:t>حجم </a:t>
            </a:r>
            <a:r>
              <a:rPr lang="ar-SA" sz="2000" b="1" dirty="0">
                <a:latin typeface="Helvetica" pitchFamily="2" charset="0"/>
              </a:rPr>
              <a:t>حصتها في السوق </a:t>
            </a:r>
          </a:p>
          <a:p>
            <a:pPr rtl="1"/>
            <a:r>
              <a:rPr lang="ar-SA" sz="2000" b="1" dirty="0">
                <a:latin typeface="Helvetica" pitchFamily="2" charset="0"/>
              </a:rPr>
              <a:t>ربحيتها</a:t>
            </a:r>
          </a:p>
          <a:p>
            <a:pPr rtl="1"/>
            <a:r>
              <a:rPr lang="ar-SA" sz="2000" b="1" dirty="0">
                <a:latin typeface="Helvetica" pitchFamily="2" charset="0"/>
              </a:rPr>
              <a:t>سعر سهمها.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80" y="1196752"/>
            <a:ext cx="8857610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2800" dirty="0">
                <a:effectLst/>
              </a:rPr>
              <a:t>B5 المخاطر المحتملة على الشركة إذا لم تتم معالجة المشكلات الأخلاقية (2)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5EECBE1-66D1-51EE-A2EE-64E38FD93374}"/>
              </a:ext>
            </a:extLst>
          </p:cNvPr>
          <p:cNvGrpSpPr/>
          <p:nvPr/>
        </p:nvGrpSpPr>
        <p:grpSpPr>
          <a:xfrm>
            <a:off x="487669" y="4938390"/>
            <a:ext cx="2611950" cy="1445715"/>
            <a:chOff x="0" y="353532"/>
            <a:chExt cx="2564804" cy="15388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02C54CD-9F20-8BD1-1EE0-17BFBBDF14B3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38F2BD4-CAD7-9773-B690-E8779CCA38D1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هل سبق لك مقاطعة إحدى الشركات؟ ولماذا؟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21067A7-A9A1-CAAD-4F35-A9B3EA998861}"/>
              </a:ext>
            </a:extLst>
          </p:cNvPr>
          <p:cNvSpPr txBox="1"/>
          <p:nvPr/>
        </p:nvSpPr>
        <p:spPr>
          <a:xfrm>
            <a:off x="323529" y="2361364"/>
            <a:ext cx="8389195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buNone/>
            </a:pPr>
            <a:r>
              <a:rPr lang="ar-SA" sz="2000" dirty="0">
                <a:latin typeface="Helvetica" pitchFamily="2" charset="0"/>
              </a:rPr>
              <a:t>عدم التعامل مع القضايا الأخلاقية يمكن أن يؤدي إلى </a:t>
            </a:r>
            <a:r>
              <a:rPr lang="ar-SA" sz="2000" b="1" dirty="0">
                <a:latin typeface="Helvetica" pitchFamily="2" charset="0"/>
              </a:rPr>
              <a:t>مخاطر مالية</a:t>
            </a:r>
            <a:r>
              <a:rPr lang="ar-SA" sz="2000" dirty="0">
                <a:latin typeface="Helvetica" pitchFamily="2" charset="0"/>
              </a:rPr>
              <a:t>. إذا لم يكن العملاء سعداء بالمواقف الأخلاقية للشركة، فإنهم قد يحدون من تعاملهم معها أو حتى يقاطعونها.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082839-77B6-DC25-D6D3-6141B9A5E0B5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91626985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" y="1195200"/>
            <a:ext cx="8924544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ctr" anchorCtr="0" compatLnSpc="1">
            <a:prstTxWarp prst="textNoShape">
              <a:avLst/>
            </a:prstTxWarp>
            <a:normAutofit/>
          </a:bodyPr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-SA" sz="2800" dirty="0">
                <a:solidFill>
                  <a:schemeClr val="tx2"/>
                </a:solidFill>
                <a:effectLst/>
              </a:rPr>
              <a:t>B5 المخاطر المحتملة على الشركة إذا لم تتم معالجة المشكلات الأخلاقية (3)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709340" y="3341798"/>
            <a:ext cx="4027487" cy="275339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/>
          </a:bodyPr>
          <a:lstStyle/>
          <a:p>
            <a:pPr rtl="1">
              <a:lnSpc>
                <a:spcPct val="90000"/>
              </a:lnSpc>
            </a:pPr>
            <a:r>
              <a:rPr lang="ar-SA" sz="2000" dirty="0">
                <a:latin typeface="Arial"/>
                <a:cs typeface="Arial"/>
              </a:rPr>
              <a:t>قد يعطي العملاء تقييمات سيئة أو سلبية للآخرين</a:t>
            </a:r>
          </a:p>
          <a:p>
            <a:pPr rtl="1">
              <a:lnSpc>
                <a:spcPct val="90000"/>
              </a:lnSpc>
            </a:pPr>
            <a:r>
              <a:rPr lang="ar-SA" sz="2000" dirty="0">
                <a:latin typeface="Arial"/>
                <a:cs typeface="Arial"/>
              </a:rPr>
              <a:t>قد تتلقى الشركة دعاية سيئة إذا كان لها تأثير سلبي على البيئة أو تخالف القانون.</a:t>
            </a:r>
          </a:p>
          <a:p>
            <a:pPr marL="0" indent="0" rtl="1">
              <a:lnSpc>
                <a:spcPct val="90000"/>
              </a:lnSpc>
              <a:buNone/>
            </a:pPr>
            <a:endParaRPr lang="ar-SA" sz="2000" dirty="0">
              <a:latin typeface="Arial"/>
              <a:cs typeface="Arial"/>
            </a:endParaRPr>
          </a:p>
          <a:p>
            <a:pPr marL="0" indent="0" rtl="1">
              <a:lnSpc>
                <a:spcPct val="90000"/>
              </a:lnSpc>
              <a:buNone/>
            </a:pPr>
            <a:r>
              <a:rPr lang="ar-SA" sz="2000" dirty="0">
                <a:latin typeface="Arial"/>
                <a:cs typeface="Arial"/>
              </a:rPr>
              <a:t>وقد يؤثر ذلك على المبيعات والأرباح.</a:t>
            </a:r>
            <a:endParaRPr lang="ar-SA" dirty="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EB1F1D-92FD-86EB-316F-ADD7E95A757F}"/>
              </a:ext>
            </a:extLst>
          </p:cNvPr>
          <p:cNvSpPr txBox="1"/>
          <p:nvPr/>
        </p:nvSpPr>
        <p:spPr>
          <a:xfrm>
            <a:off x="457200" y="2314017"/>
            <a:ext cx="8201547" cy="4247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0" indent="0" rtl="1">
              <a:lnSpc>
                <a:spcPct val="90000"/>
              </a:lnSpc>
              <a:buNone/>
            </a:pPr>
            <a:r>
              <a:rPr lang="ar-SA" dirty="0"/>
              <a:t>عدم التعامل مع القضايا الأخلاقية قد يؤدي أيضًا إلى </a:t>
            </a:r>
            <a:r>
              <a:rPr lang="ar-SA" sz="2400" b="1" dirty="0"/>
              <a:t>مخاطر متعلقة بالسمعة</a:t>
            </a:r>
            <a:r>
              <a:rPr lang="ar-SA" dirty="0"/>
              <a:t>، على سبيل المثال:</a:t>
            </a:r>
          </a:p>
        </p:txBody>
      </p:sp>
      <p:pic>
        <p:nvPicPr>
          <p:cNvPr id="2" name="Picture 1" descr="A person holding a phone">
            <a:extLst>
              <a:ext uri="{FF2B5EF4-FFF2-40B4-BE49-F238E27FC236}">
                <a16:creationId xmlns:a16="http://schemas.microsoft.com/office/drawing/2014/main" id="{0A806960-8D44-87A0-CDDC-70AE3C9A03B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721" y="3278301"/>
            <a:ext cx="3851940" cy="25679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6D15CD-6814-061F-C5A9-CB0328145EAA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276236922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5" name="Title 1">
            <a:extLst>
              <a:ext uri="{FF2B5EF4-FFF2-40B4-BE49-F238E27FC236}">
                <a16:creationId xmlns:a16="http://schemas.microsoft.com/office/drawing/2014/main" id="{8FBBA3D2-DE72-034E-9DD7-CB8E9F080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</p:spPr>
        <p:txBody>
          <a:bodyPr rtlCol="1"/>
          <a:lstStyle/>
          <a:p>
            <a:pPr algn="ctr" rtl="1">
              <a:lnSpc>
                <a:spcPct val="90000"/>
              </a:lnSpc>
              <a:spcAft>
                <a:spcPts val="600"/>
              </a:spcAft>
            </a:pPr>
            <a:r>
              <a:rPr lang="ar-SA" sz="3600" b="1" dirty="0">
                <a:solidFill>
                  <a:schemeClr val="tx2"/>
                </a:solidFill>
              </a:rPr>
              <a:t>هدف التعلم ب - الموضوعات</a:t>
            </a:r>
            <a:endParaRPr lang="ar-SA" altLang="en-US" sz="3600" b="1" dirty="0">
              <a:solidFill>
                <a:schemeClr val="tx2"/>
              </a:solidFill>
            </a:endParaRPr>
          </a:p>
        </p:txBody>
      </p:sp>
      <p:graphicFrame>
        <p:nvGraphicFramePr>
          <p:cNvPr id="34821" name="Content Placeholder 3">
            <a:extLst>
              <a:ext uri="{FF2B5EF4-FFF2-40B4-BE49-F238E27FC236}">
                <a16:creationId xmlns:a16="http://schemas.microsoft.com/office/drawing/2014/main" id="{BE2D3A8A-00BE-8098-7096-A577D0B403B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961966631"/>
              </p:ext>
            </p:extLst>
          </p:nvPr>
        </p:nvGraphicFramePr>
        <p:xfrm>
          <a:off x="468312" y="2195513"/>
          <a:ext cx="7991475" cy="3609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0E8AF1F-ED57-4B03-7A1D-A42ECEDAE53E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82412486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43460" y="2276872"/>
            <a:ext cx="8568951" cy="40324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dirty="0">
                <a:latin typeface="Helvetica" pitchFamily="2" charset="0"/>
              </a:rPr>
              <a:t>أثناء التخطيط للسياسة الأخلاقية، سيقوم المتعلم بما يلي:</a:t>
            </a:r>
          </a:p>
          <a:p>
            <a:pPr rtl="1"/>
            <a:r>
              <a:rPr lang="ar-SA" b="1" dirty="0">
                <a:latin typeface="Helvetica" pitchFamily="2" charset="0"/>
              </a:rPr>
              <a:t>البحث بشكل مستقل </a:t>
            </a:r>
            <a:r>
              <a:rPr lang="ar-SA" dirty="0">
                <a:latin typeface="Helvetica" pitchFamily="2" charset="0"/>
              </a:rPr>
              <a:t>عن عدد من الشركات المناسبة</a:t>
            </a:r>
          </a:p>
          <a:p>
            <a:pPr rtl="1"/>
            <a:r>
              <a:rPr lang="ar-SA" dirty="0">
                <a:latin typeface="Helvetica" pitchFamily="2" charset="0"/>
              </a:rPr>
              <a:t>اختيار </a:t>
            </a:r>
            <a:r>
              <a:rPr lang="ar-SA" b="1" dirty="0">
                <a:latin typeface="Helvetica" pitchFamily="2" charset="0"/>
              </a:rPr>
              <a:t>شركة مناسبة</a:t>
            </a:r>
            <a:r>
              <a:rPr lang="ar-SA" dirty="0">
                <a:latin typeface="Helvetica" pitchFamily="2" charset="0"/>
              </a:rPr>
              <a:t> للكتابة عنها</a:t>
            </a:r>
          </a:p>
          <a:p>
            <a:pPr rtl="1"/>
            <a:r>
              <a:rPr lang="ar-SA" dirty="0">
                <a:latin typeface="Helvetica" pitchFamily="2" charset="0"/>
              </a:rPr>
              <a:t>البحث عن </a:t>
            </a:r>
            <a:r>
              <a:rPr lang="ar-SA" b="1" dirty="0">
                <a:latin typeface="Helvetica" pitchFamily="2" charset="0"/>
              </a:rPr>
              <a:t>الشركة وقيمها الأخلاقية</a:t>
            </a:r>
            <a:r>
              <a:rPr lang="ar-SA" dirty="0">
                <a:latin typeface="Helvetica" pitchFamily="2" charset="0"/>
              </a:rPr>
              <a:t> باستخدام أساليب البحث الأولية والثانوية</a:t>
            </a:r>
          </a:p>
          <a:p>
            <a:pPr rtl="1"/>
            <a:r>
              <a:rPr lang="ar-SA" dirty="0">
                <a:latin typeface="Helvetica" pitchFamily="2" charset="0"/>
              </a:rPr>
              <a:t>الوقوف على </a:t>
            </a:r>
            <a:r>
              <a:rPr lang="ar-SA" b="1" dirty="0">
                <a:latin typeface="Helvetica" pitchFamily="2" charset="0"/>
              </a:rPr>
              <a:t>القضايا الأخلاقية ذات الصلة</a:t>
            </a:r>
            <a:r>
              <a:rPr lang="ar-SA" dirty="0">
                <a:latin typeface="Helvetica" pitchFamily="2" charset="0"/>
              </a:rPr>
              <a:t> لهذه الشركة </a:t>
            </a:r>
          </a:p>
          <a:p>
            <a:pPr rtl="1"/>
            <a:r>
              <a:rPr lang="ar-SA" b="1" dirty="0">
                <a:latin typeface="Helvetica" pitchFamily="2" charset="0"/>
              </a:rPr>
              <a:t>البحث عن السياسات الأخلاقية</a:t>
            </a:r>
            <a:r>
              <a:rPr lang="ar-SA" dirty="0"/>
              <a:t> المستخدمة من قبل شركات مشابهة للشركة المختارة.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3200" dirty="0"/>
              <a:t>ج-1 التخطيط للسياسة الأخلاقية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EF0805-293C-234D-98B3-702B621A9B15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9963963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195736" y="2348880"/>
            <a:ext cx="6516675" cy="331236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dirty="0">
                <a:latin typeface="Helvetica" pitchFamily="2" charset="0"/>
              </a:rPr>
              <a:t>أثناء وضع السياسة الأخلاقية لشركة مختارة، سيقوم المتعلم </a:t>
            </a:r>
            <a:br>
              <a:rPr lang="ar-SA" dirty="0">
                <a:latin typeface="Helvetica" pitchFamily="2" charset="0"/>
              </a:rPr>
            </a:br>
            <a:r>
              <a:rPr lang="ar-SA" dirty="0">
                <a:latin typeface="Helvetica" pitchFamily="2" charset="0"/>
              </a:rPr>
              <a:t>بما يلي: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dirty="0">
                <a:latin typeface="Helvetica" pitchFamily="2" charset="0"/>
              </a:rPr>
              <a:t>وضع سياسة يمكن أن تجعل جميع الموظفين على دراية </a:t>
            </a:r>
            <a:br>
              <a:rPr lang="ar-SA" dirty="0">
                <a:latin typeface="Helvetica" pitchFamily="2" charset="0"/>
              </a:rPr>
            </a:br>
            <a:r>
              <a:rPr lang="ar-SA" b="1" dirty="0">
                <a:latin typeface="Helvetica" pitchFamily="2" charset="0"/>
              </a:rPr>
              <a:t>بالقيم الأخلاقية</a:t>
            </a:r>
            <a:r>
              <a:rPr lang="ar-SA" dirty="0">
                <a:latin typeface="Helvetica" pitchFamily="2" charset="0"/>
              </a:rPr>
              <a:t> للشركة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dirty="0">
                <a:latin typeface="Helvetica" pitchFamily="2" charset="0"/>
              </a:rPr>
              <a:t>وتتضمن </a:t>
            </a:r>
            <a:r>
              <a:rPr lang="ar-SA" b="1" dirty="0">
                <a:latin typeface="Helvetica" pitchFamily="2" charset="0"/>
              </a:rPr>
              <a:t>رؤية وغرض</a:t>
            </a:r>
            <a:r>
              <a:rPr lang="ar-SA" dirty="0">
                <a:latin typeface="Helvetica" pitchFamily="2" charset="0"/>
              </a:rPr>
              <a:t> الشركة.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3200" dirty="0"/>
              <a:t>ج-2 وضع سياسة أخلاقية (1)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24A14BA-FBAA-9593-227B-E12C128A4EAD}"/>
              </a:ext>
            </a:extLst>
          </p:cNvPr>
          <p:cNvGrpSpPr/>
          <p:nvPr/>
        </p:nvGrpSpPr>
        <p:grpSpPr>
          <a:xfrm>
            <a:off x="511092" y="4417769"/>
            <a:ext cx="2808312" cy="1944216"/>
            <a:chOff x="0" y="353532"/>
            <a:chExt cx="2564804" cy="15388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59253C5-5334-E675-830A-11749A3FFBC3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F9C33E9-F53B-253E-D61A-7A22B39F0CFA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لماذا يحتاج الموظفون إلى معرفة الرؤية والهدف والقيم الأخلاقية للشركة التي يعملون فيها؟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091554F8-FE4E-B1BA-3CFB-CFBA09E1F220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40983475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3599" y="2060848"/>
            <a:ext cx="8208812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dirty="0">
                <a:latin typeface="Helvetica" pitchFamily="2" charset="0"/>
              </a:rPr>
              <a:t>أثناء وضع السياسة الأخلاقية لشركة مختارة، سيوضح المتعلم </a:t>
            </a:r>
            <a:r>
              <a:rPr lang="ar-SA" b="1" dirty="0">
                <a:latin typeface="Helvetica" pitchFamily="2" charset="0"/>
              </a:rPr>
              <a:t>مهارات التصميم والإنجاز الجيد</a:t>
            </a:r>
            <a:r>
              <a:rPr lang="ar-SA" dirty="0">
                <a:latin typeface="Helvetica" pitchFamily="2" charset="0"/>
              </a:rPr>
              <a:t>ة.</a:t>
            </a:r>
          </a:p>
          <a:p>
            <a:pPr marL="0" indent="0" rtl="1">
              <a:buNone/>
            </a:pPr>
            <a:r>
              <a:rPr lang="ar-SA" dirty="0">
                <a:latin typeface="Helvetica" pitchFamily="2" charset="0"/>
              </a:rPr>
              <a:t>وسيقوم بما يلي:</a:t>
            </a:r>
          </a:p>
          <a:p>
            <a:pPr rtl="1"/>
            <a:r>
              <a:rPr lang="ar-SA" dirty="0">
                <a:latin typeface="Helvetica" pitchFamily="2" charset="0"/>
              </a:rPr>
              <a:t>إدراج </a:t>
            </a:r>
            <a:r>
              <a:rPr lang="ar-SA" b="1" dirty="0">
                <a:latin typeface="Helvetica" pitchFamily="2" charset="0"/>
              </a:rPr>
              <a:t>أربعة أقسام فرعية</a:t>
            </a:r>
            <a:r>
              <a:rPr lang="ar-SA" dirty="0">
                <a:latin typeface="Helvetica" pitchFamily="2" charset="0"/>
              </a:rPr>
              <a:t> تظهر الطريقة التي تعتزم الشركة أن تعمل بها بشكل أخلاقي مع:</a:t>
            </a:r>
          </a:p>
          <a:p>
            <a:pPr lvl="1" rtl="1">
              <a:buFont typeface="Courier New" panose="02070309020205020404" pitchFamily="49" charset="0"/>
              <a:buChar char="o"/>
            </a:pPr>
            <a:r>
              <a:rPr lang="ar-SA" dirty="0">
                <a:latin typeface="Helvetica" pitchFamily="2" charset="0"/>
              </a:rPr>
              <a:t>موظفيها</a:t>
            </a:r>
          </a:p>
          <a:p>
            <a:pPr lvl="1" rtl="1">
              <a:buFont typeface="Courier New" panose="02070309020205020404" pitchFamily="49" charset="0"/>
              <a:buChar char="o"/>
            </a:pPr>
            <a:r>
              <a:rPr lang="ar-SA" dirty="0">
                <a:latin typeface="Helvetica" pitchFamily="2" charset="0"/>
              </a:rPr>
              <a:t>مورديها</a:t>
            </a:r>
          </a:p>
          <a:p>
            <a:pPr lvl="1" rtl="1">
              <a:buFont typeface="Courier New" panose="02070309020205020404" pitchFamily="49" charset="0"/>
              <a:buChar char="o"/>
            </a:pPr>
            <a:r>
              <a:rPr lang="ar-SA" dirty="0">
                <a:latin typeface="Helvetica" pitchFamily="2" charset="0"/>
              </a:rPr>
              <a:t>عملائها</a:t>
            </a:r>
          </a:p>
          <a:p>
            <a:pPr lvl="1" rtl="1">
              <a:buFont typeface="Courier New" panose="02070309020205020404" pitchFamily="49" charset="0"/>
              <a:buChar char="o"/>
            </a:pPr>
            <a:r>
              <a:rPr lang="ar-SA" dirty="0">
                <a:latin typeface="Helvetica" pitchFamily="2" charset="0"/>
              </a:rPr>
              <a:t>مجتمعها</a:t>
            </a:r>
          </a:p>
          <a:p>
            <a:pPr rtl="1"/>
            <a:r>
              <a:rPr lang="ar-SA" dirty="0">
                <a:latin typeface="Helvetica" pitchFamily="2" charset="0"/>
              </a:rPr>
              <a:t>بيان </a:t>
            </a:r>
            <a:r>
              <a:rPr lang="ar-SA" b="1" dirty="0">
                <a:latin typeface="Helvetica" pitchFamily="2" charset="0"/>
              </a:rPr>
              <a:t>إجراءات محددة</a:t>
            </a:r>
            <a:r>
              <a:rPr lang="ar-SA" dirty="0">
                <a:latin typeface="Helvetica" pitchFamily="2" charset="0"/>
              </a:rPr>
              <a:t> لكل قسم فرعي.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3600" dirty="0"/>
              <a:t>ج-2 وضع سياسة أخلاقية (2)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CFC34E-A5CB-91DA-8D83-2F34A4E38F24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332831155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414016" y="2060848"/>
            <a:ext cx="6161235" cy="370901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dirty="0">
                <a:latin typeface="Helvetica" pitchFamily="2" charset="0"/>
              </a:rPr>
              <a:t>أثناء وضع السياسة الأخلاقية لشركة مختارة، </a:t>
            </a:r>
            <a:br>
              <a:rPr lang="ar-SA" dirty="0">
                <a:latin typeface="Helvetica" pitchFamily="2" charset="0"/>
              </a:rPr>
            </a:br>
            <a:r>
              <a:rPr lang="ar-SA" dirty="0">
                <a:latin typeface="Helvetica" pitchFamily="2" charset="0"/>
              </a:rPr>
              <a:t>سيُوضح المتعلم ما يلي: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dirty="0">
                <a:latin typeface="Helvetica" pitchFamily="2" charset="0"/>
              </a:rPr>
              <a:t>كيف ولماذا يجب على الموظفين </a:t>
            </a:r>
            <a:r>
              <a:rPr lang="ar-SA" b="1" dirty="0">
                <a:latin typeface="Helvetica" pitchFamily="2" charset="0"/>
              </a:rPr>
              <a:t>الامتثال </a:t>
            </a:r>
            <a:r>
              <a:rPr lang="ar-SA" dirty="0">
                <a:latin typeface="Helvetica" pitchFamily="2" charset="0"/>
              </a:rPr>
              <a:t>للسياسة الأخلاقية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dirty="0">
                <a:latin typeface="Helvetica" pitchFamily="2" charset="0"/>
              </a:rPr>
              <a:t>عواقب </a:t>
            </a:r>
            <a:r>
              <a:rPr lang="ar-SA" b="1" dirty="0">
                <a:latin typeface="Helvetica" pitchFamily="2" charset="0"/>
              </a:rPr>
              <a:t>عدم الامتثال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b="1" dirty="0">
                <a:latin typeface="Helvetica" pitchFamily="2" charset="0"/>
              </a:rPr>
              <a:t>سجل المراجعة </a:t>
            </a:r>
            <a:r>
              <a:rPr lang="ar-SA" dirty="0"/>
              <a:t>المؤرخ متضمنًا تاريخ إنشائه </a:t>
            </a:r>
            <a:br>
              <a:rPr lang="ar-SA" dirty="0"/>
            </a:br>
            <a:r>
              <a:rPr lang="ar-SA" dirty="0"/>
              <a:t>ومن قام بإنشائه ومتى ستتم مراجعته.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3600" dirty="0"/>
              <a:t>ج-2 وضع سياسة أخلاقية (3)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E6CE811-57B1-1BDD-8008-E0E8B176FAA2}"/>
              </a:ext>
            </a:extLst>
          </p:cNvPr>
          <p:cNvGrpSpPr/>
          <p:nvPr/>
        </p:nvGrpSpPr>
        <p:grpSpPr>
          <a:xfrm>
            <a:off x="444235" y="4368882"/>
            <a:ext cx="2611950" cy="1982998"/>
            <a:chOff x="0" y="353532"/>
            <a:chExt cx="2564804" cy="1538882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ABBDF1F-119A-08ED-AFA4-0E0CD24CE77B}"/>
                </a:ext>
              </a:extLst>
            </p:cNvPr>
            <p:cNvSpPr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lumMod val="20000"/>
                    <a:lumOff val="80000"/>
                  </a:schemeClr>
                </a:gs>
                <a:gs pos="80000">
                  <a:schemeClr val="accent1">
                    <a:hueOff val="0"/>
                    <a:satOff val="0"/>
                    <a:lumOff val="0"/>
                    <a:alphaOff val="0"/>
                    <a:shade val="93000"/>
                    <a:satMod val="130000"/>
                  </a:schemeClr>
                </a:gs>
                <a:gs pos="100000">
                  <a:schemeClr val="accent1">
                    <a:hueOff val="0"/>
                    <a:satOff val="0"/>
                    <a:lumOff val="0"/>
                    <a:alphaOff val="0"/>
                    <a:shade val="94000"/>
                    <a:satMod val="135000"/>
                  </a:schemeClr>
                </a:gs>
              </a:gsLst>
            </a:gradFill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rgbClr r="0" g="0" b="0"/>
            </a:fillRef>
            <a:effectRef idx="3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C79B59C-7817-6187-0E94-E709D5545355}"/>
                </a:ext>
              </a:extLst>
            </p:cNvPr>
            <p:cNvSpPr txBox="1"/>
            <p:nvPr/>
          </p:nvSpPr>
          <p:spPr>
            <a:xfrm>
              <a:off x="0" y="353532"/>
              <a:ext cx="2564804" cy="153888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rtlCol="1" anchor="ctr" anchorCtr="0">
              <a:noAutofit/>
            </a:bodyPr>
            <a:lstStyle/>
            <a:p>
              <a:pPr rtl="1"/>
              <a:r>
                <a:rPr lang="ar-SA" dirty="0">
                  <a:solidFill>
                    <a:srgbClr val="7030A0"/>
                  </a:solidFill>
                </a:rPr>
                <a:t>أسئلة للمناقشة: </a:t>
              </a:r>
            </a:p>
            <a:p>
              <a:pPr rtl="1"/>
              <a:r>
                <a:rPr lang="ar-SA" dirty="0">
                  <a:solidFill>
                    <a:srgbClr val="7030A0"/>
                  </a:solidFill>
                </a:rPr>
                <a:t>لماذا من المهم تضمين آثار عدم الامتثال في السياسة الأخلاقية؟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59AB485-7D4A-44F2-A8DD-67611DAE60B6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203823266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21576" y="1844824"/>
            <a:ext cx="8172859" cy="46085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</a:bodyPr>
          <a:lstStyle/>
          <a:p>
            <a:pPr marL="0" indent="0" rtl="1">
              <a:buNone/>
            </a:pPr>
            <a:r>
              <a:rPr lang="ar-SA" dirty="0">
                <a:latin typeface="Helvetica" pitchFamily="2" charset="0"/>
              </a:rPr>
              <a:t>يجب أن تكون السياسة الأخلاقية النهائية لشركة محددة </a:t>
            </a:r>
            <a:r>
              <a:rPr lang="ar-SA" b="1" dirty="0">
                <a:latin typeface="Helvetica" pitchFamily="2" charset="0"/>
              </a:rPr>
              <a:t>مناسبة للغرض منها</a:t>
            </a:r>
            <a:r>
              <a:rPr lang="ar-SA" dirty="0">
                <a:latin typeface="Helvetica" pitchFamily="2" charset="0"/>
              </a:rPr>
              <a:t>. </a:t>
            </a:r>
            <a:br>
              <a:rPr lang="ar-SA" dirty="0">
                <a:latin typeface="Helvetica" pitchFamily="2" charset="0"/>
              </a:rPr>
            </a:br>
            <a:r>
              <a:rPr lang="ar-SA" dirty="0">
                <a:latin typeface="Helvetica" pitchFamily="2" charset="0"/>
              </a:rPr>
              <a:t>إذ يجب أن تكون: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b="1" dirty="0">
                <a:effectLst/>
                <a:latin typeface="Helvetica" pitchFamily="2" charset="0"/>
              </a:rPr>
              <a:t>خاصة </a:t>
            </a:r>
            <a:r>
              <a:rPr lang="ar-SA" dirty="0">
                <a:effectLst/>
                <a:latin typeface="Helvetica" pitchFamily="2" charset="0"/>
              </a:rPr>
              <a:t>بالشركة المحددة.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dirty="0"/>
              <a:t>مكتوبة بطريقة منطقية مع </a:t>
            </a:r>
            <a:r>
              <a:rPr lang="ar-SA" b="1" dirty="0">
                <a:latin typeface="Helvetica" pitchFamily="2" charset="0"/>
              </a:rPr>
              <a:t>عناوين واضحة</a:t>
            </a:r>
            <a:r>
              <a:rPr lang="ar-SA" dirty="0"/>
              <a:t> بحيث يمكن متابعتها بسهولة </a:t>
            </a:r>
            <a:br>
              <a:rPr lang="ar-SA" dirty="0"/>
            </a:br>
            <a:r>
              <a:rPr lang="ar-SA" dirty="0"/>
              <a:t>من قبل الجمهور 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dirty="0">
                <a:latin typeface="Helvetica" pitchFamily="2" charset="0"/>
              </a:rPr>
              <a:t>سهلة القراءة </a:t>
            </a:r>
            <a:r>
              <a:rPr lang="ar-SA" b="1" dirty="0">
                <a:latin typeface="Helvetica" pitchFamily="2" charset="0"/>
              </a:rPr>
              <a:t>بخطوط واضحة</a:t>
            </a:r>
            <a:r>
              <a:rPr lang="ar-SA" dirty="0">
                <a:latin typeface="Helvetica" pitchFamily="2" charset="0"/>
              </a:rPr>
              <a:t> واستخدام لغة يمكن للأطراف المعنية فهمها</a:t>
            </a:r>
            <a:endParaRPr lang="ar-SA" b="1" dirty="0">
              <a:latin typeface="Helvetica" pitchFamily="2" charset="0"/>
            </a:endParaRPr>
          </a:p>
          <a:p>
            <a:pPr rtl="1">
              <a:buFont typeface="Arial" panose="020B0604020202020204" pitchFamily="34" charset="0"/>
              <a:buChar char="•"/>
            </a:pPr>
            <a:r>
              <a:rPr lang="ar-SA" dirty="0">
                <a:latin typeface="Helvetica" pitchFamily="2" charset="0"/>
              </a:rPr>
              <a:t>مقدمة بشكل </a:t>
            </a:r>
            <a:r>
              <a:rPr lang="ar-SA" b="1" dirty="0">
                <a:latin typeface="Helvetica" pitchFamily="2" charset="0"/>
              </a:rPr>
              <a:t>احترافي </a:t>
            </a:r>
            <a:r>
              <a:rPr lang="ar-SA" dirty="0">
                <a:latin typeface="Helvetica" pitchFamily="2" charset="0"/>
              </a:rPr>
              <a:t>بحيث تكون مناسبة لتوزيعها على الأطراف المعنية </a:t>
            </a:r>
            <a:br>
              <a:rPr lang="ar-SA" dirty="0">
                <a:latin typeface="Helvetica" pitchFamily="2" charset="0"/>
              </a:rPr>
            </a:br>
            <a:r>
              <a:rPr lang="ar-SA" dirty="0">
                <a:latin typeface="Helvetica" pitchFamily="2" charset="0"/>
              </a:rPr>
              <a:t>في الشركة</a:t>
            </a:r>
          </a:p>
          <a:p>
            <a:pPr rtl="1">
              <a:buFont typeface="Arial" panose="020B0604020202020204" pitchFamily="34" charset="0"/>
              <a:buChar char="•"/>
            </a:pPr>
            <a:r>
              <a:rPr lang="ar-SA" dirty="0">
                <a:latin typeface="Helvetica" pitchFamily="2" charset="0"/>
              </a:rPr>
              <a:t>خالية من الأخطاء الإملائية وأخطاء الترقيم والقواعد اللغوية.</a:t>
            </a:r>
            <a:endParaRPr lang="ar-SA" dirty="0">
              <a:effectLst/>
              <a:latin typeface="Helvetica" pitchFamily="2" charset="0"/>
            </a:endParaRP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tlCol="1"/>
          <a:lstStyle>
            <a:lvl1pPr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r" rtl="1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rtl="1"/>
            <a:r>
              <a:rPr lang="ar-SA" sz="3200" dirty="0"/>
              <a:t>ج-2 وضع سياسة أخلاقية (4)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24B601-116B-8430-2B3B-B0C6C1EDFCFE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</p:spTree>
    <p:extLst>
      <p:ext uri="{BB962C8B-B14F-4D97-AF65-F5344CB8AC3E}">
        <p14:creationId xmlns:p14="http://schemas.microsoft.com/office/powerpoint/2010/main" val="133471125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24B601-116B-8430-2B3B-B0C6C1EDFCFE}"/>
              </a:ext>
            </a:extLst>
          </p:cNvPr>
          <p:cNvSpPr txBox="1"/>
          <p:nvPr/>
        </p:nvSpPr>
        <p:spPr>
          <a:xfrm>
            <a:off x="208881" y="6459282"/>
            <a:ext cx="1583336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900" dirty="0">
                <a:latin typeface="Arial"/>
                <a:cs typeface="Arial"/>
              </a:rPr>
              <a:t>A103000360264</a:t>
            </a:r>
            <a:endParaRPr lang="en-GB" sz="90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9DF56D1-1FE0-5759-81CE-BEAF0FD4B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61840"/>
            <a:ext cx="8229600" cy="863600"/>
          </a:xfrm>
        </p:spPr>
        <p:txBody>
          <a:bodyPr rtlCol="1"/>
          <a:lstStyle/>
          <a:p>
            <a:pPr rtl="1"/>
            <a:r>
              <a:rPr lang="ar" sz="3600" b="1" dirty="0"/>
              <a:t>شكر وتقدير</a:t>
            </a:r>
            <a:endParaRPr lang="en-GB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14150-2B2A-B290-D041-AA77D5629FD3}"/>
              </a:ext>
            </a:extLst>
          </p:cNvPr>
          <p:cNvSpPr txBox="1"/>
          <p:nvPr/>
        </p:nvSpPr>
        <p:spPr>
          <a:xfrm>
            <a:off x="877413" y="2624556"/>
            <a:ext cx="7491335" cy="21913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1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1">
              <a:spcBef>
                <a:spcPct val="20000"/>
              </a:spcBef>
              <a:buFont typeface="Wingdings" panose="05000000000000000000" pitchFamily="2" charset="2"/>
            </a:pPr>
            <a:r>
              <a:rPr lang="ar" sz="2200" b="1" u="sng" dirty="0"/>
              <a:t>الصور:</a:t>
            </a:r>
          </a:p>
          <a:p>
            <a:pPr rtl="1">
              <a:spcBef>
                <a:spcPct val="20000"/>
              </a:spcBef>
              <a:buFont typeface="Wingdings" panose="05000000000000000000" pitchFamily="2" charset="2"/>
            </a:pPr>
            <a:r>
              <a:rPr lang="ar" sz="2200" b="1" dirty="0"/>
              <a:t>123RF: </a:t>
            </a:r>
            <a:r>
              <a:rPr lang="ar" sz="2200" dirty="0"/>
              <a:t>رووبيكسل (الشريحة 19)؛ شوترستوك:</a:t>
            </a:r>
            <a:r>
              <a:rPr lang="ar" sz="2200" b="1" dirty="0"/>
              <a:t> </a:t>
            </a:r>
            <a:r>
              <a:rPr lang="ar" sz="2200" dirty="0"/>
              <a:t>تيبابات (الشريحة 1)، خاكيمولين الكسندر (الشريحة 5)، تاو (الشريحة 9)، إف إس ستوك (الشريحة 14)، خلفيات مذهلة (الشريحة 16)، زفير_بي (الشريحة 24)، محمد عبد الرحيم (الشريحة 28)، رفنكا (الشريحة 28)</a:t>
            </a:r>
            <a:r>
              <a:rPr lang="ar" sz="2200" dirty="0">
                <a:latin typeface="Helvetica" panose="020B0604020202020204" pitchFamily="34" charset="0"/>
                <a:cs typeface="Helvetica" panose="020B0604020202020204" pitchFamily="34" charset="0"/>
              </a:rPr>
              <a:t>​​</a:t>
            </a:r>
          </a:p>
        </p:txBody>
      </p:sp>
    </p:spTree>
    <p:extLst>
      <p:ext uri="{BB962C8B-B14F-4D97-AF65-F5344CB8AC3E}">
        <p14:creationId xmlns:p14="http://schemas.microsoft.com/office/powerpoint/2010/main" val="63557751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20" ma:contentTypeDescription="Create a new document." ma:contentTypeScope="" ma:versionID="7d267daa26e24eee3a5f4b0eb9224b47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144a094b618d5dc1a3294a7bede64c09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  <xsd:element ref="ns2:AdditionalInf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" ma:index="27" nillable="true" ma:displayName="Additional Info" ma:format="Dropdown" ma:internalName="AdditionalInfo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_Flow_SignoffStatus xmlns="f63d1639-2e8e-4dfe-b2d4-ff2deac92409" xsi:nil="true"/>
    <AdditionalInfo xmlns="f63d1639-2e8e-4dfe-b2d4-ff2deac9240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985FBA-4A56-43F0-979C-A4402E1C6971}"/>
</file>

<file path=customXml/itemProps2.xml><?xml version="1.0" encoding="utf-8"?>
<ds:datastoreItem xmlns:ds="http://schemas.openxmlformats.org/officeDocument/2006/customXml" ds:itemID="{9848C615-482B-4AB5-9FE7-A2F3E6CFF2B1}">
  <ds:schemaRefs>
    <ds:schemaRef ds:uri="6881431a-e3b2-481e-ba90-fae26e2fa83c"/>
    <ds:schemaRef ds:uri="a26a0597-d0d1-4250-940c-88e9bf9d5597"/>
    <ds:schemaRef ds:uri="http://schemas.microsoft.com/office/2006/metadata/properties"/>
    <ds:schemaRef ds:uri="http://schemas.microsoft.com/office/infopath/2007/PartnerControls"/>
    <ds:schemaRef ds:uri="7c1bd8dc-4e40-424f-a15f-9ffcd522197f"/>
    <ds:schemaRef ds:uri="6125ffc9-2c56-435e-8267-1393444907b2"/>
  </ds:schemaRefs>
</ds:datastoreItem>
</file>

<file path=customXml/itemProps3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2154</Words>
  <Application>Microsoft Office PowerPoint</Application>
  <PresentationFormat>On-screen Show (4:3)</PresentationFormat>
  <Paragraphs>312</Paragraphs>
  <Slides>35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35</vt:i4>
      </vt:variant>
    </vt:vector>
  </HeadingPairs>
  <TitlesOfParts>
    <vt:vector size="50" baseType="lpstr">
      <vt:lpstr>Arial</vt:lpstr>
      <vt:lpstr>Courier New</vt:lpstr>
      <vt:lpstr>Helvetica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13 أخلاقيات العمل   </vt:lpstr>
      <vt:lpstr>أخلاقيات العمل</vt:lpstr>
      <vt:lpstr>أهداف التعلم</vt:lpstr>
      <vt:lpstr>PowerPoint Presentation</vt:lpstr>
      <vt:lpstr>أ-1 قيم مختلفة للشركات</vt:lpstr>
      <vt:lpstr> أ-2 قيم أخلاقية مختلفة </vt:lpstr>
      <vt:lpstr> أ-3 مزايا وعيوب الالتزام بالأخلاقيات (2) </vt:lpstr>
      <vt:lpstr> أ-3 مزايا وعيوب الالتزام بالأخلاقيات (1)  </vt:lpstr>
      <vt:lpstr> أ-3 مزايا وعيوب الالتزام بالأخلاقيات (3)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ب - الموضوعات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شكر وتقدير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Paul Winser</cp:lastModifiedBy>
  <cp:revision>135</cp:revision>
  <dcterms:created xsi:type="dcterms:W3CDTF">2020-07-15T07:14:47Z</dcterms:created>
  <dcterms:modified xsi:type="dcterms:W3CDTF">2023-12-04T12:18:53Z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MediaServiceImageTags">
    <vt:lpwstr/>
  </property>
</Properties>
</file>