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32_230C48ED.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33_D7DA715E.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4C_CBC00849.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5"/>
  </p:notesMasterIdLst>
  <p:sldIdLst>
    <p:sldId id="256" r:id="rId14"/>
    <p:sldId id="257" r:id="rId15"/>
    <p:sldId id="337" r:id="rId16"/>
    <p:sldId id="338" r:id="rId17"/>
    <p:sldId id="305" r:id="rId18"/>
    <p:sldId id="339" r:id="rId19"/>
    <p:sldId id="310" r:id="rId20"/>
    <p:sldId id="327" r:id="rId21"/>
    <p:sldId id="311" r:id="rId22"/>
    <p:sldId id="306" r:id="rId23"/>
    <p:sldId id="328" r:id="rId24"/>
    <p:sldId id="330" r:id="rId25"/>
    <p:sldId id="329" r:id="rId26"/>
    <p:sldId id="307" r:id="rId27"/>
    <p:sldId id="331" r:id="rId28"/>
    <p:sldId id="340" r:id="rId29"/>
    <p:sldId id="308" r:id="rId30"/>
    <p:sldId id="309" r:id="rId31"/>
    <p:sldId id="312" r:id="rId32"/>
    <p:sldId id="332" r:id="rId33"/>
    <p:sldId id="313" r:id="rId34"/>
    <p:sldId id="333" r:id="rId35"/>
    <p:sldId id="334" r:id="rId36"/>
    <p:sldId id="335" r:id="rId37"/>
    <p:sldId id="341" r:id="rId38"/>
    <p:sldId id="314" r:id="rId39"/>
    <p:sldId id="315" r:id="rId40"/>
    <p:sldId id="316" r:id="rId41"/>
    <p:sldId id="317" r:id="rId42"/>
    <p:sldId id="318" r:id="rId43"/>
    <p:sldId id="342" r:id="rId44"/>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E58A21-73BE-8CCF-9B7C-342AF999FA9B}" name="Sarah Langley" initials="SL" userId="S::sarah.langley@pearson.com::239c5547-87b3-47be-8ff1-783a9a4cc887" providerId="AD"/>
  <p188:author id="{CE755345-4E7A-03B0-CBFD-8118AEB683FD}" name="charlottebunn2" initials="ch" userId="S::charlottebunn2_gmail.com#ext#@pearsoneducationinc.onmicrosoft.com::b0c395cf-714f-45ce-954a-6409c57949cf" providerId="AD"/>
  <p188:author id="{6FDBFC67-9819-D7C1-F866-0642AC86B9FF}" name="Sarah Langley" initials="SL" userId="S::Sarah.Langley@pearson.com::239c5547-87b3-47be-8ff1-783a9a4cc887" providerId="AD"/>
  <p188:author id="{96E8ADF4-3B24-359C-A05B-8119C5FCBADF}" name="Lynn Hindmarch" initials="LH" userId="S::lhindmarch_talktalk.net#ext#@pearsoneducationinc.onmicrosoft.com::bdc8cccb-4e1c-4751-8031-5aff5827e4c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B39E5F-DB10-B88C-C07B-E57503C4C3F2}" v="31" dt="2023-10-10T15:54:11.622"/>
    <p1510:client id="{0FCA0258-5058-4295-AE29-BE5203BB1305}" v="298" dt="2023-10-10T15:25:19.249"/>
    <p1510:client id="{34D43C36-6F45-0A05-50ED-43A83673B15A}" v="283" dt="2023-10-18T10:06:34.769"/>
    <p1510:client id="{81948F73-216F-8F28-D35D-17BCEDB8EF8E}" v="10" dt="2023-10-18T14:53:10.996"/>
    <p1510:client id="{C1EAFC3B-2D5B-9DC8-E337-2CEEC8202537}" v="948" dt="2023-10-12T09:54:27.567"/>
    <p1510:client id="{DB3311A4-81FB-EFEC-DEAD-6FAD52EC7A88}" v="26" dt="2023-10-20T15:03:13.289"/>
    <p1510:client id="{E7E6A0A2-AFFD-BC75-4808-C2E6F5C9EF9D}" v="1349" dt="2023-10-12T11:26:42.639"/>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3" autoAdjust="0"/>
    <p:restoredTop sz="95314" autoAdjust="0"/>
  </p:normalViewPr>
  <p:slideViewPr>
    <p:cSldViewPr snapToGrid="0">
      <p:cViewPr varScale="1">
        <p:scale>
          <a:sx n="162" d="100"/>
          <a:sy n="162" d="100"/>
        </p:scale>
        <p:origin x="1782" y="144"/>
      </p:cViewPr>
      <p:guideLst>
        <p:guide orient="horz" pos="1933"/>
        <p:guide pos="2880"/>
        <p:guide pos="1791"/>
        <p:guide orient="horz" pos="3657"/>
        <p:guide pos="10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commentAuthors" Target="commentAuthors.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customXml" Target="../customXml/item1.xml"/><Relationship Id="rId6" Type="http://schemas.openxmlformats.org/officeDocument/2006/relationships/slideMaster" Target="slideMasters/slideMaster3.xml"/></Relationships>
</file>

<file path=ppt/comments/modernComment_14C_CBC00849.xml><?xml version="1.0" encoding="utf-8"?>
<p188:cmLst xmlns:a="http://schemas.openxmlformats.org/drawingml/2006/main" xmlns:r="http://schemas.openxmlformats.org/officeDocument/2006/relationships" xmlns:p188="http://schemas.microsoft.com/office/powerpoint/2018/8/main">
  <p188:cm id="{055CEF54-E5BF-4B1F-8305-F30349E4B32A}" authorId="{96E8ADF4-3B24-359C-A05B-8119C5FCBADF}" status="resolved" created="2023-09-27T07:32:38.595" complete="100000">
    <pc:sldMkLst xmlns:pc="http://schemas.microsoft.com/office/powerpoint/2013/main/command">
      <pc:docMk/>
      <pc:sldMk cId="3418359881" sldId="332"/>
    </pc:sldMkLst>
    <p188:txBody>
      <a:bodyPr rtlCol="1"/>
      <a:lstStyle/>
      <a:p>
        <a:pPr rtl="1"/>
        <a:r>
          <a:rPr lang="ar"/>
          <a:t>Capital P for Personal </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2AADF87A-B8F9-4D65-83A5-AF2EB6C18F5C}" authorId="{6FDBFC67-9819-D7C1-F866-0642AC86B9FF}" status="resolved" created="2023-10-10T14:20:47.970" complete="100000">
    <ac:txMkLst xmlns:ac="http://schemas.microsoft.com/office/drawing/2013/main/command">
      <pc:docMk xmlns:pc="http://schemas.microsoft.com/office/powerpoint/2013/main/command"/>
      <pc:sldMk xmlns:pc="http://schemas.microsoft.com/office/powerpoint/2013/main/command" cId="0" sldId="257"/>
      <ac:spMk id="30723" creationId="{3C79F714-332C-AB63-03D9-E6D0CAE0623F}"/>
      <ac:txMk cp="96">
        <ac:context len="440" hash="3354200412"/>
      </ac:txMk>
    </ac:txMkLst>
    <p188:pos x="4057526" y="633268"/>
    <p188:txBody>
      <a:bodyPr rtlCol="1"/>
      <a:lstStyle/>
      <a:p>
        <a:pPr rtl="1"/>
        <a:r>
          <a:rPr lang="ar"/>
          <a:t>Would learners know this word, could we use quality suitability</a:t>
        </a:r>
      </a:p>
    </p188:txBody>
  </p188:cm>
</p188:cmLst>
</file>

<file path=ppt/comments/modernComment_132_230C48ED.xml><?xml version="1.0" encoding="utf-8"?>
<p188:cmLst xmlns:a="http://schemas.openxmlformats.org/drawingml/2006/main" xmlns:r="http://schemas.openxmlformats.org/officeDocument/2006/relationships" xmlns:p188="http://schemas.microsoft.com/office/powerpoint/2018/8/main">
  <p188:cm id="{8709D38C-8C2C-4D3F-B7CA-C13A6AC5DBA2}" authorId="{2CE58A21-73BE-8CCF-9B7C-342AF999FA9B}" status="resolved" created="2023-10-10T15:51:58.679" complete="100000">
    <ac:txMkLst xmlns:ac="http://schemas.microsoft.com/office/drawing/2013/main/command">
      <pc:docMk xmlns:pc="http://schemas.microsoft.com/office/powerpoint/2013/main/command"/>
      <pc:sldMk xmlns:pc="http://schemas.microsoft.com/office/powerpoint/2013/main/command" cId="588007661" sldId="306"/>
      <ac:spMk id="34818" creationId="{DF8F9D08-DF4C-4351-F6A0-75D9B8290DA6}"/>
      <ac:txMk cp="360">
        <ac:context len="362" hash="925447622"/>
      </ac:txMk>
    </ac:txMkLst>
    <p188:pos x="7832360" y="1536491"/>
    <p188:txBody>
      <a:bodyPr rtlCol="1"/>
      <a:lstStyle/>
      <a:p>
        <a:pPr rtl="1"/>
        <a:r>
          <a:rPr lang="ar"/>
          <a:t>is there something simpler that could go on this slide. just some information and a discuss</a:t>
        </a:r>
      </a:p>
    </p188:txBody>
  </p188:cm>
</p188:cmLst>
</file>

<file path=ppt/comments/modernComment_133_D7DA715E.xml><?xml version="1.0" encoding="utf-8"?>
<p188:cmLst xmlns:a="http://schemas.openxmlformats.org/drawingml/2006/main" xmlns:r="http://schemas.openxmlformats.org/officeDocument/2006/relationships" xmlns:p188="http://schemas.microsoft.com/office/powerpoint/2018/8/main">
  <p188:cm id="{4708755F-0B82-48DD-9369-7747EF49EE48}" authorId="{96E8ADF4-3B24-359C-A05B-8119C5FCBADF}" status="resolved" created="2023-09-27T07:30:40.684" complete="100000">
    <pc:sldMkLst xmlns:pc="http://schemas.microsoft.com/office/powerpoint/2013/main/command">
      <pc:docMk/>
      <pc:sldMk cId="3621417310" sldId="307"/>
    </pc:sldMkLst>
    <p188:txBody>
      <a:bodyPr rtlCol="1"/>
      <a:lstStyle/>
      <a:p>
        <a:pPr rtl="1"/>
        <a:r>
          <a:rPr lang="ar"/>
          <a:t>Capital C for consultants</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816D63-968C-4A55-9BEC-59743BC029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2B01A0F-D3DB-4483-A684-EB3CDDB8C402}">
      <dgm:prSet/>
      <dgm:spPr/>
      <dgm:t>
        <a:bodyPr rtlCol="1"/>
        <a:lstStyle/>
        <a:p>
          <a:pPr algn="r" rtl="1">
            <a:lnSpc>
              <a:spcPct val="100000"/>
            </a:lnSpc>
          </a:pPr>
          <a:r>
            <a:rPr lang="ar" b="1" noProof="0" dirty="0">
              <a:latin typeface="Arial"/>
              <a:cs typeface="Arial"/>
            </a:rPr>
            <a:t>أ استكشاف الهياكل التنظيمية والأدوار الوظيفية في الشركة</a:t>
          </a:r>
          <a:endParaRPr lang="ar" noProof="0" dirty="0"/>
        </a:p>
      </dgm:t>
    </dgm:pt>
    <dgm:pt modelId="{244FE7CD-09C9-4649-8078-2981EDCAFAF5}" type="parTrans" cxnId="{7C02C89A-B90E-4191-82FD-9CE4845EA376}">
      <dgm:prSet/>
      <dgm:spPr/>
      <dgm:t>
        <a:bodyPr rtlCol="1"/>
        <a:lstStyle/>
        <a:p>
          <a:pPr rtl="1"/>
          <a:endParaRPr lang="en-US"/>
        </a:p>
      </dgm:t>
    </dgm:pt>
    <dgm:pt modelId="{213FB626-D022-4DCE-A47B-D3479E29F97C}" type="sibTrans" cxnId="{7C02C89A-B90E-4191-82FD-9CE4845EA376}">
      <dgm:prSet/>
      <dgm:spPr/>
      <dgm:t>
        <a:bodyPr rtlCol="1"/>
        <a:lstStyle/>
        <a:p>
          <a:pPr rtl="1"/>
          <a:endParaRPr lang="en-US"/>
        </a:p>
      </dgm:t>
    </dgm:pt>
    <dgm:pt modelId="{56923969-828A-4BA8-B3D8-0D78B3954F0B}">
      <dgm:prSet/>
      <dgm:spPr/>
      <dgm:t>
        <a:bodyPr rtlCol="1"/>
        <a:lstStyle/>
        <a:p>
          <a:pPr algn="r" rtl="1">
            <a:lnSpc>
              <a:spcPct val="100000"/>
            </a:lnSpc>
          </a:pPr>
          <a:r>
            <a:rPr lang="ar" b="1" dirty="0">
              <a:latin typeface="Arial"/>
              <a:cs typeface="Arial"/>
            </a:rPr>
            <a:t>ب تخطيط الأدوار الوظيفية في الشركة</a:t>
          </a:r>
          <a:endParaRPr lang="en-US" dirty="0"/>
        </a:p>
      </dgm:t>
    </dgm:pt>
    <dgm:pt modelId="{EDE96EA5-4272-4597-87C5-810736A70304}" type="parTrans" cxnId="{E1B2C347-2E28-49E0-B2E7-EDCC0F166AA5}">
      <dgm:prSet/>
      <dgm:spPr/>
      <dgm:t>
        <a:bodyPr rtlCol="1"/>
        <a:lstStyle/>
        <a:p>
          <a:pPr rtl="1"/>
          <a:endParaRPr lang="en-US"/>
        </a:p>
      </dgm:t>
    </dgm:pt>
    <dgm:pt modelId="{70055B61-415C-4256-B450-DFA4CB0F7EED}" type="sibTrans" cxnId="{E1B2C347-2E28-49E0-B2E7-EDCC0F166AA5}">
      <dgm:prSet/>
      <dgm:spPr/>
      <dgm:t>
        <a:bodyPr rtlCol="1"/>
        <a:lstStyle/>
        <a:p>
          <a:pPr rtl="1"/>
          <a:endParaRPr lang="en-US"/>
        </a:p>
      </dgm:t>
    </dgm:pt>
    <dgm:pt modelId="{598D8A68-E8AD-4E27-A32D-3D74B2BA7A6D}">
      <dgm:prSet/>
      <dgm:spPr/>
      <dgm:t>
        <a:bodyPr rtlCol="1"/>
        <a:lstStyle/>
        <a:p>
          <a:pPr algn="r" rtl="1">
            <a:lnSpc>
              <a:spcPct val="100000"/>
            </a:lnSpc>
          </a:pPr>
          <a:r>
            <a:rPr lang="ar" b="1" dirty="0">
              <a:latin typeface="Arial"/>
              <a:cs typeface="Arial"/>
            </a:rPr>
            <a:t>ج التخطيط للتوظيف والاستعداد له</a:t>
          </a:r>
          <a:endParaRPr lang="en-US" dirty="0"/>
        </a:p>
      </dgm:t>
    </dgm:pt>
    <dgm:pt modelId="{EA6FABF3-11AF-411B-82BF-6182842CCEF1}" type="parTrans" cxnId="{E19F1C02-E2E7-4263-B5BC-C09B8E53EF5C}">
      <dgm:prSet/>
      <dgm:spPr/>
      <dgm:t>
        <a:bodyPr rtlCol="1"/>
        <a:lstStyle/>
        <a:p>
          <a:pPr rtl="1"/>
          <a:endParaRPr lang="en-US"/>
        </a:p>
      </dgm:t>
    </dgm:pt>
    <dgm:pt modelId="{B9AE1657-59C9-45E6-AF59-CFC463F25A19}" type="sibTrans" cxnId="{E19F1C02-E2E7-4263-B5BC-C09B8E53EF5C}">
      <dgm:prSet/>
      <dgm:spPr/>
      <dgm:t>
        <a:bodyPr rtlCol="1"/>
        <a:lstStyle/>
        <a:p>
          <a:pPr rtl="1"/>
          <a:endParaRPr lang="en-US"/>
        </a:p>
      </dgm:t>
    </dgm:pt>
    <dgm:pt modelId="{61067BF9-26D6-4B13-BDFD-7E74DD3567ED}" type="pres">
      <dgm:prSet presAssocID="{49816D63-968C-4A55-9BEC-59743BC029E6}" presName="root" presStyleCnt="0">
        <dgm:presLayoutVars>
          <dgm:dir/>
          <dgm:resizeHandles val="exact"/>
        </dgm:presLayoutVars>
      </dgm:prSet>
      <dgm:spPr/>
    </dgm:pt>
    <dgm:pt modelId="{EE92A8AE-98EB-489C-B356-A192728D5660}" type="pres">
      <dgm:prSet presAssocID="{12B01A0F-D3DB-4483-A684-EB3CDDB8C402}" presName="compNode" presStyleCnt="0"/>
      <dgm:spPr/>
    </dgm:pt>
    <dgm:pt modelId="{C459F91B-A412-4046-9AE9-167787D1DE0B}" type="pres">
      <dgm:prSet presAssocID="{12B01A0F-D3DB-4483-A684-EB3CDDB8C402}" presName="bgRect" presStyleLbl="bgShp" presStyleIdx="0" presStyleCnt="3" custFlipHor="0"/>
      <dgm:spPr/>
    </dgm:pt>
    <dgm:pt modelId="{F189B75D-60E8-4A38-AC23-0DC503925009}" type="pres">
      <dgm:prSet presAssocID="{12B01A0F-D3DB-4483-A684-EB3CDDB8C402}" presName="iconRect" presStyleLbl="node1" presStyleIdx="0" presStyleCnt="3" custFlipHor="0" custLinFactX="546272" custLinFactNeighborX="600000"/>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ick with solid fill"/>
        </a:ext>
      </dgm:extLst>
    </dgm:pt>
    <dgm:pt modelId="{2A0C591D-F2EB-412E-9E5F-4B0B488D452A}" type="pres">
      <dgm:prSet presAssocID="{12B01A0F-D3DB-4483-A684-EB3CDDB8C402}" presName="spaceRect" presStyleCnt="0"/>
      <dgm:spPr/>
    </dgm:pt>
    <dgm:pt modelId="{BA239B92-C7E8-4937-BA2F-63BBE1282096}" type="pres">
      <dgm:prSet presAssocID="{12B01A0F-D3DB-4483-A684-EB3CDDB8C402}" presName="parTx" presStyleLbl="revTx" presStyleIdx="0" presStyleCnt="3" custFlipHor="1" custLinFactNeighborX="-18190">
        <dgm:presLayoutVars>
          <dgm:chMax val="0"/>
          <dgm:chPref val="0"/>
        </dgm:presLayoutVars>
      </dgm:prSet>
      <dgm:spPr/>
    </dgm:pt>
    <dgm:pt modelId="{25B81F6A-4678-4CB6-B870-DCC32B8BE308}" type="pres">
      <dgm:prSet presAssocID="{213FB626-D022-4DCE-A47B-D3479E29F97C}" presName="sibTrans" presStyleCnt="0"/>
      <dgm:spPr/>
    </dgm:pt>
    <dgm:pt modelId="{580F3AD1-2DCA-4977-8677-DFF4FB7EA121}" type="pres">
      <dgm:prSet presAssocID="{56923969-828A-4BA8-B3D8-0D78B3954F0B}" presName="compNode" presStyleCnt="0"/>
      <dgm:spPr/>
    </dgm:pt>
    <dgm:pt modelId="{F43D942C-5076-405B-826A-BC7DA2026AC7}" type="pres">
      <dgm:prSet presAssocID="{56923969-828A-4BA8-B3D8-0D78B3954F0B}" presName="bgRect" presStyleLbl="bgShp" presStyleIdx="1" presStyleCnt="3" custFlipHor="1"/>
      <dgm:spPr/>
    </dgm:pt>
    <dgm:pt modelId="{8ED43BA3-C6FA-40D0-98FE-78504CE20FC3}" type="pres">
      <dgm:prSet presAssocID="{56923969-828A-4BA8-B3D8-0D78B3954F0B}" presName="iconRect" presStyleLbl="node1" presStyleIdx="1" presStyleCnt="3" custFlipHor="0" custLinFactX="546272" custLinFactNeighborX="600000"/>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ick with solid fill"/>
        </a:ext>
      </dgm:extLst>
    </dgm:pt>
    <dgm:pt modelId="{379730B0-BB0B-40F6-B12D-8E859490F291}" type="pres">
      <dgm:prSet presAssocID="{56923969-828A-4BA8-B3D8-0D78B3954F0B}" presName="spaceRect" presStyleCnt="0"/>
      <dgm:spPr/>
    </dgm:pt>
    <dgm:pt modelId="{C2A8200A-96B4-428C-8E55-83C8FFDC1FB3}" type="pres">
      <dgm:prSet presAssocID="{56923969-828A-4BA8-B3D8-0D78B3954F0B}" presName="parTx" presStyleLbl="revTx" presStyleIdx="1" presStyleCnt="3" custFlipHor="1" custLinFactNeighborX="-18190">
        <dgm:presLayoutVars>
          <dgm:chMax val="0"/>
          <dgm:chPref val="0"/>
        </dgm:presLayoutVars>
      </dgm:prSet>
      <dgm:spPr/>
    </dgm:pt>
    <dgm:pt modelId="{482FED42-60A7-4FE7-BD43-C9E3D9677997}" type="pres">
      <dgm:prSet presAssocID="{70055B61-415C-4256-B450-DFA4CB0F7EED}" presName="sibTrans" presStyleCnt="0"/>
      <dgm:spPr/>
    </dgm:pt>
    <dgm:pt modelId="{46D7A108-654E-406E-BCC7-B53E4001F28C}" type="pres">
      <dgm:prSet presAssocID="{598D8A68-E8AD-4E27-A32D-3D74B2BA7A6D}" presName="compNode" presStyleCnt="0"/>
      <dgm:spPr/>
    </dgm:pt>
    <dgm:pt modelId="{875D741C-CAD9-4AF6-B4FA-DE20C2DFD952}" type="pres">
      <dgm:prSet presAssocID="{598D8A68-E8AD-4E27-A32D-3D74B2BA7A6D}" presName="bgRect" presStyleLbl="bgShp" presStyleIdx="2" presStyleCnt="3" custFlipHor="1"/>
      <dgm:spPr/>
    </dgm:pt>
    <dgm:pt modelId="{848AB56E-E0E6-4724-B224-7DF8D29317AC}" type="pres">
      <dgm:prSet presAssocID="{598D8A68-E8AD-4E27-A32D-3D74B2BA7A6D}" presName="iconRect" presStyleLbl="node1" presStyleIdx="2" presStyleCnt="3" custFlipHor="0" custLinFactX="546272" custLinFactNeighborX="6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ick"/>
        </a:ext>
      </dgm:extLst>
    </dgm:pt>
    <dgm:pt modelId="{A7CBF6A5-1ACE-4DC2-AC44-C42A787C6B4C}" type="pres">
      <dgm:prSet presAssocID="{598D8A68-E8AD-4E27-A32D-3D74B2BA7A6D}" presName="spaceRect" presStyleCnt="0"/>
      <dgm:spPr/>
    </dgm:pt>
    <dgm:pt modelId="{27D209A1-A39C-4A34-A67B-7F58F8B67DCB}" type="pres">
      <dgm:prSet presAssocID="{598D8A68-E8AD-4E27-A32D-3D74B2BA7A6D}" presName="parTx" presStyleLbl="revTx" presStyleIdx="2" presStyleCnt="3" custFlipHor="1" custLinFactNeighborX="-18190">
        <dgm:presLayoutVars>
          <dgm:chMax val="0"/>
          <dgm:chPref val="0"/>
        </dgm:presLayoutVars>
      </dgm:prSet>
      <dgm:spPr/>
    </dgm:pt>
  </dgm:ptLst>
  <dgm:cxnLst>
    <dgm:cxn modelId="{E19F1C02-E2E7-4263-B5BC-C09B8E53EF5C}" srcId="{49816D63-968C-4A55-9BEC-59743BC029E6}" destId="{598D8A68-E8AD-4E27-A32D-3D74B2BA7A6D}" srcOrd="2" destOrd="0" parTransId="{EA6FABF3-11AF-411B-82BF-6182842CCEF1}" sibTransId="{B9AE1657-59C9-45E6-AF59-CFC463F25A19}"/>
    <dgm:cxn modelId="{21871D64-72DA-4E05-A3A7-0FB94129F53A}" type="presOf" srcId="{12B01A0F-D3DB-4483-A684-EB3CDDB8C402}" destId="{BA239B92-C7E8-4937-BA2F-63BBE1282096}" srcOrd="0" destOrd="0" presId="urn:microsoft.com/office/officeart/2018/2/layout/IconVerticalSolidList"/>
    <dgm:cxn modelId="{E1B2C347-2E28-49E0-B2E7-EDCC0F166AA5}" srcId="{49816D63-968C-4A55-9BEC-59743BC029E6}" destId="{56923969-828A-4BA8-B3D8-0D78B3954F0B}" srcOrd="1" destOrd="0" parTransId="{EDE96EA5-4272-4597-87C5-810736A70304}" sibTransId="{70055B61-415C-4256-B450-DFA4CB0F7EED}"/>
    <dgm:cxn modelId="{2EB42E8D-072D-471C-8F88-52777522F152}" type="presOf" srcId="{56923969-828A-4BA8-B3D8-0D78B3954F0B}" destId="{C2A8200A-96B4-428C-8E55-83C8FFDC1FB3}" srcOrd="0" destOrd="0" presId="urn:microsoft.com/office/officeart/2018/2/layout/IconVerticalSolidList"/>
    <dgm:cxn modelId="{7C02C89A-B90E-4191-82FD-9CE4845EA376}" srcId="{49816D63-968C-4A55-9BEC-59743BC029E6}" destId="{12B01A0F-D3DB-4483-A684-EB3CDDB8C402}" srcOrd="0" destOrd="0" parTransId="{244FE7CD-09C9-4649-8078-2981EDCAFAF5}" sibTransId="{213FB626-D022-4DCE-A47B-D3479E29F97C}"/>
    <dgm:cxn modelId="{F24098B8-8C9A-4C74-8826-7D1C2C7757A8}" type="presOf" srcId="{598D8A68-E8AD-4E27-A32D-3D74B2BA7A6D}" destId="{27D209A1-A39C-4A34-A67B-7F58F8B67DCB}" srcOrd="0" destOrd="0" presId="urn:microsoft.com/office/officeart/2018/2/layout/IconVerticalSolidList"/>
    <dgm:cxn modelId="{390716D4-D918-415D-BB23-40D401583C72}" type="presOf" srcId="{49816D63-968C-4A55-9BEC-59743BC029E6}" destId="{61067BF9-26D6-4B13-BDFD-7E74DD3567ED}" srcOrd="0" destOrd="0" presId="urn:microsoft.com/office/officeart/2018/2/layout/IconVerticalSolidList"/>
    <dgm:cxn modelId="{CEE4C875-104F-4F56-AC4D-07E0D11E2784}" type="presParOf" srcId="{61067BF9-26D6-4B13-BDFD-7E74DD3567ED}" destId="{EE92A8AE-98EB-489C-B356-A192728D5660}" srcOrd="0" destOrd="0" presId="urn:microsoft.com/office/officeart/2018/2/layout/IconVerticalSolidList"/>
    <dgm:cxn modelId="{6BB7D70E-5A1A-4B44-8F6A-EEFC223B3E0E}" type="presParOf" srcId="{EE92A8AE-98EB-489C-B356-A192728D5660}" destId="{C459F91B-A412-4046-9AE9-167787D1DE0B}" srcOrd="0" destOrd="0" presId="urn:microsoft.com/office/officeart/2018/2/layout/IconVerticalSolidList"/>
    <dgm:cxn modelId="{E89F0CE3-15FD-4EF2-943B-F2965FDC7317}" type="presParOf" srcId="{EE92A8AE-98EB-489C-B356-A192728D5660}" destId="{F189B75D-60E8-4A38-AC23-0DC503925009}" srcOrd="1" destOrd="0" presId="urn:microsoft.com/office/officeart/2018/2/layout/IconVerticalSolidList"/>
    <dgm:cxn modelId="{7A0AF181-8637-40C7-A816-94387AC86CCC}" type="presParOf" srcId="{EE92A8AE-98EB-489C-B356-A192728D5660}" destId="{2A0C591D-F2EB-412E-9E5F-4B0B488D452A}" srcOrd="2" destOrd="0" presId="urn:microsoft.com/office/officeart/2018/2/layout/IconVerticalSolidList"/>
    <dgm:cxn modelId="{128FC341-090F-4ED6-99A1-1CF1EE98946B}" type="presParOf" srcId="{EE92A8AE-98EB-489C-B356-A192728D5660}" destId="{BA239B92-C7E8-4937-BA2F-63BBE1282096}" srcOrd="3" destOrd="0" presId="urn:microsoft.com/office/officeart/2018/2/layout/IconVerticalSolidList"/>
    <dgm:cxn modelId="{D238C958-9E0F-4587-9B4F-8CC0813D5DA1}" type="presParOf" srcId="{61067BF9-26D6-4B13-BDFD-7E74DD3567ED}" destId="{25B81F6A-4678-4CB6-B870-DCC32B8BE308}" srcOrd="1" destOrd="0" presId="urn:microsoft.com/office/officeart/2018/2/layout/IconVerticalSolidList"/>
    <dgm:cxn modelId="{4D0B7B5A-6085-4659-AC79-2896A5F43A95}" type="presParOf" srcId="{61067BF9-26D6-4B13-BDFD-7E74DD3567ED}" destId="{580F3AD1-2DCA-4977-8677-DFF4FB7EA121}" srcOrd="2" destOrd="0" presId="urn:microsoft.com/office/officeart/2018/2/layout/IconVerticalSolidList"/>
    <dgm:cxn modelId="{1A411787-0573-4F84-B27E-E69EC2A3C339}" type="presParOf" srcId="{580F3AD1-2DCA-4977-8677-DFF4FB7EA121}" destId="{F43D942C-5076-405B-826A-BC7DA2026AC7}" srcOrd="0" destOrd="0" presId="urn:microsoft.com/office/officeart/2018/2/layout/IconVerticalSolidList"/>
    <dgm:cxn modelId="{83BB126A-927E-4E1F-9431-51C4DBDD6768}" type="presParOf" srcId="{580F3AD1-2DCA-4977-8677-DFF4FB7EA121}" destId="{8ED43BA3-C6FA-40D0-98FE-78504CE20FC3}" srcOrd="1" destOrd="0" presId="urn:microsoft.com/office/officeart/2018/2/layout/IconVerticalSolidList"/>
    <dgm:cxn modelId="{E8658007-9D23-47E4-8C2D-7C1D9AD63447}" type="presParOf" srcId="{580F3AD1-2DCA-4977-8677-DFF4FB7EA121}" destId="{379730B0-BB0B-40F6-B12D-8E859490F291}" srcOrd="2" destOrd="0" presId="urn:microsoft.com/office/officeart/2018/2/layout/IconVerticalSolidList"/>
    <dgm:cxn modelId="{37E0060B-F65C-4FE0-A1ED-0A3EE55B1234}" type="presParOf" srcId="{580F3AD1-2DCA-4977-8677-DFF4FB7EA121}" destId="{C2A8200A-96B4-428C-8E55-83C8FFDC1FB3}" srcOrd="3" destOrd="0" presId="urn:microsoft.com/office/officeart/2018/2/layout/IconVerticalSolidList"/>
    <dgm:cxn modelId="{65F5E5F1-E2A9-4730-BD3B-34329B1B920E}" type="presParOf" srcId="{61067BF9-26D6-4B13-BDFD-7E74DD3567ED}" destId="{482FED42-60A7-4FE7-BD43-C9E3D9677997}" srcOrd="3" destOrd="0" presId="urn:microsoft.com/office/officeart/2018/2/layout/IconVerticalSolidList"/>
    <dgm:cxn modelId="{8D0F1E27-4C28-49D1-BAD5-02750F697AA1}" type="presParOf" srcId="{61067BF9-26D6-4B13-BDFD-7E74DD3567ED}" destId="{46D7A108-654E-406E-BCC7-B53E4001F28C}" srcOrd="4" destOrd="0" presId="urn:microsoft.com/office/officeart/2018/2/layout/IconVerticalSolidList"/>
    <dgm:cxn modelId="{9F0B78CB-DE2A-4480-830A-E1B80C213EAE}" type="presParOf" srcId="{46D7A108-654E-406E-BCC7-B53E4001F28C}" destId="{875D741C-CAD9-4AF6-B4FA-DE20C2DFD952}" srcOrd="0" destOrd="0" presId="urn:microsoft.com/office/officeart/2018/2/layout/IconVerticalSolidList"/>
    <dgm:cxn modelId="{660DFB20-7B2D-4E52-AC36-8110CEDC70C7}" type="presParOf" srcId="{46D7A108-654E-406E-BCC7-B53E4001F28C}" destId="{848AB56E-E0E6-4724-B224-7DF8D29317AC}" srcOrd="1" destOrd="0" presId="urn:microsoft.com/office/officeart/2018/2/layout/IconVerticalSolidList"/>
    <dgm:cxn modelId="{2162CD32-1CD9-477F-AE6F-33AF5191F8AC}" type="presParOf" srcId="{46D7A108-654E-406E-BCC7-B53E4001F28C}" destId="{A7CBF6A5-1ACE-4DC2-AC44-C42A787C6B4C}" srcOrd="2" destOrd="0" presId="urn:microsoft.com/office/officeart/2018/2/layout/IconVerticalSolidList"/>
    <dgm:cxn modelId="{6FCF57F7-E560-4AB5-9E1B-602752354A33}" type="presParOf" srcId="{46D7A108-654E-406E-BCC7-B53E4001F28C}" destId="{27D209A1-A39C-4A34-A67B-7F58F8B67DC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F4513F-F2AB-4F6B-98AD-0D7915F66AEF}" type="doc">
      <dgm:prSet loTypeId="urn:microsoft.com/office/officeart/2005/8/layout/hList1" loCatId="list" qsTypeId="urn:microsoft.com/office/officeart/2005/8/quickstyle/simple1" qsCatId="simple" csTypeId="urn:microsoft.com/office/officeart/2005/8/colors/accent1_2" csCatId="accent1" phldr="1"/>
      <dgm:spPr/>
      <dgm:t>
        <a:bodyPr rtlCol="1"/>
        <a:lstStyle/>
        <a:p>
          <a:pPr rtl="1"/>
          <a:endParaRPr lang="en-GB"/>
        </a:p>
      </dgm:t>
    </dgm:pt>
    <dgm:pt modelId="{71903F64-398E-4640-A2CB-E06F771C7A7A}">
      <dgm:prSet phldrT="[Text]"/>
      <dgm:spPr/>
      <dgm:t>
        <a:bodyPr rtlCol="1"/>
        <a:lstStyle/>
        <a:p>
          <a:pPr rtl="1"/>
          <a:r>
            <a:rPr lang="ar-SA" noProof="0" dirty="0"/>
            <a:t>أ-1 الهياكل التنظيمية والأدوار الوظيفية في الشركة</a:t>
          </a:r>
        </a:p>
      </dgm:t>
    </dgm:pt>
    <dgm:pt modelId="{8E33F621-61DD-4668-9897-652AE86F6DE7}" type="parTrans" cxnId="{71B5D531-CC10-42E2-BA48-05C5C28214C2}">
      <dgm:prSet/>
      <dgm:spPr/>
      <dgm:t>
        <a:bodyPr rtlCol="1"/>
        <a:lstStyle/>
        <a:p>
          <a:pPr rtl="1"/>
          <a:endParaRPr lang="en-GB"/>
        </a:p>
      </dgm:t>
    </dgm:pt>
    <dgm:pt modelId="{C6E569D9-C7E8-4162-8C03-C3B45E038257}" type="sibTrans" cxnId="{71B5D531-CC10-42E2-BA48-05C5C28214C2}">
      <dgm:prSet/>
      <dgm:spPr/>
      <dgm:t>
        <a:bodyPr rtlCol="1"/>
        <a:lstStyle/>
        <a:p>
          <a:pPr rtl="1"/>
          <a:endParaRPr lang="en-GB"/>
        </a:p>
      </dgm:t>
    </dgm:pt>
    <dgm:pt modelId="{E4EB4F81-08A6-418C-BFDB-9FC4D252AAAD}">
      <dgm:prSet phldrT="[Text]"/>
      <dgm:spPr/>
      <dgm:t>
        <a:bodyPr rtlCol="1"/>
        <a:lstStyle/>
        <a:p>
          <a:pPr rtl="1"/>
          <a:r>
            <a:rPr lang="ar-SA" noProof="0" dirty="0"/>
            <a:t>الهياكل التنظيمية المختلفة</a:t>
          </a:r>
        </a:p>
      </dgm:t>
    </dgm:pt>
    <dgm:pt modelId="{1C85DBA6-920E-44B8-A89C-AC2B076F437E}" type="parTrans" cxnId="{1C560933-9083-4894-A0EB-1A23F1C9C34C}">
      <dgm:prSet/>
      <dgm:spPr/>
      <dgm:t>
        <a:bodyPr rtlCol="1"/>
        <a:lstStyle/>
        <a:p>
          <a:pPr rtl="1"/>
          <a:endParaRPr lang="en-GB"/>
        </a:p>
      </dgm:t>
    </dgm:pt>
    <dgm:pt modelId="{771B0127-9503-4FB6-ACB7-91F5D728A055}" type="sibTrans" cxnId="{1C560933-9083-4894-A0EB-1A23F1C9C34C}">
      <dgm:prSet/>
      <dgm:spPr/>
      <dgm:t>
        <a:bodyPr rtlCol="1"/>
        <a:lstStyle/>
        <a:p>
          <a:pPr rtl="1"/>
          <a:endParaRPr lang="en-GB"/>
        </a:p>
      </dgm:t>
    </dgm:pt>
    <dgm:pt modelId="{250CC998-39B8-4E07-A9A6-B15A880777E1}">
      <dgm:prSet phldrT="[Text]"/>
      <dgm:spPr/>
      <dgm:t>
        <a:bodyPr rtlCol="1"/>
        <a:lstStyle/>
        <a:p>
          <a:pPr rtl="1"/>
          <a:r>
            <a:rPr lang="ar" noProof="0" dirty="0"/>
            <a:t>أ-2 الأدوار والمسؤوليات الوظيفية</a:t>
          </a:r>
        </a:p>
      </dgm:t>
    </dgm:pt>
    <dgm:pt modelId="{8235B01B-44AF-48EC-BB20-79865BF88CA0}" type="parTrans" cxnId="{74DCA326-A5D5-4E59-BB6D-39B233CFDA63}">
      <dgm:prSet/>
      <dgm:spPr/>
      <dgm:t>
        <a:bodyPr rtlCol="1"/>
        <a:lstStyle/>
        <a:p>
          <a:pPr rtl="1"/>
          <a:endParaRPr lang="en-GB"/>
        </a:p>
      </dgm:t>
    </dgm:pt>
    <dgm:pt modelId="{1ACDC8B9-3ACB-4BD9-BDD0-EE4DEA996875}" type="sibTrans" cxnId="{74DCA326-A5D5-4E59-BB6D-39B233CFDA63}">
      <dgm:prSet/>
      <dgm:spPr/>
      <dgm:t>
        <a:bodyPr rtlCol="1"/>
        <a:lstStyle/>
        <a:p>
          <a:pPr rtl="1"/>
          <a:endParaRPr lang="en-GB"/>
        </a:p>
      </dgm:t>
    </dgm:pt>
    <dgm:pt modelId="{2F3E619D-1D4C-4F5A-B4E8-B3EDD81A41B9}">
      <dgm:prSet phldrT="[Text]"/>
      <dgm:spPr/>
      <dgm:t>
        <a:bodyPr rtlCol="1"/>
        <a:lstStyle/>
        <a:p>
          <a:pPr rtl="1"/>
          <a:r>
            <a:rPr lang="ar" noProof="0" dirty="0"/>
            <a:t>أعضاء مجلس الإدارة، والمديرون الأوائل، والمشرفون والعاملين</a:t>
          </a:r>
        </a:p>
      </dgm:t>
    </dgm:pt>
    <dgm:pt modelId="{42CB7231-06BE-4C95-A556-F35D66B8832B}" type="parTrans" cxnId="{8F29BA9F-FD74-441B-B94F-13B30CE0D7D5}">
      <dgm:prSet/>
      <dgm:spPr/>
      <dgm:t>
        <a:bodyPr rtlCol="1"/>
        <a:lstStyle/>
        <a:p>
          <a:pPr rtl="1"/>
          <a:endParaRPr lang="en-GB"/>
        </a:p>
      </dgm:t>
    </dgm:pt>
    <dgm:pt modelId="{7E8A1372-BD30-447D-94D3-C2D88702F733}" type="sibTrans" cxnId="{8F29BA9F-FD74-441B-B94F-13B30CE0D7D5}">
      <dgm:prSet/>
      <dgm:spPr/>
      <dgm:t>
        <a:bodyPr rtlCol="1"/>
        <a:lstStyle/>
        <a:p>
          <a:pPr rtl="1"/>
          <a:endParaRPr lang="en-GB"/>
        </a:p>
      </dgm:t>
    </dgm:pt>
    <dgm:pt modelId="{99DE4073-E941-41D0-9204-25F7F9E30BC1}">
      <dgm:prSet phldrT="[Text]"/>
      <dgm:spPr/>
      <dgm:t>
        <a:bodyPr rtlCol="1"/>
        <a:lstStyle/>
        <a:p>
          <a:pPr rtl="1"/>
          <a:r>
            <a:rPr lang="ar" noProof="0" dirty="0"/>
            <a:t>تأثير الهياكل التنظيمية المختلفة على الأدوار</a:t>
          </a:r>
        </a:p>
      </dgm:t>
    </dgm:pt>
    <dgm:pt modelId="{74B58743-8ABB-4387-A3DB-CB6B2EAD3F3F}" type="parTrans" cxnId="{94906EFC-C5A7-4BE0-9D59-6B26E9FCCE46}">
      <dgm:prSet/>
      <dgm:spPr/>
      <dgm:t>
        <a:bodyPr rtlCol="1"/>
        <a:lstStyle/>
        <a:p>
          <a:pPr rtl="1"/>
          <a:endParaRPr lang="en-GB"/>
        </a:p>
      </dgm:t>
    </dgm:pt>
    <dgm:pt modelId="{4FCEE7D1-0080-4BAE-9925-7CF3AC9DFD0F}" type="sibTrans" cxnId="{94906EFC-C5A7-4BE0-9D59-6B26E9FCCE46}">
      <dgm:prSet/>
      <dgm:spPr/>
      <dgm:t>
        <a:bodyPr rtlCol="1"/>
        <a:lstStyle/>
        <a:p>
          <a:pPr rtl="1"/>
          <a:endParaRPr lang="en-GB"/>
        </a:p>
      </dgm:t>
    </dgm:pt>
    <dgm:pt modelId="{3218408F-F373-4637-9EF5-7C025538B640}" type="pres">
      <dgm:prSet presAssocID="{B6F4513F-F2AB-4F6B-98AD-0D7915F66AEF}" presName="Name0" presStyleCnt="0">
        <dgm:presLayoutVars>
          <dgm:dir val="rev"/>
          <dgm:animLvl val="lvl"/>
          <dgm:resizeHandles val="exact"/>
        </dgm:presLayoutVars>
      </dgm:prSet>
      <dgm:spPr/>
    </dgm:pt>
    <dgm:pt modelId="{0B60AEB5-D236-473E-8F20-5A8FE5B41880}" type="pres">
      <dgm:prSet presAssocID="{71903F64-398E-4640-A2CB-E06F771C7A7A}" presName="composite" presStyleCnt="0"/>
      <dgm:spPr/>
    </dgm:pt>
    <dgm:pt modelId="{4B192EFE-4736-4F80-928E-A510059B840D}" type="pres">
      <dgm:prSet presAssocID="{71903F64-398E-4640-A2CB-E06F771C7A7A}" presName="parTx" presStyleLbl="alignNode1" presStyleIdx="0" presStyleCnt="2">
        <dgm:presLayoutVars>
          <dgm:chMax val="0"/>
          <dgm:chPref val="0"/>
          <dgm:bulletEnabled val="1"/>
        </dgm:presLayoutVars>
      </dgm:prSet>
      <dgm:spPr/>
    </dgm:pt>
    <dgm:pt modelId="{C9F08A12-CC6D-4635-B773-639D2992BA9D}" type="pres">
      <dgm:prSet presAssocID="{71903F64-398E-4640-A2CB-E06F771C7A7A}" presName="desTx" presStyleLbl="alignAccFollowNode1" presStyleIdx="0" presStyleCnt="2">
        <dgm:presLayoutVars>
          <dgm:bulletEnabled val="1"/>
        </dgm:presLayoutVars>
      </dgm:prSet>
      <dgm:spPr/>
    </dgm:pt>
    <dgm:pt modelId="{1D4B94CF-1C2F-43D6-B79F-6D7616090C12}" type="pres">
      <dgm:prSet presAssocID="{C6E569D9-C7E8-4162-8C03-C3B45E038257}" presName="space" presStyleCnt="0"/>
      <dgm:spPr/>
    </dgm:pt>
    <dgm:pt modelId="{AEED6685-6828-4A6C-92F0-C2514B20BBAC}" type="pres">
      <dgm:prSet presAssocID="{250CC998-39B8-4E07-A9A6-B15A880777E1}" presName="composite" presStyleCnt="0"/>
      <dgm:spPr/>
    </dgm:pt>
    <dgm:pt modelId="{45B3AE0B-EBE8-4320-BFD6-B293C433FBC2}" type="pres">
      <dgm:prSet presAssocID="{250CC998-39B8-4E07-A9A6-B15A880777E1}" presName="parTx" presStyleLbl="alignNode1" presStyleIdx="1" presStyleCnt="2">
        <dgm:presLayoutVars>
          <dgm:chMax val="0"/>
          <dgm:chPref val="0"/>
          <dgm:bulletEnabled val="1"/>
        </dgm:presLayoutVars>
      </dgm:prSet>
      <dgm:spPr/>
    </dgm:pt>
    <dgm:pt modelId="{CF36FE73-6C79-4FE6-9CB6-01D25ECAF4F6}" type="pres">
      <dgm:prSet presAssocID="{250CC998-39B8-4E07-A9A6-B15A880777E1}" presName="desTx" presStyleLbl="alignAccFollowNode1" presStyleIdx="1" presStyleCnt="2">
        <dgm:presLayoutVars>
          <dgm:bulletEnabled val="1"/>
        </dgm:presLayoutVars>
      </dgm:prSet>
      <dgm:spPr/>
    </dgm:pt>
  </dgm:ptLst>
  <dgm:cxnLst>
    <dgm:cxn modelId="{74DCA326-A5D5-4E59-BB6D-39B233CFDA63}" srcId="{B6F4513F-F2AB-4F6B-98AD-0D7915F66AEF}" destId="{250CC998-39B8-4E07-A9A6-B15A880777E1}" srcOrd="1" destOrd="0" parTransId="{8235B01B-44AF-48EC-BB20-79865BF88CA0}" sibTransId="{1ACDC8B9-3ACB-4BD9-BDD0-EE4DEA996875}"/>
    <dgm:cxn modelId="{71B5D531-CC10-42E2-BA48-05C5C28214C2}" srcId="{B6F4513F-F2AB-4F6B-98AD-0D7915F66AEF}" destId="{71903F64-398E-4640-A2CB-E06F771C7A7A}" srcOrd="0" destOrd="0" parTransId="{8E33F621-61DD-4668-9897-652AE86F6DE7}" sibTransId="{C6E569D9-C7E8-4162-8C03-C3B45E038257}"/>
    <dgm:cxn modelId="{1C560933-9083-4894-A0EB-1A23F1C9C34C}" srcId="{71903F64-398E-4640-A2CB-E06F771C7A7A}" destId="{E4EB4F81-08A6-418C-BFDB-9FC4D252AAAD}" srcOrd="0" destOrd="0" parTransId="{1C85DBA6-920E-44B8-A89C-AC2B076F437E}" sibTransId="{771B0127-9503-4FB6-ACB7-91F5D728A055}"/>
    <dgm:cxn modelId="{4A259A36-9358-4ECC-A5B9-A3130107D4DA}" type="presOf" srcId="{2F3E619D-1D4C-4F5A-B4E8-B3EDD81A41B9}" destId="{CF36FE73-6C79-4FE6-9CB6-01D25ECAF4F6}" srcOrd="0" destOrd="0" presId="urn:microsoft.com/office/officeart/2005/8/layout/hList1"/>
    <dgm:cxn modelId="{FA983959-2E4C-4155-B576-D66FA596DC3C}" type="presOf" srcId="{250CC998-39B8-4E07-A9A6-B15A880777E1}" destId="{45B3AE0B-EBE8-4320-BFD6-B293C433FBC2}" srcOrd="0" destOrd="0" presId="urn:microsoft.com/office/officeart/2005/8/layout/hList1"/>
    <dgm:cxn modelId="{57087159-90F4-4127-915D-752C9EA72929}" type="presOf" srcId="{71903F64-398E-4640-A2CB-E06F771C7A7A}" destId="{4B192EFE-4736-4F80-928E-A510059B840D}" srcOrd="0" destOrd="0" presId="urn:microsoft.com/office/officeart/2005/8/layout/hList1"/>
    <dgm:cxn modelId="{FCCC5159-9E31-4AEF-9ACD-BAAEE36AB772}" type="presOf" srcId="{B6F4513F-F2AB-4F6B-98AD-0D7915F66AEF}" destId="{3218408F-F373-4637-9EF5-7C025538B640}" srcOrd="0" destOrd="0" presId="urn:microsoft.com/office/officeart/2005/8/layout/hList1"/>
    <dgm:cxn modelId="{8F29BA9F-FD74-441B-B94F-13B30CE0D7D5}" srcId="{250CC998-39B8-4E07-A9A6-B15A880777E1}" destId="{2F3E619D-1D4C-4F5A-B4E8-B3EDD81A41B9}" srcOrd="0" destOrd="0" parTransId="{42CB7231-06BE-4C95-A556-F35D66B8832B}" sibTransId="{7E8A1372-BD30-447D-94D3-C2D88702F733}"/>
    <dgm:cxn modelId="{E5ACBEB4-45E6-410E-B7D0-F0EF685674F7}" type="presOf" srcId="{99DE4073-E941-41D0-9204-25F7F9E30BC1}" destId="{CF36FE73-6C79-4FE6-9CB6-01D25ECAF4F6}" srcOrd="0" destOrd="1" presId="urn:microsoft.com/office/officeart/2005/8/layout/hList1"/>
    <dgm:cxn modelId="{141CF4D3-2AB3-4955-A3CD-52F6CEFFC118}" type="presOf" srcId="{E4EB4F81-08A6-418C-BFDB-9FC4D252AAAD}" destId="{C9F08A12-CC6D-4635-B773-639D2992BA9D}" srcOrd="0" destOrd="0" presId="urn:microsoft.com/office/officeart/2005/8/layout/hList1"/>
    <dgm:cxn modelId="{94906EFC-C5A7-4BE0-9D59-6B26E9FCCE46}" srcId="{250CC998-39B8-4E07-A9A6-B15A880777E1}" destId="{99DE4073-E941-41D0-9204-25F7F9E30BC1}" srcOrd="1" destOrd="0" parTransId="{74B58743-8ABB-4387-A3DB-CB6B2EAD3F3F}" sibTransId="{4FCEE7D1-0080-4BAE-9925-7CF3AC9DFD0F}"/>
    <dgm:cxn modelId="{139EE5C9-BDF5-4B0E-88CF-EC75A0F69AAC}" type="presParOf" srcId="{3218408F-F373-4637-9EF5-7C025538B640}" destId="{0B60AEB5-D236-473E-8F20-5A8FE5B41880}" srcOrd="0" destOrd="0" presId="urn:microsoft.com/office/officeart/2005/8/layout/hList1"/>
    <dgm:cxn modelId="{531E7001-529F-41EF-B980-33BD8767869E}" type="presParOf" srcId="{0B60AEB5-D236-473E-8F20-5A8FE5B41880}" destId="{4B192EFE-4736-4F80-928E-A510059B840D}" srcOrd="0" destOrd="0" presId="urn:microsoft.com/office/officeart/2005/8/layout/hList1"/>
    <dgm:cxn modelId="{EAAD811F-4571-4793-82D9-198AD877B7E1}" type="presParOf" srcId="{0B60AEB5-D236-473E-8F20-5A8FE5B41880}" destId="{C9F08A12-CC6D-4635-B773-639D2992BA9D}" srcOrd="1" destOrd="0" presId="urn:microsoft.com/office/officeart/2005/8/layout/hList1"/>
    <dgm:cxn modelId="{7B6245BA-7D21-4CA3-ADA3-C861D79C894C}" type="presParOf" srcId="{3218408F-F373-4637-9EF5-7C025538B640}" destId="{1D4B94CF-1C2F-43D6-B79F-6D7616090C12}" srcOrd="1" destOrd="0" presId="urn:microsoft.com/office/officeart/2005/8/layout/hList1"/>
    <dgm:cxn modelId="{8360AA27-3091-45C8-9D03-73E9D0A77381}" type="presParOf" srcId="{3218408F-F373-4637-9EF5-7C025538B640}" destId="{AEED6685-6828-4A6C-92F0-C2514B20BBAC}" srcOrd="2" destOrd="0" presId="urn:microsoft.com/office/officeart/2005/8/layout/hList1"/>
    <dgm:cxn modelId="{AC70BCCC-8CFE-4492-A58C-8D170D7E9004}" type="presParOf" srcId="{AEED6685-6828-4A6C-92F0-C2514B20BBAC}" destId="{45B3AE0B-EBE8-4320-BFD6-B293C433FBC2}" srcOrd="0" destOrd="0" presId="urn:microsoft.com/office/officeart/2005/8/layout/hList1"/>
    <dgm:cxn modelId="{B51E9B0A-EEC7-4AB9-B11B-9C8A08DF3934}" type="presParOf" srcId="{AEED6685-6828-4A6C-92F0-C2514B20BBAC}" destId="{CF36FE73-6C79-4FE6-9CB6-01D25ECAF4F6}"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9F91B-A412-4046-9AE9-167787D1DE0B}">
      <dsp:nvSpPr>
        <dsp:cNvPr id="0" name=""/>
        <dsp:cNvSpPr/>
      </dsp:nvSpPr>
      <dsp:spPr>
        <a:xfrm>
          <a:off x="0" y="473"/>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9B75D-60E8-4A38-AC23-0DC503925009}">
      <dsp:nvSpPr>
        <dsp:cNvPr id="0" name=""/>
        <dsp:cNvSpPr/>
      </dsp:nvSpPr>
      <dsp:spPr>
        <a:xfrm>
          <a:off x="7319587" y="249740"/>
          <a:ext cx="609319" cy="60931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39B92-C7E8-4937-BA2F-63BBE1282096}">
      <dsp:nvSpPr>
        <dsp:cNvPr id="0" name=""/>
        <dsp:cNvSpPr/>
      </dsp:nvSpPr>
      <dsp:spPr>
        <a:xfrm flipH="1">
          <a:off x="19403" y="473"/>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noProof="0" dirty="0">
              <a:latin typeface="Arial"/>
              <a:cs typeface="Arial"/>
            </a:rPr>
            <a:t>أ استكشاف الهياكل التنظيمية والأدوار الوظيفية في الشركة</a:t>
          </a:r>
          <a:endParaRPr lang="ar" sz="2500" kern="1200" noProof="0" dirty="0"/>
        </a:p>
      </dsp:txBody>
      <dsp:txXfrm>
        <a:off x="19403" y="473"/>
        <a:ext cx="6927803" cy="1107854"/>
      </dsp:txXfrm>
    </dsp:sp>
    <dsp:sp modelId="{F43D942C-5076-405B-826A-BC7DA2026AC7}">
      <dsp:nvSpPr>
        <dsp:cNvPr id="0" name=""/>
        <dsp:cNvSpPr/>
      </dsp:nvSpPr>
      <dsp:spPr>
        <a:xfrm flipH="1">
          <a:off x="0" y="1385290"/>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D43BA3-C6FA-40D0-98FE-78504CE20FC3}">
      <dsp:nvSpPr>
        <dsp:cNvPr id="0" name=""/>
        <dsp:cNvSpPr/>
      </dsp:nvSpPr>
      <dsp:spPr>
        <a:xfrm>
          <a:off x="7319587" y="1634558"/>
          <a:ext cx="609319" cy="60931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8200A-96B4-428C-8E55-83C8FFDC1FB3}">
      <dsp:nvSpPr>
        <dsp:cNvPr id="0" name=""/>
        <dsp:cNvSpPr/>
      </dsp:nvSpPr>
      <dsp:spPr>
        <a:xfrm flipH="1">
          <a:off x="19403" y="1385290"/>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Arial"/>
              <a:cs typeface="Arial"/>
            </a:rPr>
            <a:t>ب تخطيط الأدوار الوظيفية في الشركة</a:t>
          </a:r>
          <a:endParaRPr lang="en-US" sz="2500" kern="1200" dirty="0"/>
        </a:p>
      </dsp:txBody>
      <dsp:txXfrm>
        <a:off x="19403" y="1385290"/>
        <a:ext cx="6927803" cy="1107854"/>
      </dsp:txXfrm>
    </dsp:sp>
    <dsp:sp modelId="{875D741C-CAD9-4AF6-B4FA-DE20C2DFD952}">
      <dsp:nvSpPr>
        <dsp:cNvPr id="0" name=""/>
        <dsp:cNvSpPr/>
      </dsp:nvSpPr>
      <dsp:spPr>
        <a:xfrm flipH="1">
          <a:off x="0" y="2770108"/>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AB56E-E0E6-4724-B224-7DF8D29317AC}">
      <dsp:nvSpPr>
        <dsp:cNvPr id="0" name=""/>
        <dsp:cNvSpPr/>
      </dsp:nvSpPr>
      <dsp:spPr>
        <a:xfrm>
          <a:off x="7319587" y="3019375"/>
          <a:ext cx="609319" cy="6093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D209A1-A39C-4A34-A67B-7F58F8B67DCB}">
      <dsp:nvSpPr>
        <dsp:cNvPr id="0" name=""/>
        <dsp:cNvSpPr/>
      </dsp:nvSpPr>
      <dsp:spPr>
        <a:xfrm flipH="1">
          <a:off x="19403" y="2770108"/>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Arial"/>
              <a:cs typeface="Arial"/>
            </a:rPr>
            <a:t>ج التخطيط للتوظيف والاستعداد له</a:t>
          </a:r>
          <a:endParaRPr lang="en-US" sz="2500" kern="1200" dirty="0"/>
        </a:p>
      </dsp:txBody>
      <dsp:txXfrm>
        <a:off x="19403" y="2770108"/>
        <a:ext cx="6927803" cy="1107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192EFE-4736-4F80-928E-A510059B840D}">
      <dsp:nvSpPr>
        <dsp:cNvPr id="0" name=""/>
        <dsp:cNvSpPr/>
      </dsp:nvSpPr>
      <dsp:spPr>
        <a:xfrm>
          <a:off x="3247399" y="156372"/>
          <a:ext cx="2848570" cy="738457"/>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rtlCol="1" anchor="ctr" anchorCtr="0">
          <a:noAutofit/>
        </a:bodyPr>
        <a:lstStyle/>
        <a:p>
          <a:pPr marL="0" lvl="0" indent="0" algn="ctr" defTabSz="933450" rtl="1">
            <a:lnSpc>
              <a:spcPct val="90000"/>
            </a:lnSpc>
            <a:spcBef>
              <a:spcPct val="0"/>
            </a:spcBef>
            <a:spcAft>
              <a:spcPct val="35000"/>
            </a:spcAft>
            <a:buNone/>
          </a:pPr>
          <a:r>
            <a:rPr lang="ar-SA" sz="2100" kern="1200" noProof="0" dirty="0"/>
            <a:t>أ-1 الهياكل التنظيمية والأدوار الوظيفية في الشركة</a:t>
          </a:r>
        </a:p>
      </dsp:txBody>
      <dsp:txXfrm>
        <a:off x="3247399" y="156372"/>
        <a:ext cx="2848570" cy="738457"/>
      </dsp:txXfrm>
    </dsp:sp>
    <dsp:sp modelId="{C9F08A12-CC6D-4635-B773-639D2992BA9D}">
      <dsp:nvSpPr>
        <dsp:cNvPr id="0" name=""/>
        <dsp:cNvSpPr/>
      </dsp:nvSpPr>
      <dsp:spPr>
        <a:xfrm>
          <a:off x="3247399" y="894830"/>
          <a:ext cx="2848570" cy="17293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rtlCol="1" anchor="t" anchorCtr="0">
          <a:noAutofit/>
        </a:bodyPr>
        <a:lstStyle/>
        <a:p>
          <a:pPr marL="228600" lvl="1" indent="-228600" algn="r" defTabSz="933450" rtl="1">
            <a:lnSpc>
              <a:spcPct val="90000"/>
            </a:lnSpc>
            <a:spcBef>
              <a:spcPct val="0"/>
            </a:spcBef>
            <a:spcAft>
              <a:spcPct val="15000"/>
            </a:spcAft>
            <a:buChar char="•"/>
          </a:pPr>
          <a:r>
            <a:rPr lang="ar-SA" sz="2100" kern="1200" noProof="0" dirty="0"/>
            <a:t>الهياكل التنظيمية المختلفة</a:t>
          </a:r>
        </a:p>
      </dsp:txBody>
      <dsp:txXfrm>
        <a:off x="3247399" y="894830"/>
        <a:ext cx="2848570" cy="1729350"/>
      </dsp:txXfrm>
    </dsp:sp>
    <dsp:sp modelId="{45B3AE0B-EBE8-4320-BFD6-B293C433FBC2}">
      <dsp:nvSpPr>
        <dsp:cNvPr id="0" name=""/>
        <dsp:cNvSpPr/>
      </dsp:nvSpPr>
      <dsp:spPr>
        <a:xfrm>
          <a:off x="29" y="156372"/>
          <a:ext cx="2848570" cy="738457"/>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rtlCol="1" anchor="ctr" anchorCtr="0">
          <a:noAutofit/>
        </a:bodyPr>
        <a:lstStyle/>
        <a:p>
          <a:pPr marL="0" lvl="0" indent="0" algn="ctr" defTabSz="933450" rtl="1">
            <a:lnSpc>
              <a:spcPct val="90000"/>
            </a:lnSpc>
            <a:spcBef>
              <a:spcPct val="0"/>
            </a:spcBef>
            <a:spcAft>
              <a:spcPct val="35000"/>
            </a:spcAft>
            <a:buNone/>
          </a:pPr>
          <a:r>
            <a:rPr lang="ar" sz="2100" kern="1200" noProof="0" dirty="0"/>
            <a:t>أ-2 الأدوار والمسؤوليات الوظيفية</a:t>
          </a:r>
        </a:p>
      </dsp:txBody>
      <dsp:txXfrm>
        <a:off x="29" y="156372"/>
        <a:ext cx="2848570" cy="738457"/>
      </dsp:txXfrm>
    </dsp:sp>
    <dsp:sp modelId="{CF36FE73-6C79-4FE6-9CB6-01D25ECAF4F6}">
      <dsp:nvSpPr>
        <dsp:cNvPr id="0" name=""/>
        <dsp:cNvSpPr/>
      </dsp:nvSpPr>
      <dsp:spPr>
        <a:xfrm>
          <a:off x="29" y="894830"/>
          <a:ext cx="2848570" cy="17293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rtlCol="1" anchor="t" anchorCtr="0">
          <a:noAutofit/>
        </a:bodyPr>
        <a:lstStyle/>
        <a:p>
          <a:pPr marL="228600" lvl="1" indent="-228600" algn="r" defTabSz="933450" rtl="1">
            <a:lnSpc>
              <a:spcPct val="90000"/>
            </a:lnSpc>
            <a:spcBef>
              <a:spcPct val="0"/>
            </a:spcBef>
            <a:spcAft>
              <a:spcPct val="15000"/>
            </a:spcAft>
            <a:buChar char="•"/>
          </a:pPr>
          <a:r>
            <a:rPr lang="ar" sz="2100" kern="1200" noProof="0" dirty="0"/>
            <a:t>أعضاء مجلس الإدارة، والمديرون الأوائل، والمشرفون والعاملين</a:t>
          </a:r>
        </a:p>
        <a:p>
          <a:pPr marL="228600" lvl="1" indent="-228600" algn="r" defTabSz="933450" rtl="1">
            <a:lnSpc>
              <a:spcPct val="90000"/>
            </a:lnSpc>
            <a:spcBef>
              <a:spcPct val="0"/>
            </a:spcBef>
            <a:spcAft>
              <a:spcPct val="15000"/>
            </a:spcAft>
            <a:buChar char="•"/>
          </a:pPr>
          <a:r>
            <a:rPr lang="ar" sz="2100" kern="1200" noProof="0" dirty="0"/>
            <a:t>تأثير الهياكل التنظيمية المختلفة على الأدوار</a:t>
          </a:r>
        </a:p>
      </dsp:txBody>
      <dsp:txXfrm>
        <a:off x="29" y="894830"/>
        <a:ext cx="2848570" cy="172935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careersmart.org.uk/tool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A basic introduction to the unit.</a:t>
            </a:r>
          </a:p>
          <a:p>
            <a:pPr rtl="1"/>
            <a:endParaRPr lang="en-GB" altLang="en-US" b="1">
              <a:latin typeface="Arial" panose="020B0604020202020204" pitchFamily="34" charset="0"/>
            </a:endParaRPr>
          </a:p>
          <a:p>
            <a:pPr rtl="1"/>
            <a:r>
              <a:rPr lang="ar" b="1">
                <a:latin typeface="Arial" panose="020B0604020202020204" pitchFamily="34" charset="0"/>
              </a:rPr>
              <a:t>Useful websites:</a:t>
            </a:r>
          </a:p>
          <a:p>
            <a:pPr rtl="1"/>
            <a:endParaRPr lang="en-GB" altLang="en-US" b="1">
              <a:latin typeface="Arial" panose="020B0604020202020204" pitchFamily="34" charset="0"/>
            </a:endParaRPr>
          </a:p>
          <a:p>
            <a:pPr rtl="1"/>
            <a:r>
              <a:rPr lang="ar" b="0">
                <a:latin typeface="Arial" panose="020B0604020202020204" pitchFamily="34" charset="0"/>
              </a:rPr>
              <a:t>Country dependant.</a:t>
            </a:r>
          </a:p>
          <a:p>
            <a:pPr rtl="1"/>
            <a:endParaRPr lang="en-GB" altLang="en-US">
              <a:latin typeface="Arial" panose="020B0604020202020204" pitchFamily="34" charset="0"/>
            </a:endParaRPr>
          </a:p>
          <a:p>
            <a:pPr rtl="1"/>
            <a:endParaRPr lang="en-GB" altLang="en-US">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1">
                <a:effectLst/>
                <a:latin typeface="Helvetica" pitchFamily="2" charset="0"/>
              </a:rPr>
              <a:t>Learning aim A: Understand the scale, scope and diversity of the hospitality industry</a:t>
            </a:r>
          </a:p>
          <a:p>
            <a:pPr rtl="1"/>
            <a:endParaRPr lang="en-GB">
              <a:effectLst/>
              <a:latin typeface="Helvetica" pitchFamily="2" charset="0"/>
            </a:endParaRPr>
          </a:p>
          <a:p>
            <a:pPr rtl="1"/>
            <a:r>
              <a:rPr lang="ar">
                <a:effectLst/>
                <a:latin typeface="Helvetica" pitchFamily="2" charset="0"/>
              </a:rPr>
              <a:t>The focus of Learning aim A is defining the scope and scale of the hospitality industry</a:t>
            </a:r>
          </a:p>
          <a:p>
            <a:pPr rtl="1"/>
            <a:endParaRPr lang="en-GB" altLang="en-US">
              <a:latin typeface="Arial" panose="020B0604020202020204" pitchFamily="34" charset="0"/>
            </a:endParaRPr>
          </a:p>
          <a:p>
            <a:pPr rtl="1"/>
            <a:r>
              <a:rPr lang="ar">
                <a:latin typeface="Arial" panose="020B0604020202020204" pitchFamily="34" charset="0"/>
              </a:rPr>
              <a:t>When studying the hospitality industry, it is important to understand its size, the types of businesses that operate within the industry, how these businesses are owned, where the industry operates and the importance of the hospitality industry locally, nationally and internationally.</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extLst>
      <p:ext uri="{BB962C8B-B14F-4D97-AF65-F5344CB8AC3E}">
        <p14:creationId xmlns:p14="http://schemas.microsoft.com/office/powerpoint/2010/main" val="2832995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Helvetica"/>
                <a:cs typeface="Helvetica"/>
              </a:rPr>
              <a:t>Learners can be given a large sheet of paper and asked to create the structure of the school/ college, starting with the principal.</a:t>
            </a:r>
            <a:endParaRPr lang="en-GB">
              <a:effectLst/>
              <a:latin typeface="Helvetica" pitchFamily="2" charset="0"/>
              <a:cs typeface="Helvetica"/>
            </a:endParaRPr>
          </a:p>
          <a:p>
            <a:pPr rtl="1"/>
            <a:r>
              <a:rPr lang="ar">
                <a:latin typeface="Helvetica"/>
                <a:cs typeface="Helvetica"/>
              </a:rPr>
              <a:t>They may need prompts to think of roles other than those of the teaching staff.</a:t>
            </a:r>
          </a:p>
          <a:p>
            <a:pPr rtl="1"/>
            <a:endParaRPr lang="en-GB">
              <a:latin typeface="Helvetica"/>
              <a:cs typeface="Helvetica"/>
            </a:endParaRPr>
          </a:p>
          <a:p>
            <a:pPr rtl="1"/>
            <a:r>
              <a:rPr lang="ar">
                <a:latin typeface="Helvetica"/>
                <a:cs typeface="Helvetica"/>
              </a:rPr>
              <a:t>Learners to have a discussion as to the reasons why the school/ college is organised in this way. </a:t>
            </a:r>
          </a:p>
          <a:p>
            <a:pPr rtl="1"/>
            <a:r>
              <a:rPr lang="ar">
                <a:latin typeface="Helvetica"/>
                <a:cs typeface="Helvetica"/>
              </a:rPr>
              <a:t>Depending on the structure of the school/ college, teacher to identify the type of structure and benefits</a:t>
            </a:r>
          </a:p>
          <a:p>
            <a:pPr rtl="1"/>
            <a:endParaRPr lang="en-GB">
              <a:latin typeface="Helvetica"/>
              <a:cs typeface="Helvetica"/>
            </a:endParaRPr>
          </a:p>
          <a:p>
            <a:pPr rtl="1"/>
            <a:endParaRPr lang="en-GB">
              <a:effectLst/>
              <a:latin typeface="Helvetica" pitchFamily="2" charset="0"/>
              <a:cs typeface="Helvetica"/>
            </a:endParaRPr>
          </a:p>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latin typeface="Calibri"/>
                <a:cs typeface="Calibri"/>
              </a:rPr>
              <a:t>Images: </a:t>
            </a:r>
            <a:endParaRPr lang="en-US">
              <a:cs typeface="Arial" charset="0"/>
            </a:endParaRPr>
          </a:p>
          <a:p>
            <a:pPr rtl="1"/>
            <a:r>
              <a:rPr lang="ar">
                <a:latin typeface="Arial"/>
                <a:cs typeface="Arial"/>
              </a:rPr>
              <a:t>AL2070289 - hierarchical</a:t>
            </a:r>
            <a:endParaRPr lang="en-US">
              <a:cs typeface="Arial"/>
            </a:endParaRPr>
          </a:p>
          <a:p>
            <a:pPr rtl="1"/>
            <a:r>
              <a:rPr lang="ar">
                <a:latin typeface="Arial"/>
                <a:cs typeface="Arial"/>
              </a:rPr>
              <a:t>AL7330 – flat – words can be blanked out please</a:t>
            </a:r>
            <a:endParaRPr lang="en-US">
              <a:cs typeface="Arial" charset="0"/>
            </a:endParaRPr>
          </a:p>
          <a:p>
            <a:pPr rtl="1"/>
            <a:r>
              <a:rPr lang="ar">
                <a:latin typeface="Arial"/>
                <a:cs typeface="Arial"/>
              </a:rPr>
              <a:t>AL1383974 – matrix</a:t>
            </a:r>
            <a:endParaRPr lang="en-US">
              <a:cs typeface="Arial" charset="0"/>
            </a:endParaRPr>
          </a:p>
          <a:p>
            <a:pPr rtl="1"/>
            <a:endParaRPr lang="en-US">
              <a:cs typeface="Arial"/>
            </a:endParaRPr>
          </a:p>
          <a:p>
            <a:pPr rtl="1"/>
            <a:r>
              <a:rPr lang="ar">
                <a:latin typeface="Arial"/>
                <a:cs typeface="Arial"/>
              </a:rPr>
              <a:t>Learners are to match the image with the type of structure out of the three – matrix, hierarchical and flat.</a:t>
            </a:r>
            <a:endParaRPr lang="en-US">
              <a:cs typeface="Arial"/>
            </a:endParaRPr>
          </a:p>
          <a:p>
            <a:pPr rtl="1"/>
            <a:r>
              <a:rPr lang="ar">
                <a:latin typeface="Arial"/>
                <a:cs typeface="Arial"/>
              </a:rPr>
              <a:t>They can then draw an example of divisional and functional.</a:t>
            </a:r>
            <a:endParaRPr lang="en-US">
              <a:cs typeface="Arial"/>
            </a:endParaRPr>
          </a:p>
          <a:p>
            <a:pPr rtl="1"/>
            <a:r>
              <a:rPr lang="ar">
                <a:latin typeface="Arial"/>
                <a:cs typeface="Arial"/>
              </a:rPr>
              <a:t>Class discussion of the benefits and drawbacks of each type.</a:t>
            </a:r>
            <a:endParaRPr lang="en-US">
              <a:cs typeface="Arial"/>
            </a:endParaRPr>
          </a:p>
          <a:p>
            <a:pPr rtl="1"/>
            <a:endParaRPr lang="en-US">
              <a:cs typeface="Arial"/>
            </a:endParaRPr>
          </a:p>
          <a:p>
            <a:pPr rtl="1"/>
            <a:endParaRPr lang="en-US">
              <a:cs typeface="Arial"/>
            </a:endParaRPr>
          </a:p>
          <a:p>
            <a:pPr algn="ctr" rtl="1"/>
            <a:endParaRPr lang="en-US">
              <a:cs typeface="Arial"/>
            </a:endParaRPr>
          </a:p>
          <a:p>
            <a:pPr rtl="1"/>
            <a:endParaRPr lang="en-US">
              <a:cs typeface="Arial"/>
            </a:endParaRPr>
          </a:p>
          <a:p>
            <a:pPr algn="ctr" rtl="1"/>
            <a:endParaRPr lang="en-US">
              <a:cs typeface="Arial"/>
            </a:endParaRPr>
          </a:p>
          <a:p>
            <a:pPr rtl="1"/>
            <a:endParaRPr lang="en-US">
              <a:latin typeface="Calibri"/>
              <a:cs typeface="Calibri"/>
            </a:endParaRP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a:pPr>
                <a:defRPr/>
              </a:pPr>
              <a:t>7</a:t>
            </a:fld>
            <a:endParaRPr lang="en-GB" altLang="en-US"/>
          </a:p>
        </p:txBody>
      </p:sp>
    </p:spTree>
    <p:extLst>
      <p:ext uri="{BB962C8B-B14F-4D97-AF65-F5344CB8AC3E}">
        <p14:creationId xmlns:p14="http://schemas.microsoft.com/office/powerpoint/2010/main" val="104761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Learners to identify the type of structure based on the 5 scenarios given.</a:t>
            </a:r>
          </a:p>
          <a:p>
            <a:pPr rtl="1"/>
            <a:r>
              <a:rPr lang="ar"/>
              <a:t>Stretch and challenge – learners can discuss why these type of structures suit each of the businesses. What are the drawbacks?</a:t>
            </a:r>
          </a:p>
          <a:p>
            <a:pPr rtl="1"/>
            <a:r>
              <a:rPr lang="ar"/>
              <a:t>Design the organisation chart for one of the examples given</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8</a:t>
            </a:fld>
            <a:endParaRPr lang="en-GB" altLang="en-US"/>
          </a:p>
        </p:txBody>
      </p:sp>
    </p:spTree>
    <p:extLst>
      <p:ext uri="{BB962C8B-B14F-4D97-AF65-F5344CB8AC3E}">
        <p14:creationId xmlns:p14="http://schemas.microsoft.com/office/powerpoint/2010/main" val="787180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Job roles and responsibilities</a:t>
            </a:r>
          </a:p>
          <a:p>
            <a:pPr rtl="1"/>
            <a:r>
              <a:rPr lang="ar"/>
              <a:t>Learners must research some job vacancies for the following roles shown in the slide, however they need to research for example, one director role in a small organisation and one director role in a very different type and sized organisation e.g. a director in a small accounting firm and a director in a large housebuilding business. They need to have different sizes and structures. They can then explain the responsibilities for each job role. </a:t>
            </a:r>
          </a:p>
          <a:p>
            <a:pPr rtl="1"/>
            <a:endParaRPr lang="en-GB"/>
          </a:p>
          <a:p>
            <a:pPr rtl="1"/>
            <a:r>
              <a:rPr lang="ar"/>
              <a:t>Example could be a small supermarket with a functional structure vs. a large manufacturing organisation with a matrix structure. </a:t>
            </a:r>
          </a:p>
          <a:p>
            <a:pPr rtl="1"/>
            <a:r>
              <a:rPr lang="ar"/>
              <a:t>Learners may require some support as the job titles may differ from those given in the slides.</a:t>
            </a:r>
          </a:p>
          <a:p>
            <a:pPr rtl="1"/>
            <a:endParaRPr lang="en-GB"/>
          </a:p>
          <a:p>
            <a:pPr rtl="1"/>
            <a:endParaRPr lang="en-GB"/>
          </a:p>
          <a:p>
            <a:pPr rtl="1"/>
            <a:endParaRPr lang="en-GB"/>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a:p>
        </p:txBody>
      </p:sp>
    </p:spTree>
    <p:extLst>
      <p:ext uri="{BB962C8B-B14F-4D97-AF65-F5344CB8AC3E}">
        <p14:creationId xmlns:p14="http://schemas.microsoft.com/office/powerpoint/2010/main" val="974823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Learners to use the research from the previous activity and explain the similarities of the job roles and the responsibilities in the 2 different organisations.</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a:t>Learners may require some support as the job titles may differ from those given in the slides.</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a:t>Once they have completed the table, learners to analyse the impact of the organsiational structure on different job roles.</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a:t>To analyse, learners must b</a:t>
            </a:r>
          </a:p>
          <a:p>
            <a:pPr rtl="1"/>
            <a:endParaRPr lang="en-GB" altLang="en-US">
              <a:latin typeface="Arial" panose="020B0604020202020204" pitchFamily="34" charset="0"/>
            </a:endParaRPr>
          </a:p>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For A.D1, learners need to understand how to analyse. To do this, they need to give a chain of reasoning. The example in the slide shows different command verbs being demonstrated,. The blue text is identification, the red text is explanation and the green text is analysis. Analysis requires learners to use vocabulary to demonstrate this, for example, ‘this shows that’ ‘this impacts because.’</a:t>
            </a:r>
          </a:p>
          <a:p>
            <a:pPr rtl="1"/>
            <a:endParaRPr lang="en-GB"/>
          </a:p>
          <a:p>
            <a:pPr rtl="1"/>
            <a:r>
              <a:rPr lang="ar"/>
              <a:t>For this slide, tell learners there are three examples of different command verbs, one of the colours is identification, one of the colours is explanation and one of the colours is analysis. They are to identify which one each of the different colours is which skill. </a:t>
            </a:r>
          </a:p>
          <a:p>
            <a:pPr rtl="1"/>
            <a:r>
              <a:rPr lang="ar"/>
              <a:t>Ask learners to come up with their own example. They could then be asked to swap with a partner for them to check and see how it could be improved.</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sz="1800">
                <a:effectLst/>
                <a:latin typeface="Open Sans" panose="020B0606030504020204" pitchFamily="34" charset="0"/>
                <a:ea typeface="Times New Roman" panose="02020603050405020304" pitchFamily="18" charset="0"/>
                <a:cs typeface="Times New Roman" panose="02020603050405020304" pitchFamily="18" charset="0"/>
              </a:rPr>
              <a:t>Learners should then try and make statements of analysis for each of the job roles and organisations from the previous activity.</a:t>
            </a:r>
            <a:endParaRPr lang="en-GB" sz="1800">
              <a:effectLst/>
              <a:latin typeface="Verdana" panose="020B0604030504040204" pitchFamily="34" charset="0"/>
              <a:ea typeface="Times New Roman" panose="02020603050405020304" pitchFamily="18" charset="0"/>
              <a:cs typeface="Times New Roman" panose="02020603050405020304" pitchFamily="18" charset="0"/>
            </a:endParaRP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11</a:t>
            </a:fld>
            <a:endParaRPr lang="en-GB" altLang="en-US"/>
          </a:p>
        </p:txBody>
      </p:sp>
    </p:spTree>
    <p:extLst>
      <p:ext uri="{BB962C8B-B14F-4D97-AF65-F5344CB8AC3E}">
        <p14:creationId xmlns:p14="http://schemas.microsoft.com/office/powerpoint/2010/main" val="4002458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3850939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Employee leaving – Image </a:t>
            </a:r>
            <a:r>
              <a:rPr lang="ar" b="1">
                <a:latin typeface="Arial" panose="020B0604020202020204" pitchFamily="34" charset="0"/>
              </a:rPr>
              <a:t>AL</a:t>
            </a:r>
            <a:r>
              <a:rPr lang="ar" b="1" i="0">
                <a:effectLst/>
                <a:latin typeface="Roboto" panose="02000000000000000000" pitchFamily="2" charset="0"/>
              </a:rPr>
              <a:t>1504670</a:t>
            </a:r>
            <a:endParaRPr lang="en-GB" altLang="en-US">
              <a:latin typeface="Arial" panose="020B0604020202020204" pitchFamily="34"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Extra work </a:t>
            </a:r>
            <a:r>
              <a:rPr lang="ar" b="1" i="0">
                <a:effectLst/>
                <a:latin typeface="Roboto" panose="02000000000000000000" pitchFamily="2" charset="0"/>
              </a:rPr>
              <a:t>AL1403578</a:t>
            </a:r>
            <a:endParaRPr lang="en-GB" altLang="en-US">
              <a:latin typeface="Arial" panose="020B0604020202020204" pitchFamily="34"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Sickness </a:t>
            </a:r>
            <a:r>
              <a:rPr lang="ar" b="1" i="0">
                <a:effectLst/>
                <a:latin typeface="Roboto" panose="02000000000000000000" pitchFamily="2" charset="0"/>
              </a:rPr>
              <a:t>AL1512983</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a:latin typeface="Arial" panose="020B0604020202020204" pitchFamily="34" charset="0"/>
              </a:rPr>
              <a:t>Maternity and paternity cover </a:t>
            </a:r>
            <a:r>
              <a:rPr lang="ar" b="1" i="0">
                <a:effectLst/>
                <a:latin typeface="Roboto" panose="02000000000000000000" pitchFamily="2" charset="0"/>
              </a:rPr>
              <a:t>AL1233168</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Growth/ different job roles required: </a:t>
            </a:r>
            <a:r>
              <a:rPr lang="ar" b="1" i="0">
                <a:effectLst/>
                <a:latin typeface="Roboto" panose="02000000000000000000" pitchFamily="2" charset="0"/>
              </a:rPr>
              <a:t>AL1282467</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Learners to use the images to explain why vacancies might occur in businesses. </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0" i="0">
              <a:effectLst/>
              <a:latin typeface="Roboto" panose="02000000000000000000" pitchFamily="2" charset="0"/>
            </a:endParaRPr>
          </a:p>
          <a:p>
            <a:pPr rtl="1"/>
            <a:r>
              <a:rPr lang="ar"/>
              <a:t>Learners also to research: What is meant by the term high staff turnover? Why could this lead to vacancies arising in a business?</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0"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0" i="0">
              <a:effectLst/>
              <a:latin typeface="Roboto" panose="02000000000000000000" pitchFamily="2" charset="0"/>
            </a:endParaRPr>
          </a:p>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1619382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For each of the different types of external recruitment, learners are to research and explain what they are and how they help businesses to find people to recruit.</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Go through issues with learners. Then learners to consider the questions that follow. They can research these. </a:t>
            </a:r>
          </a:p>
          <a:p>
            <a:pPr rtl="1"/>
            <a:r>
              <a:rPr lang="ar"/>
              <a:t>They may need reminding that ‘costs’ are not just financial, they could be time and opportunity cost.</a:t>
            </a:r>
          </a:p>
          <a:p>
            <a:pPr rtl="1"/>
            <a:r>
              <a:rPr lang="ar"/>
              <a:t>Learners need to research the equal opportunities law in the country and then find out how businesses apply this in the recruitment process.</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15</a:t>
            </a:fld>
            <a:endParaRPr lang="en-GB" altLang="en-US"/>
          </a:p>
        </p:txBody>
      </p:sp>
    </p:spTree>
    <p:extLst>
      <p:ext uri="{BB962C8B-B14F-4D97-AF65-F5344CB8AC3E}">
        <p14:creationId xmlns:p14="http://schemas.microsoft.com/office/powerpoint/2010/main" val="956936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a:latin typeface="Arial" panose="020B0604020202020204" pitchFamily="34" charset="0"/>
              </a:rPr>
              <a:t>Teacher to explain the difference between a job advert, a job description and a person specification</a:t>
            </a:r>
          </a:p>
          <a:p>
            <a:pPr rtl="1"/>
            <a:endParaRPr lang="en-GB" altLang="en-US">
              <a:latin typeface="Arial" panose="020B0604020202020204" pitchFamily="34" charset="0"/>
            </a:endParaRPr>
          </a:p>
          <a:p>
            <a:pPr rtl="1"/>
            <a:r>
              <a:rPr lang="ar">
                <a:latin typeface="Arial" panose="020B0604020202020204" pitchFamily="34" charset="0"/>
              </a:rPr>
              <a:t>Learners to work through the tasks on the slide – finding different job adverts from different places. If learners aren’t able to do certain ones, the teacher may need to source these, e.g. job board (usually in small local shops or in large supermarkets, careers forum etc) and considering what the differences are between the adverts, why a business would use the different methods and what sorts of jobs would be advertised using this method and why</a:t>
            </a:r>
          </a:p>
          <a:p>
            <a:pPr rtl="1"/>
            <a:endParaRPr lang="en-GB" altLang="en-US">
              <a:latin typeface="Arial" panose="020B0604020202020204" pitchFamily="34" charset="0"/>
            </a:endParaRPr>
          </a:p>
          <a:p>
            <a:pPr rtl="1"/>
            <a:r>
              <a:rPr lang="ar">
                <a:latin typeface="Arial" panose="020B0604020202020204" pitchFamily="34" charset="0"/>
              </a:rPr>
              <a:t>Learner to research and find a job description and person specification for any of the job vacancies and consider why a business produced and publishes these to potential candidates. i.e. prevent unsuitable candidates from applying and helps the business to fully analyse what it needs an applicant to have done in order to fill the vacancy and meet the requirements of the role.</a:t>
            </a:r>
          </a:p>
          <a:p>
            <a:pPr rtl="1"/>
            <a:r>
              <a:rPr lang="ar">
                <a:latin typeface="Arial" panose="020B0604020202020204" pitchFamily="34" charset="0"/>
              </a:rPr>
              <a:t>Page 9 of student book may help.</a:t>
            </a:r>
          </a:p>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b="0">
                <a:effectLst/>
                <a:latin typeface="Helvetica" pitchFamily="2" charset="0"/>
              </a:rPr>
              <a:t>Teacher to explain what a job description is, its purpose and why businesses have to publish these when there is a vacancy to be advertised.</a:t>
            </a:r>
          </a:p>
          <a:p>
            <a:pPr rtl="1"/>
            <a:endParaRPr lang="en-GB" b="0">
              <a:effectLst/>
              <a:latin typeface="Helvetica" pitchFamily="2" charset="0"/>
            </a:endParaRPr>
          </a:p>
          <a:p>
            <a:pPr rtl="1"/>
            <a:r>
              <a:rPr lang="ar" b="0">
                <a:effectLst/>
                <a:latin typeface="Helvetica" pitchFamily="2" charset="0"/>
              </a:rPr>
              <a:t>Learners to come up with the details listed on the slide for a job description for a teacher in school. This is an introductory activity so some of the terms will need to be explained.</a:t>
            </a:r>
          </a:p>
          <a:p>
            <a:pPr rtl="1"/>
            <a:r>
              <a:rPr lang="ar" b="0">
                <a:effectLst/>
                <a:latin typeface="Helvetica" pitchFamily="2" charset="0"/>
              </a:rPr>
              <a:t>Learners can then peer assess and see how they can make their partner’s job description more detailed.</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b="0">
                <a:effectLst/>
                <a:latin typeface="Helvetica" pitchFamily="2" charset="0"/>
              </a:rPr>
              <a:t>Teacher to explain what a person specification is, its purpose and why businesses have to publish these when there is a vacancy to be advertised.</a:t>
            </a:r>
          </a:p>
          <a:p>
            <a:pPr rtl="1"/>
            <a:endParaRPr lang="en-GB" b="0">
              <a:effectLst/>
              <a:latin typeface="Helvetica" pitchFamily="2" charset="0"/>
            </a:endParaRPr>
          </a:p>
          <a:p>
            <a:pPr rtl="1"/>
            <a:r>
              <a:rPr lang="ar" b="0">
                <a:effectLst/>
                <a:latin typeface="Helvetica" pitchFamily="2" charset="0"/>
              </a:rPr>
              <a:t>Learners to come up with the details listed on the slide for a person specification for a teacher in school. This is an introductory activity so some of the terms will need to be explained.</a:t>
            </a:r>
          </a:p>
          <a:p>
            <a:pPr rtl="1"/>
            <a:r>
              <a:rPr lang="ar" b="0">
                <a:effectLst/>
                <a:latin typeface="Helvetica" pitchFamily="2" charset="0"/>
              </a:rPr>
              <a:t>Learners can then peer assess and see how they can make their partner’s job description more detailed.</a:t>
            </a:r>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19</a:t>
            </a:fld>
            <a:endParaRPr lang="en-GB" altLang="en-US"/>
          </a:p>
        </p:txBody>
      </p:sp>
    </p:spTree>
    <p:extLst>
      <p:ext uri="{BB962C8B-B14F-4D97-AF65-F5344CB8AC3E}">
        <p14:creationId xmlns:p14="http://schemas.microsoft.com/office/powerpoint/2010/main" val="1640796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2343242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Learners to research and find three different job application forms from different businesses for a similar role. For example a customer services assistant in a supermarket X, supermarket Y and supermarket Z or a retail assistant in a clothes shop, a shoe shop and a health and beauty shop.</a:t>
            </a:r>
          </a:p>
          <a:p>
            <a:pPr rtl="1"/>
            <a:r>
              <a:rPr lang="ar"/>
              <a:t>Learners will need to go onto the business’s websites or onto employment agencies websites to find these.</a:t>
            </a:r>
          </a:p>
          <a:p>
            <a:pPr rtl="1"/>
            <a:r>
              <a:rPr lang="ar"/>
              <a:t>Best practice: plan everything before you complete it, ensure it’s error free, use plain language etc.</a:t>
            </a: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21</a:t>
            </a:fld>
            <a:endParaRPr lang="en-GB" altLang="en-US"/>
          </a:p>
        </p:txBody>
      </p:sp>
    </p:spTree>
    <p:extLst>
      <p:ext uri="{BB962C8B-B14F-4D97-AF65-F5344CB8AC3E}">
        <p14:creationId xmlns:p14="http://schemas.microsoft.com/office/powerpoint/2010/main" val="15422263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Learners to research and find three different completed CVs. </a:t>
            </a:r>
          </a:p>
          <a:p>
            <a:pPr rtl="1"/>
            <a:r>
              <a:rPr lang="ar"/>
              <a:t>These are often found in the images tab of a search engine (search: completed curriculum vitae)</a:t>
            </a:r>
          </a:p>
          <a:p>
            <a:pPr rtl="1"/>
            <a:r>
              <a:rPr lang="ar"/>
              <a:t>Best practice: plan everything before you complete it, ensure it’s error free, use plain language. Sell yourself etc.</a:t>
            </a: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22</a:t>
            </a:fld>
            <a:endParaRPr lang="en-GB" altLang="en-US"/>
          </a:p>
        </p:txBody>
      </p:sp>
    </p:spTree>
    <p:extLst>
      <p:ext uri="{BB962C8B-B14F-4D97-AF65-F5344CB8AC3E}">
        <p14:creationId xmlns:p14="http://schemas.microsoft.com/office/powerpoint/2010/main" val="135034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Learners to research and find three different completed letters of application</a:t>
            </a:r>
          </a:p>
          <a:p>
            <a:pPr rtl="1"/>
            <a:r>
              <a:rPr lang="ar"/>
              <a:t>These are often found in the images tab of a search engine (search: completed letters of application)</a:t>
            </a:r>
          </a:p>
          <a:p>
            <a:pPr rtl="1"/>
            <a:r>
              <a:rPr lang="ar"/>
              <a:t>Best practice: plan everything before you complete it, ensure it’s error free, use plain language. Sell yourself, align it to the job description and person specification etc.</a:t>
            </a: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23</a:t>
            </a:fld>
            <a:endParaRPr lang="en-GB" altLang="en-US"/>
          </a:p>
        </p:txBody>
      </p:sp>
    </p:spTree>
    <p:extLst>
      <p:ext uri="{BB962C8B-B14F-4D97-AF65-F5344CB8AC3E}">
        <p14:creationId xmlns:p14="http://schemas.microsoft.com/office/powerpoint/2010/main" val="228484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a:t>Accountant: Image : </a:t>
            </a:r>
            <a:r>
              <a:rPr lang="ar" b="1" i="0">
                <a:effectLst/>
                <a:latin typeface="Roboto" panose="02000000000000000000" pitchFamily="2" charset="0"/>
              </a:rPr>
              <a:t>AL2049422</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Firefigher</a:t>
            </a:r>
            <a:r>
              <a:rPr lang="ar" b="1" i="0">
                <a:effectLst/>
                <a:latin typeface="Roboto" panose="02000000000000000000" pitchFamily="2" charset="0"/>
              </a:rPr>
              <a:t>: AL1449714</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Pilot</a:t>
            </a:r>
            <a:r>
              <a:rPr lang="ar" b="1" i="0">
                <a:effectLst/>
                <a:latin typeface="Roboto" panose="02000000000000000000" pitchFamily="2" charset="0"/>
              </a:rPr>
              <a:t> AL2065996</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1" i="0">
                <a:effectLst/>
                <a:latin typeface="Roboto" panose="02000000000000000000" pitchFamily="2" charset="0"/>
              </a:rPr>
              <a:t>Teacher AL1111347</a:t>
            </a: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0"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Learners to match the type of test/ requirement to the most likely job role and explain why these are mandatory</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Learners can then do a practice psychometric test: https://www.practiceaptitudetests.com/sign-up</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If the facilities are available, fitness testing could be done: https://www.military.com/military-fitness/fitness-test-prep/top-12-physical-fitness-test-exercises</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b="0" i="0">
                <a:effectLst/>
                <a:latin typeface="Roboto" panose="02000000000000000000" pitchFamily="2" charset="0"/>
              </a:rPr>
              <a:t>Sight test: https://www.safeeyesamerica.org/home-eye-test</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a:effectLst/>
              <a:latin typeface="Roboto" panose="02000000000000000000" pitchFamily="2"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a:effectLst/>
              <a:latin typeface="Roboto" panose="02000000000000000000" pitchFamily="2" charset="0"/>
            </a:endParaRP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24</a:t>
            </a:fld>
            <a:endParaRPr lang="en-GB" altLang="en-US"/>
          </a:p>
        </p:txBody>
      </p:sp>
    </p:spTree>
    <p:extLst>
      <p:ext uri="{BB962C8B-B14F-4D97-AF65-F5344CB8AC3E}">
        <p14:creationId xmlns:p14="http://schemas.microsoft.com/office/powerpoint/2010/main" val="596391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Learners to prepare for an interview at their local large supermarket. They will need to be provided with the job description and person specification. </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26</a:t>
            </a:fld>
            <a:endParaRPr lang="en-GB" altLang="en-US"/>
          </a:p>
        </p:txBody>
      </p:sp>
    </p:spTree>
    <p:extLst>
      <p:ext uri="{BB962C8B-B14F-4D97-AF65-F5344CB8AC3E}">
        <p14:creationId xmlns:p14="http://schemas.microsoft.com/office/powerpoint/2010/main" val="4122087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sz="1800">
                <a:effectLst/>
                <a:latin typeface="Open Sans" panose="020B0606030504020204" pitchFamily="34" charset="0"/>
                <a:ea typeface="Calibri" panose="020F0502020204030204" pitchFamily="34" charset="0"/>
              </a:rPr>
              <a:t>learners to individually complete a SWOT analysis identifying their strengths, weaknesses, opportunities and threats. </a:t>
            </a:r>
          </a:p>
          <a:p>
            <a:pPr marL="0" marR="0" lvl="0" indent="0" algn="l" defTabSz="914400" rtl="1" eaLnBrk="0" fontAlgn="base" latinLnBrk="0" hangingPunct="0">
              <a:lnSpc>
                <a:spcPct val="100000"/>
              </a:lnSpc>
              <a:spcBef>
                <a:spcPct val="30000"/>
              </a:spcBef>
              <a:spcAft>
                <a:spcPct val="0"/>
              </a:spcAft>
              <a:buClrTx/>
              <a:buSzTx/>
              <a:buFontTx/>
              <a:buNone/>
              <a:tabLst/>
              <a:defRPr/>
            </a:pPr>
            <a:r>
              <a:rPr lang="ar" sz="1800">
                <a:effectLst/>
                <a:latin typeface="Open Sans" panose="020B0606030504020204" pitchFamily="34" charset="0"/>
                <a:ea typeface="Times New Roman" panose="02020603050405020304" pitchFamily="18" charset="0"/>
                <a:cs typeface="Times New Roman" panose="02020603050405020304" pitchFamily="18" charset="0"/>
              </a:rPr>
              <a:t>learners to use the skills audit test tool to complete a skills audit on themselves: </a:t>
            </a:r>
            <a:r>
              <a:rPr lang="ar" sz="1800" u="sng">
                <a:solidFill>
                  <a:srgbClr val="0000FF"/>
                </a:solidFill>
                <a:effectLst/>
                <a:latin typeface="Verdana" panose="020B0604030504040204" pitchFamily="34" charset="0"/>
                <a:ea typeface="Times New Roman" panose="02020603050405020304" pitchFamily="18" charset="0"/>
                <a:cs typeface="Arial" panose="020B0604020202020204" pitchFamily="34" charset="0"/>
                <a:hlinkClick r:id="rId3"/>
              </a:rPr>
              <a:t>Tools | Careersmart</a:t>
            </a:r>
            <a:endParaRPr lang="en-GB" sz="1800">
              <a:effectLst/>
              <a:latin typeface="Verdana" panose="020B0604030504040204" pitchFamily="34" charset="0"/>
              <a:ea typeface="Times New Roman" panose="02020603050405020304" pitchFamily="18" charset="0"/>
              <a:cs typeface="Arial" panose="020B0604020202020204" pitchFamily="34" charset="0"/>
            </a:endParaRP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sz="1800">
              <a:effectLst/>
              <a:latin typeface="Verdana" panose="020B0604030504040204" pitchFamily="34" charset="0"/>
              <a:ea typeface="Times New Roman" panose="02020603050405020304" pitchFamily="18" charset="0"/>
              <a:cs typeface="Times New Roman" panose="02020603050405020304" pitchFamily="18" charset="0"/>
            </a:endParaRPr>
          </a:p>
          <a:p>
            <a:pPr rtl="1"/>
            <a:r>
              <a:rPr lang="ar"/>
              <a:t>Learners to complete the skills career matcher: https://www.careeronestop.org/Toolkit/Skills/skills-matcher.aspx</a:t>
            </a:r>
          </a:p>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a:p>
        </p:txBody>
      </p:sp>
    </p:spTree>
    <p:extLst>
      <p:ext uri="{BB962C8B-B14F-4D97-AF65-F5344CB8AC3E}">
        <p14:creationId xmlns:p14="http://schemas.microsoft.com/office/powerpoint/2010/main" val="3849067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0" indent="0" rtl="1">
              <a:buNone/>
            </a:pPr>
            <a:r>
              <a:rPr lang="ar"/>
              <a:t>Learners to research the sources of information and advice and explain their purpose and the sorts of roles they provide information and advice for:</a:t>
            </a:r>
          </a:p>
          <a:p>
            <a:pPr rtl="1"/>
            <a:r>
              <a:rPr lang="ar"/>
              <a:t>Careers advice service</a:t>
            </a:r>
          </a:p>
          <a:p>
            <a:pPr rtl="1"/>
            <a:r>
              <a:rPr lang="ar"/>
              <a:t>Careers fairs</a:t>
            </a:r>
          </a:p>
          <a:p>
            <a:pPr rtl="1"/>
            <a:r>
              <a:rPr lang="ar"/>
              <a:t>Network events</a:t>
            </a:r>
          </a:p>
          <a:p>
            <a:pPr rtl="1"/>
            <a:r>
              <a:rPr lang="ar"/>
              <a:t>Employment agencies</a:t>
            </a:r>
          </a:p>
          <a:p>
            <a:pPr rtl="1"/>
            <a:r>
              <a:rPr lang="ar"/>
              <a:t>Government agencies. </a:t>
            </a:r>
          </a:p>
          <a:p>
            <a:pPr rtl="1"/>
            <a:endParaRPr lang="en-GB"/>
          </a:p>
          <a:p>
            <a:pPr rtl="1"/>
            <a:r>
              <a:rPr lang="ar"/>
              <a:t>Learners to discuss other forms of information and advice, explaining how they can also help:</a:t>
            </a:r>
          </a:p>
          <a:p>
            <a:pPr rtl="1"/>
            <a:r>
              <a:rPr lang="ar"/>
              <a:t>Job advertisements, word of mouth, friends and family, teachers, previous employers.</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28</a:t>
            </a:fld>
            <a:endParaRPr lang="en-GB" altLang="en-US"/>
          </a:p>
        </p:txBody>
      </p:sp>
    </p:spTree>
    <p:extLst>
      <p:ext uri="{BB962C8B-B14F-4D97-AF65-F5344CB8AC3E}">
        <p14:creationId xmlns:p14="http://schemas.microsoft.com/office/powerpoint/2010/main" val="2746069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C1</a:t>
            </a:r>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29</a:t>
            </a:fld>
            <a:endParaRPr lang="en-GB" altLang="en-US"/>
          </a:p>
        </p:txBody>
      </p:sp>
    </p:spTree>
    <p:extLst>
      <p:ext uri="{BB962C8B-B14F-4D97-AF65-F5344CB8AC3E}">
        <p14:creationId xmlns:p14="http://schemas.microsoft.com/office/powerpoint/2010/main" val="3893647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30</a:t>
            </a:fld>
            <a:endParaRPr lang="en-GB" altLang="en-US"/>
          </a:p>
        </p:txBody>
      </p:sp>
    </p:spTree>
    <p:extLst>
      <p:ext uri="{BB962C8B-B14F-4D97-AF65-F5344CB8AC3E}">
        <p14:creationId xmlns:p14="http://schemas.microsoft.com/office/powerpoint/2010/main" val="2625723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rtl="1">
                <a:defRPr/>
              </a:pPr>
              <a:t>31</a:t>
            </a:fld>
            <a:endParaRPr lang="en-GB" altLang="en-US"/>
          </a:p>
        </p:txBody>
      </p:sp>
    </p:spTree>
    <p:extLst>
      <p:ext uri="{BB962C8B-B14F-4D97-AF65-F5344CB8AC3E}">
        <p14:creationId xmlns:p14="http://schemas.microsoft.com/office/powerpoint/2010/main" val="36635463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2" name="Picture 8">
            <a:extLst>
              <a:ext uri="{FF2B5EF4-FFF2-40B4-BE49-F238E27FC236}">
                <a16:creationId xmlns:a16="http://schemas.microsoft.com/office/drawing/2014/main" id="{149F1FB8-B415-123A-A09D-16FD00951301}"/>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 Id="rId4" Type="http://schemas.microsoft.com/office/2018/10/relationships/comments" Target="../comments/modernComment_101_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3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38.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8.xml"/><Relationship Id="rId4" Type="http://schemas.microsoft.com/office/2018/10/relationships/comments" Target="../comments/modernComment_132_230C48ED.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audio" Target="../media/audio1.bin"/><Relationship Id="rId7"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38.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38.xml"/><Relationship Id="rId4" Type="http://schemas.microsoft.com/office/2018/10/relationships/comments" Target="../comments/modernComment_133_D7DA715E.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 Id="rId4" Type="http://schemas.microsoft.com/office/2018/10/relationships/comments" Target="../comments/modernComment_14C_CBC00849.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38.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611283"/>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latin typeface="Arial"/>
                <a:cs typeface="Arial"/>
              </a:rPr>
              <a:t>الوحدة 5</a:t>
            </a:r>
            <a:br>
              <a:rPr lang="ar-SA" altLang="en-US" dirty="0"/>
            </a:br>
            <a:r>
              <a:rPr lang="ar-SA" dirty="0">
                <a:latin typeface="Arial"/>
                <a:cs typeface="Arial"/>
              </a:rPr>
              <a:t>الموظفون في الشركات</a:t>
            </a:r>
            <a:br>
              <a:rPr lang="ar-SA" altLang="en-US" dirty="0"/>
            </a:br>
            <a:br>
              <a:rPr lang="ar-SA" altLang="en-US" dirty="0"/>
            </a:br>
            <a:endParaRPr lang="ar-SA" altLang="en-US"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SA" sz="1400" dirty="0"/>
              <a:t>© شركة بيرسون إيديوكيشن ليمتد 2023. لا يُسمح بالنسخ إلا للمؤسسة المُشترية فقط </a:t>
            </a:r>
          </a:p>
        </p:txBody>
      </p:sp>
      <p:sp>
        <p:nvSpPr>
          <p:cNvPr id="2" name="Footer Placeholder 2">
            <a:extLst>
              <a:ext uri="{FF2B5EF4-FFF2-40B4-BE49-F238E27FC236}">
                <a16:creationId xmlns:a16="http://schemas.microsoft.com/office/drawing/2014/main" id="{C3999BDD-652C-82BD-70FE-C1217E67CE2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pic>
        <p:nvPicPr>
          <p:cNvPr id="4" name="Picture 3" descr="A group of people walking on a street&#10;&#10;Description automatically generated">
            <a:extLst>
              <a:ext uri="{FF2B5EF4-FFF2-40B4-BE49-F238E27FC236}">
                <a16:creationId xmlns:a16="http://schemas.microsoft.com/office/drawing/2014/main" id="{7CE6AF74-1E2B-BF0B-F821-1470DDA2D8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35691" y="3125188"/>
            <a:ext cx="3472617" cy="2585525"/>
          </a:xfrm>
          <a:prstGeom prst="rect">
            <a:avLst/>
          </a:prstGeom>
        </p:spPr>
      </p:pic>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SA" dirty="0">
                <a:latin typeface="Arial"/>
                <a:cs typeface="Arial"/>
              </a:rPr>
              <a:t>الموظفون في الشركات</a:t>
            </a:r>
            <a:endParaRPr lang="ar-SA" altLang="en-US" dirty="0"/>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252370" y="2156585"/>
            <a:ext cx="8638413"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SA" dirty="0">
                <a:solidFill>
                  <a:srgbClr val="000000"/>
                </a:solidFill>
                <a:latin typeface="Arial"/>
                <a:cs typeface="Arial"/>
              </a:rPr>
              <a:t>في هذه الوحدة، ستفهم أن نجاح أي شركة يعود إلى ملاءمة العاملين فيها. </a:t>
            </a:r>
            <a:endParaRPr lang="ar-SA" dirty="0">
              <a:solidFill>
                <a:srgbClr val="000000"/>
              </a:solidFill>
            </a:endParaRPr>
          </a:p>
          <a:p>
            <a:pPr marL="0" indent="0" rtl="1">
              <a:buNone/>
            </a:pPr>
            <a:r>
              <a:rPr lang="ar-SA" dirty="0">
                <a:solidFill>
                  <a:srgbClr val="000000"/>
                </a:solidFill>
                <a:latin typeface="Arial"/>
                <a:cs typeface="Arial"/>
              </a:rPr>
              <a:t>وسيتم شرح أنواع مختلفة من الهياكل </a:t>
            </a:r>
            <a:endParaRPr lang="ar-SA" dirty="0">
              <a:solidFill>
                <a:srgbClr val="000000"/>
              </a:solidFill>
            </a:endParaRPr>
          </a:p>
          <a:p>
            <a:pPr marL="0" indent="0" rtl="1">
              <a:buNone/>
            </a:pPr>
            <a:r>
              <a:rPr lang="ar-SA" dirty="0">
                <a:solidFill>
                  <a:srgbClr val="000000"/>
                </a:solidFill>
                <a:latin typeface="Arial"/>
                <a:cs typeface="Arial"/>
              </a:rPr>
              <a:t>التنظيمية، وستتعرف على الأدوار الوظيفية الموجودة داخل الشركات. </a:t>
            </a:r>
            <a:endParaRPr lang="ar-SA" dirty="0">
              <a:solidFill>
                <a:srgbClr val="000000"/>
              </a:solidFill>
            </a:endParaRPr>
          </a:p>
          <a:p>
            <a:pPr marL="0" indent="0" rtl="1">
              <a:buNone/>
            </a:pPr>
            <a:r>
              <a:rPr lang="ar-SA" dirty="0">
                <a:solidFill>
                  <a:srgbClr val="000000"/>
                </a:solidFill>
                <a:latin typeface="Arial"/>
                <a:cs typeface="Arial"/>
              </a:rPr>
              <a:t>ستُعد متطلبات مؤهلات الموظفين لأحد الأدوار الوظيفية المُحددة. وستقوم بملء </a:t>
            </a:r>
            <a:br>
              <a:rPr lang="ar-SA" dirty="0">
                <a:solidFill>
                  <a:srgbClr val="000000"/>
                </a:solidFill>
                <a:latin typeface="Arial"/>
                <a:cs typeface="Arial"/>
              </a:rPr>
            </a:br>
            <a:r>
              <a:rPr lang="ar-SA" dirty="0">
                <a:solidFill>
                  <a:srgbClr val="000000"/>
                </a:solidFill>
                <a:latin typeface="Arial"/>
                <a:cs typeface="Arial"/>
              </a:rPr>
              <a:t>طلب التقديم للوظيفة والمشاركة في مقابلة لأحد الأدوار الوظيفية المُحددة. </a:t>
            </a:r>
            <a:endParaRPr lang="ar-SA" dirty="0">
              <a:solidFill>
                <a:srgbClr val="000000"/>
              </a:solidFill>
            </a:endParaRPr>
          </a:p>
          <a:p>
            <a:pPr marL="0" indent="0" rtl="1">
              <a:buNone/>
            </a:pPr>
            <a:r>
              <a:rPr lang="ar-SA" dirty="0">
                <a:solidFill>
                  <a:srgbClr val="000000"/>
                </a:solidFill>
                <a:latin typeface="Arial"/>
                <a:cs typeface="Arial"/>
              </a:rPr>
              <a:t>سوف تفكر أيضًا في كيفية التحضير للتوظيف والخطوات اللازمة للتخطيط للحياة </a:t>
            </a:r>
            <a:br>
              <a:rPr lang="ar-SA" dirty="0">
                <a:solidFill>
                  <a:srgbClr val="000000"/>
                </a:solidFill>
                <a:latin typeface="Arial"/>
                <a:cs typeface="Arial"/>
              </a:rPr>
            </a:br>
            <a:r>
              <a:rPr lang="ar-SA" dirty="0">
                <a:solidFill>
                  <a:srgbClr val="000000"/>
                </a:solidFill>
                <a:latin typeface="Arial"/>
                <a:cs typeface="Arial"/>
              </a:rPr>
              <a:t>المهنية من خلال إعداد خطة التطور المهني الخاصة بك.</a:t>
            </a:r>
            <a:endParaRPr lang="ar-SA" dirty="0"/>
          </a:p>
        </p:txBody>
      </p:sp>
      <p:sp>
        <p:nvSpPr>
          <p:cNvPr id="2" name="Footer Placeholder 2">
            <a:extLst>
              <a:ext uri="{FF2B5EF4-FFF2-40B4-BE49-F238E27FC236}">
                <a16:creationId xmlns:a16="http://schemas.microsoft.com/office/drawing/2014/main" id="{6D3AE33E-AA4B-1182-9DC9-B05D818664D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cSld>
  <p:clrMapOvr>
    <a:masterClrMapping/>
  </p:clrMapOvr>
  <p:transition>
    <p:sndAc>
      <p:stSnd>
        <p:snd r:embed="rId3" name="click.wav"/>
      </p:stSnd>
    </p:sndAc>
  </p:transition>
  <p:extLst>
    <p:ext uri="{6950BFC3-D8DA-4A85-94F7-54DA5524770B}">
      <p188:commentRel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SA" dirty="0"/>
              <a:t>أهداف التعلم</a:t>
            </a:r>
            <a:endParaRPr lang="ar-SA" altLang="en-US" dirty="0"/>
          </a:p>
        </p:txBody>
      </p:sp>
      <p:graphicFrame>
        <p:nvGraphicFramePr>
          <p:cNvPr id="32773" name="Content Placeholder 3">
            <a:extLst>
              <a:ext uri="{FF2B5EF4-FFF2-40B4-BE49-F238E27FC236}">
                <a16:creationId xmlns:a16="http://schemas.microsoft.com/office/drawing/2014/main" id="{B617BCA7-F402-EA08-9C0C-630C9DA79D07}"/>
              </a:ext>
            </a:extLst>
          </p:cNvPr>
          <p:cNvGraphicFramePr>
            <a:graphicFrameLocks noGrp="1"/>
          </p:cNvGraphicFramePr>
          <p:nvPr>
            <p:ph idx="1"/>
            <p:extLst>
              <p:ext uri="{D42A27DB-BD31-4B8C-83A1-F6EECF244321}">
                <p14:modId xmlns:p14="http://schemas.microsoft.com/office/powerpoint/2010/main" val="3672757460"/>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9002E285-6403-0D72-93A2-AE2B4968AA0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b="1" dirty="0">
                <a:latin typeface="Arial"/>
                <a:cs typeface="Arial"/>
              </a:rPr>
              <a:t>هدف التعلّم أ:</a:t>
            </a:r>
            <a:br>
              <a:rPr lang="ar-SA" altLang="en-US" sz="2400" b="1" dirty="0"/>
            </a:br>
            <a:r>
              <a:rPr lang="ar-SA" sz="2400" dirty="0">
                <a:latin typeface="Arial"/>
                <a:cs typeface="Arial"/>
              </a:rPr>
              <a:t>استكشاف الهياكل التنظيمية والأدوار الوظيفية في الشركة</a:t>
            </a:r>
            <a:br>
              <a:rPr lang="ar-SA" altLang="en-US" sz="2400" dirty="0"/>
            </a:br>
            <a:br>
              <a:rPr lang="ar-SA" altLang="en-US" sz="2400" dirty="0"/>
            </a:br>
            <a:endParaRPr lang="ar-SA"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374805" y="3833423"/>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ar-SA" altLang="en-US" sz="2200" dirty="0"/>
          </a:p>
          <a:p>
            <a:pPr marL="685800" algn="ctr" rtl="1"/>
            <a:endParaRPr lang="ar-SA" altLang="en-US" sz="2200" dirty="0"/>
          </a:p>
        </p:txBody>
      </p:sp>
      <p:graphicFrame>
        <p:nvGraphicFramePr>
          <p:cNvPr id="3" name="Diagram 2">
            <a:extLst>
              <a:ext uri="{FF2B5EF4-FFF2-40B4-BE49-F238E27FC236}">
                <a16:creationId xmlns:a16="http://schemas.microsoft.com/office/drawing/2014/main" id="{5DC5AFAC-6E51-FB1E-2FFA-4DFA225E4B9B}"/>
              </a:ext>
            </a:extLst>
          </p:cNvPr>
          <p:cNvGraphicFramePr/>
          <p:nvPr>
            <p:extLst>
              <p:ext uri="{D42A27DB-BD31-4B8C-83A1-F6EECF244321}">
                <p14:modId xmlns:p14="http://schemas.microsoft.com/office/powerpoint/2010/main" val="3455329797"/>
              </p:ext>
            </p:extLst>
          </p:nvPr>
        </p:nvGraphicFramePr>
        <p:xfrm>
          <a:off x="1375062" y="2920741"/>
          <a:ext cx="6096000" cy="27805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EF6B3F7E-1C1C-53F7-2026-2FC2AB675BC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568508015"/>
      </p:ext>
    </p:extLst>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700436"/>
            <a:ext cx="820871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ar-SA" altLang="en-US" dirty="0"/>
          </a:p>
          <a:p>
            <a:pPr indent="0" rtl="1">
              <a:buNone/>
            </a:pPr>
            <a:r>
              <a:rPr lang="ar-SA" dirty="0">
                <a:latin typeface="Arial"/>
                <a:cs typeface="Arial"/>
              </a:rPr>
              <a:t>هل يمكنك رسم هيكل لكيفية تنظيم المدرسة/المعهد؟</a:t>
            </a:r>
            <a:endParaRPr lang="ar-SA" altLang="en-US" dirty="0"/>
          </a:p>
          <a:p>
            <a:pPr indent="0" rtl="1">
              <a:buNone/>
            </a:pPr>
            <a:r>
              <a:rPr lang="ar-SA" dirty="0">
                <a:latin typeface="Arial"/>
                <a:cs typeface="Arial"/>
              </a:rPr>
              <a:t>قد ترغب في:</a:t>
            </a:r>
          </a:p>
          <a:p>
            <a:pPr marL="685800" rtl="1">
              <a:buFont typeface="Arial" panose="05000000000000000000" pitchFamily="2" charset="2"/>
              <a:buChar char="•"/>
            </a:pPr>
            <a:r>
              <a:rPr lang="ar-SA" dirty="0">
                <a:latin typeface="Arial"/>
                <a:cs typeface="Arial"/>
              </a:rPr>
              <a:t>البدء بالمدير</a:t>
            </a:r>
            <a:endParaRPr lang="ar-SA" altLang="en-US" dirty="0"/>
          </a:p>
          <a:p>
            <a:pPr marL="685800" rtl="1">
              <a:buFont typeface="Arial" panose="05000000000000000000" pitchFamily="2" charset="2"/>
              <a:buChar char="•"/>
            </a:pPr>
            <a:r>
              <a:rPr lang="ar-SA" dirty="0">
                <a:latin typeface="Arial"/>
                <a:cs typeface="Arial"/>
              </a:rPr>
              <a:t>التفكير في المعلمين المختلفين وتخصصاتهم</a:t>
            </a:r>
          </a:p>
          <a:p>
            <a:pPr marL="685800" rtl="1">
              <a:buFont typeface="Arial" panose="05000000000000000000" pitchFamily="2" charset="2"/>
              <a:buChar char="•"/>
            </a:pPr>
            <a:r>
              <a:rPr lang="ar-SA" dirty="0">
                <a:latin typeface="Arial"/>
                <a:cs typeface="Arial"/>
              </a:rPr>
              <a:t>التفكير في الأدوار الأخرى التي توجد بجانب المعلمين</a:t>
            </a:r>
          </a:p>
          <a:p>
            <a:pPr marL="685800" rtl="1">
              <a:buFont typeface="Arial" panose="05000000000000000000" pitchFamily="2" charset="2"/>
              <a:buChar char="•"/>
            </a:pPr>
            <a:endParaRPr lang="ar-SA" altLang="en-US" dirty="0"/>
          </a:p>
          <a:p>
            <a:pPr indent="0" rtl="1">
              <a:buNone/>
            </a:pPr>
            <a:r>
              <a:rPr lang="ar-SA" dirty="0">
                <a:latin typeface="Arial"/>
                <a:cs typeface="Arial"/>
              </a:rPr>
              <a:t>في رأيك، ما سبب تنظيم المدرسة/المعهد بهذه الطريقة؟</a:t>
            </a:r>
          </a:p>
          <a:p>
            <a:pPr marL="685800" rtl="1">
              <a:buFont typeface="Arial" panose="05000000000000000000" pitchFamily="2" charset="2"/>
              <a:buChar char="•"/>
            </a:pPr>
            <a:endParaRPr lang="ar-SA" altLang="en-US" dirty="0"/>
          </a:p>
          <a:p>
            <a:pPr marL="685800" rtl="1">
              <a:buFont typeface="Arial" panose="05000000000000000000" pitchFamily="2" charset="2"/>
              <a:buChar char="•"/>
            </a:pPr>
            <a:endParaRPr lang="ar-SA" altLang="en-US" dirty="0"/>
          </a:p>
          <a:p>
            <a:pPr marL="685800" rtl="1"/>
            <a:endParaRPr lang="ar-SA"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17102" y="1288710"/>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SA" sz="3200" dirty="0">
                <a:latin typeface="Arial"/>
                <a:cs typeface="Arial"/>
              </a:rPr>
              <a:t>أ-1 الهياكل التنظيمية</a:t>
            </a:r>
            <a:endParaRPr lang="ar-SA" altLang="en-US" sz="3200" dirty="0"/>
          </a:p>
        </p:txBody>
      </p:sp>
      <p:sp>
        <p:nvSpPr>
          <p:cNvPr id="2" name="Footer Placeholder 2">
            <a:extLst>
              <a:ext uri="{FF2B5EF4-FFF2-40B4-BE49-F238E27FC236}">
                <a16:creationId xmlns:a16="http://schemas.microsoft.com/office/drawing/2014/main" id="{EA3F1830-2558-D8CA-F059-10C2203917F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761DE-2598-C9E1-826C-DDAFDE810E7C}"/>
              </a:ext>
            </a:extLst>
          </p:cNvPr>
          <p:cNvSpPr>
            <a:spLocks noGrp="1"/>
          </p:cNvSpPr>
          <p:nvPr>
            <p:ph type="title"/>
          </p:nvPr>
        </p:nvSpPr>
        <p:spPr>
          <a:xfrm>
            <a:off x="457200" y="1045486"/>
            <a:ext cx="8229600" cy="863600"/>
          </a:xfrm>
        </p:spPr>
        <p:txBody>
          <a:bodyPr rtlCol="1"/>
          <a:lstStyle/>
          <a:p>
            <a:pPr rtl="1"/>
            <a:r>
              <a:rPr lang="ar-SA" dirty="0">
                <a:latin typeface="Arial"/>
                <a:cs typeface="Arial"/>
              </a:rPr>
              <a:t>الهياكل التنظيمية</a:t>
            </a:r>
            <a:endParaRPr lang="ar-SA" dirty="0"/>
          </a:p>
        </p:txBody>
      </p:sp>
      <p:sp>
        <p:nvSpPr>
          <p:cNvPr id="3" name="Content Placeholder 2">
            <a:extLst>
              <a:ext uri="{FF2B5EF4-FFF2-40B4-BE49-F238E27FC236}">
                <a16:creationId xmlns:a16="http://schemas.microsoft.com/office/drawing/2014/main" id="{AE4AA51F-A211-0207-9A6F-4E5748768E1E}"/>
              </a:ext>
            </a:extLst>
          </p:cNvPr>
          <p:cNvSpPr>
            <a:spLocks noGrp="1"/>
          </p:cNvSpPr>
          <p:nvPr>
            <p:ph sz="half" idx="2"/>
          </p:nvPr>
        </p:nvSpPr>
        <p:spPr>
          <a:xfrm>
            <a:off x="1429966" y="1844873"/>
            <a:ext cx="7181035" cy="3457239"/>
          </a:xfrm>
        </p:spPr>
        <p:txBody>
          <a:bodyPr rtlCol="1"/>
          <a:lstStyle/>
          <a:p>
            <a:pPr marL="0" indent="0" rtl="1">
              <a:buNone/>
            </a:pPr>
            <a:r>
              <a:rPr lang="ar-SA" sz="1600" dirty="0">
                <a:solidFill>
                  <a:srgbClr val="4D5156"/>
                </a:solidFill>
                <a:latin typeface="Arial"/>
                <a:cs typeface="Arial"/>
              </a:rPr>
              <a:t>الهيكل التنظيمي هو كيفية تنظيم العمل لتحقيق أهدافه. وهذا يتضمن:</a:t>
            </a:r>
            <a:endParaRPr lang="ar-SA" sz="1600" dirty="0">
              <a:solidFill>
                <a:srgbClr val="000000"/>
              </a:solidFill>
              <a:latin typeface="Arial"/>
              <a:cs typeface="Arial"/>
            </a:endParaRPr>
          </a:p>
          <a:p>
            <a:pPr rtl="1"/>
            <a:r>
              <a:rPr lang="ar-SA" sz="1600" dirty="0">
                <a:solidFill>
                  <a:srgbClr val="4D5156"/>
                </a:solidFill>
                <a:latin typeface="Arial"/>
                <a:cs typeface="Arial"/>
              </a:rPr>
              <a:t>كيفية تخصيص المهام وتنسيقها مع أقسام وأشخاص مختلفين </a:t>
            </a:r>
            <a:endParaRPr lang="ar-SA" sz="1600" dirty="0">
              <a:solidFill>
                <a:srgbClr val="000000"/>
              </a:solidFill>
              <a:latin typeface="Arial"/>
              <a:cs typeface="Arial"/>
            </a:endParaRPr>
          </a:p>
          <a:p>
            <a:pPr rtl="1"/>
            <a:r>
              <a:rPr lang="ar-SA" sz="1600" dirty="0">
                <a:solidFill>
                  <a:srgbClr val="4D5156"/>
                </a:solidFill>
                <a:latin typeface="Arial"/>
                <a:cs typeface="Arial"/>
              </a:rPr>
              <a:t>وكيف يتم الإشراف على الأشخاص ومن قبل من.</a:t>
            </a:r>
          </a:p>
          <a:p>
            <a:pPr marL="0" indent="0" rtl="1">
              <a:buNone/>
            </a:pPr>
            <a:r>
              <a:rPr lang="ar-SA" sz="1600" b="1" dirty="0">
                <a:solidFill>
                  <a:srgbClr val="4D5156"/>
                </a:solidFill>
                <a:latin typeface="Arial"/>
                <a:cs typeface="Arial"/>
              </a:rPr>
              <a:t>الهيكل الهرمي:</a:t>
            </a:r>
            <a:r>
              <a:rPr lang="ar-SA" sz="1600" dirty="0">
                <a:solidFill>
                  <a:srgbClr val="4D5156"/>
                </a:solidFill>
                <a:latin typeface="Arial"/>
                <a:cs typeface="Arial"/>
              </a:rPr>
              <a:t> حيث يكون لدى الجميع في المؤسسة شخص يشرف عليهم، باستثناء الشخص الذي </a:t>
            </a:r>
            <a:br>
              <a:rPr lang="ar-EG" sz="1600" dirty="0">
                <a:solidFill>
                  <a:srgbClr val="4D5156"/>
                </a:solidFill>
                <a:latin typeface="Arial"/>
                <a:cs typeface="Arial"/>
              </a:rPr>
            </a:br>
            <a:r>
              <a:rPr lang="ar-SA" sz="1600" dirty="0">
                <a:solidFill>
                  <a:srgbClr val="4D5156"/>
                </a:solidFill>
                <a:latin typeface="Arial"/>
                <a:cs typeface="Arial"/>
              </a:rPr>
              <a:t>يقف</a:t>
            </a:r>
            <a:r>
              <a:rPr lang="ar-EG" sz="1600" dirty="0">
                <a:solidFill>
                  <a:srgbClr val="4D5156"/>
                </a:solidFill>
                <a:latin typeface="Arial"/>
                <a:cs typeface="Arial"/>
              </a:rPr>
              <a:t> </a:t>
            </a:r>
            <a:r>
              <a:rPr lang="ar-SA" sz="1600" dirty="0">
                <a:solidFill>
                  <a:srgbClr val="4D5156"/>
                </a:solidFill>
                <a:latin typeface="Arial"/>
                <a:cs typeface="Arial"/>
              </a:rPr>
              <a:t>على القمة العليا للهرم</a:t>
            </a:r>
          </a:p>
          <a:p>
            <a:pPr marL="0" indent="0" rtl="1">
              <a:buNone/>
            </a:pPr>
            <a:r>
              <a:rPr lang="ar-SA" sz="1600" b="1" dirty="0">
                <a:solidFill>
                  <a:srgbClr val="4D5156"/>
                </a:solidFill>
                <a:latin typeface="Arial"/>
                <a:cs typeface="Arial"/>
              </a:rPr>
              <a:t>الهيكل المسطح:</a:t>
            </a:r>
            <a:r>
              <a:rPr lang="ar-SA" sz="1600" dirty="0">
                <a:solidFill>
                  <a:srgbClr val="4D5156"/>
                </a:solidFill>
                <a:latin typeface="Arial"/>
                <a:cs typeface="Arial"/>
              </a:rPr>
              <a:t> حيث يكون هناك عدد قليل من طبقات الإدارة بين الموظفين والتنفيذيين</a:t>
            </a:r>
          </a:p>
          <a:p>
            <a:pPr marL="0" indent="0" rtl="1">
              <a:buNone/>
            </a:pPr>
            <a:r>
              <a:rPr lang="ar-SA" sz="1600" b="1" dirty="0">
                <a:solidFill>
                  <a:srgbClr val="4D5156"/>
                </a:solidFill>
                <a:latin typeface="Arial"/>
                <a:cs typeface="Arial"/>
              </a:rPr>
              <a:t>المصفوفة:</a:t>
            </a:r>
            <a:r>
              <a:rPr lang="ar-SA" sz="1600" dirty="0">
                <a:solidFill>
                  <a:srgbClr val="4D5156"/>
                </a:solidFill>
                <a:latin typeface="Arial"/>
                <a:cs typeface="Arial"/>
              </a:rPr>
              <a:t> حيث تقوم الفرق برفع التقارير إلى عدد من المديرين المختلفين</a:t>
            </a:r>
          </a:p>
          <a:p>
            <a:pPr marL="0" indent="0" rtl="1">
              <a:buNone/>
            </a:pPr>
            <a:r>
              <a:rPr lang="ar-SA" sz="1600" b="1" dirty="0">
                <a:solidFill>
                  <a:srgbClr val="4D5156"/>
                </a:solidFill>
                <a:latin typeface="Arial"/>
                <a:cs typeface="Arial"/>
              </a:rPr>
              <a:t>الهيكل الوظيفي:</a:t>
            </a:r>
            <a:r>
              <a:rPr lang="ar-SA" sz="1600" dirty="0">
                <a:solidFill>
                  <a:srgbClr val="4D5156"/>
                </a:solidFill>
                <a:latin typeface="Arial"/>
                <a:cs typeface="Arial"/>
              </a:rPr>
              <a:t> حيث يتم تنظيم الأعمال في الشركة في أقسام مختلفة تعتمد على الخبرة</a:t>
            </a:r>
          </a:p>
          <a:p>
            <a:pPr marL="0" indent="0" rtl="1">
              <a:buNone/>
            </a:pPr>
            <a:r>
              <a:rPr lang="ar-SA" sz="1600" b="1" dirty="0">
                <a:solidFill>
                  <a:srgbClr val="4D5156"/>
                </a:solidFill>
                <a:latin typeface="Arial"/>
                <a:cs typeface="Arial"/>
              </a:rPr>
              <a:t>الهيكل القطاعي:</a:t>
            </a:r>
            <a:r>
              <a:rPr lang="ar-SA" sz="1600" dirty="0">
                <a:solidFill>
                  <a:srgbClr val="4D5156"/>
                </a:solidFill>
                <a:latin typeface="Arial"/>
                <a:cs typeface="Arial"/>
              </a:rPr>
              <a:t> حيث يتم تقسيم الشركة إلى قطاعات وفقًا لمعايير الجغرافيا أو السوق أو المنتج</a:t>
            </a:r>
          </a:p>
        </p:txBody>
      </p:sp>
      <p:sp>
        <p:nvSpPr>
          <p:cNvPr id="5" name="TextBox 4">
            <a:extLst>
              <a:ext uri="{FF2B5EF4-FFF2-40B4-BE49-F238E27FC236}">
                <a16:creationId xmlns:a16="http://schemas.microsoft.com/office/drawing/2014/main" id="{AEA360E0-757B-3980-97D1-19E1EB339230}"/>
              </a:ext>
            </a:extLst>
          </p:cNvPr>
          <p:cNvSpPr txBox="1"/>
          <p:nvPr/>
        </p:nvSpPr>
        <p:spPr>
          <a:xfrm>
            <a:off x="699347" y="5302112"/>
            <a:ext cx="3667704" cy="830997"/>
          </a:xfrm>
          <a:prstGeom prst="rect">
            <a:avLst/>
          </a:prstGeom>
          <a:noFill/>
          <a:ln>
            <a:solidFill>
              <a:schemeClr val="tx1"/>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SA" sz="1600" dirty="0">
                <a:latin typeface="Arial"/>
                <a:cs typeface="Arial"/>
              </a:rPr>
              <a:t>هل يمكنك التفكير في مزايا وعيوب </a:t>
            </a:r>
            <a:br>
              <a:rPr lang="ar-SA" sz="1600" dirty="0">
                <a:latin typeface="Arial"/>
                <a:cs typeface="Arial"/>
              </a:rPr>
            </a:br>
            <a:r>
              <a:rPr lang="ar-SA" sz="1600" dirty="0">
                <a:latin typeface="Arial"/>
                <a:cs typeface="Arial"/>
              </a:rPr>
              <a:t>هذه الهياكل المختلفة؟</a:t>
            </a:r>
            <a:br>
              <a:rPr lang="ar-SA" sz="1600" dirty="0">
                <a:latin typeface="Arial"/>
                <a:cs typeface="Arial"/>
              </a:rPr>
            </a:br>
            <a:endParaRPr lang="ar-SA" sz="1600" dirty="0">
              <a:latin typeface="Arial"/>
              <a:cs typeface="Arial"/>
            </a:endParaRPr>
          </a:p>
        </p:txBody>
      </p:sp>
      <p:sp>
        <p:nvSpPr>
          <p:cNvPr id="6" name="TextBox 1">
            <a:extLst>
              <a:ext uri="{FF2B5EF4-FFF2-40B4-BE49-F238E27FC236}">
                <a16:creationId xmlns:a16="http://schemas.microsoft.com/office/drawing/2014/main" id="{3DA10BC0-F47D-BBEA-8F51-E12DCE8DC722}"/>
              </a:ext>
            </a:extLst>
          </p:cNvPr>
          <p:cNvSpPr txBox="1"/>
          <p:nvPr/>
        </p:nvSpPr>
        <p:spPr>
          <a:xfrm>
            <a:off x="4893352" y="5302960"/>
            <a:ext cx="3829811" cy="830997"/>
          </a:xfrm>
          <a:prstGeom prst="rect">
            <a:avLst/>
          </a:prstGeom>
          <a:noFill/>
          <a:ln>
            <a:solidFill>
              <a:schemeClr val="tx1"/>
            </a:solidFill>
          </a:ln>
        </p:spPr>
        <p:txBody>
          <a:bodyPr rot="0" spcFirstLastPara="0" vert="horz" wrap="square" lIns="91440" tIns="45720" rIns="91440" bIns="45720" numCol="1" spcCol="0" rtlCol="1" fromWordArt="0" anchor="t" anchorCtr="0" forceAA="0" compatLnSpc="1">
            <a:prstTxWarp prst="textNoShape">
              <a:avLst/>
            </a:prstTxWarp>
            <a:sp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rtl="1"/>
            <a:r>
              <a:rPr lang="ar-SA" sz="1600" dirty="0">
                <a:latin typeface="Arial"/>
                <a:cs typeface="Arial"/>
              </a:rPr>
              <a:t>هل يمكنك العثور على مثال على هيكل تنظيمي </a:t>
            </a:r>
            <a:br>
              <a:rPr lang="ar-SA" sz="1600" dirty="0">
                <a:latin typeface="Arial"/>
                <a:cs typeface="Arial"/>
              </a:rPr>
            </a:br>
            <a:r>
              <a:rPr lang="ar-SA" sz="1600" dirty="0">
                <a:latin typeface="Arial"/>
                <a:cs typeface="Arial"/>
              </a:rPr>
              <a:t>وظيفي وهيكل تنظيمي قطاعي؟</a:t>
            </a:r>
            <a:br>
              <a:rPr lang="ar-SA" sz="1600" dirty="0">
                <a:latin typeface="Arial"/>
                <a:cs typeface="Arial"/>
              </a:rPr>
            </a:br>
            <a:endParaRPr lang="ar-SA" sz="1600" dirty="0"/>
          </a:p>
        </p:txBody>
      </p:sp>
      <p:sp>
        <p:nvSpPr>
          <p:cNvPr id="7" name="Footer Placeholder 2">
            <a:extLst>
              <a:ext uri="{FF2B5EF4-FFF2-40B4-BE49-F238E27FC236}">
                <a16:creationId xmlns:a16="http://schemas.microsoft.com/office/drawing/2014/main" id="{966D8969-2021-35A1-AA88-759DCC913BD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954448546"/>
      </p:ext>
    </p:extLst>
  </p:cSld>
  <p:clrMapOvr>
    <a:masterClrMapping/>
  </p:clrMapOvr>
  <p:transition>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FFC02F2-9213-2D67-6A8F-DB42986270D3}"/>
              </a:ext>
            </a:extLst>
          </p:cNvPr>
          <p:cNvSpPr txBox="1"/>
          <p:nvPr/>
        </p:nvSpPr>
        <p:spPr>
          <a:xfrm>
            <a:off x="3727500" y="1591761"/>
            <a:ext cx="5032943" cy="3108543"/>
          </a:xfrm>
          <a:prstGeom prst="rect">
            <a:avLst/>
          </a:prstGeom>
          <a:noFill/>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SA" sz="2800">
                <a:latin typeface="Arial"/>
                <a:cs typeface="Arial"/>
              </a:rPr>
              <a:t>صِل الصورة بنوع الهيكل التنظيمي:</a:t>
            </a:r>
            <a:endParaRPr lang="ar-SA" sz="2800"/>
          </a:p>
          <a:p>
            <a:pPr rtl="1"/>
            <a:endParaRPr lang="ar-SA" sz="2800">
              <a:latin typeface="Arial"/>
              <a:cs typeface="Arial"/>
            </a:endParaRPr>
          </a:p>
          <a:p>
            <a:pPr rtl="1"/>
            <a:r>
              <a:rPr lang="ar-SA" sz="2800">
                <a:latin typeface="Arial"/>
                <a:cs typeface="Arial"/>
              </a:rPr>
              <a:t>الهيكل الهرمي</a:t>
            </a:r>
            <a:endParaRPr lang="ar-SA" sz="2800"/>
          </a:p>
          <a:p>
            <a:pPr rtl="1"/>
            <a:endParaRPr lang="ar-SA" sz="2800">
              <a:latin typeface="Arial"/>
              <a:cs typeface="Arial"/>
            </a:endParaRPr>
          </a:p>
          <a:p>
            <a:pPr rtl="1"/>
            <a:r>
              <a:rPr lang="ar-SA" sz="2800">
                <a:latin typeface="Arial"/>
                <a:cs typeface="Arial"/>
              </a:rPr>
              <a:t>المصفوفة</a:t>
            </a:r>
            <a:endParaRPr lang="ar-SA"/>
          </a:p>
          <a:p>
            <a:pPr rtl="1"/>
            <a:endParaRPr lang="ar-SA" sz="2800">
              <a:latin typeface="Arial"/>
              <a:cs typeface="Arial"/>
            </a:endParaRPr>
          </a:p>
          <a:p>
            <a:pPr rtl="1"/>
            <a:r>
              <a:rPr lang="ar-SA" sz="2800">
                <a:latin typeface="Arial"/>
                <a:cs typeface="Arial"/>
              </a:rPr>
              <a:t>الهيكل المسطح</a:t>
            </a:r>
            <a:endParaRPr lang="ar-SA"/>
          </a:p>
        </p:txBody>
      </p:sp>
      <p:sp>
        <p:nvSpPr>
          <p:cNvPr id="2" name="Footer Placeholder 2">
            <a:extLst>
              <a:ext uri="{FF2B5EF4-FFF2-40B4-BE49-F238E27FC236}">
                <a16:creationId xmlns:a16="http://schemas.microsoft.com/office/drawing/2014/main" id="{EE3BB84F-5EC0-5C4B-07DE-DFA6A65DF33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pic>
        <p:nvPicPr>
          <p:cNvPr id="3" name="Picture 2" descr="A hand drawing a network&#10;&#10;Description automatically generated">
            <a:extLst>
              <a:ext uri="{FF2B5EF4-FFF2-40B4-BE49-F238E27FC236}">
                <a16:creationId xmlns:a16="http://schemas.microsoft.com/office/drawing/2014/main" id="{D3DBE38E-0BF5-D84D-223F-8E9E0A6B36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7552" y="3368636"/>
            <a:ext cx="2226123" cy="1490137"/>
          </a:xfrm>
          <a:prstGeom prst="rect">
            <a:avLst/>
          </a:prstGeom>
        </p:spPr>
      </p:pic>
      <p:pic>
        <p:nvPicPr>
          <p:cNvPr id="5" name="Picture 4" descr="A diagram of a company&#10;&#10;Description automatically generated">
            <a:extLst>
              <a:ext uri="{FF2B5EF4-FFF2-40B4-BE49-F238E27FC236}">
                <a16:creationId xmlns:a16="http://schemas.microsoft.com/office/drawing/2014/main" id="{D931429A-2181-6205-AF7D-0EB28629E6E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1571" y="4909887"/>
            <a:ext cx="2435902" cy="1723816"/>
          </a:xfrm>
          <a:prstGeom prst="rect">
            <a:avLst/>
          </a:prstGeom>
        </p:spPr>
      </p:pic>
      <p:pic>
        <p:nvPicPr>
          <p:cNvPr id="6" name="Picture 5" descr="A diagram of people connected to each other&#10;&#10;Description automatically generated">
            <a:extLst>
              <a:ext uri="{FF2B5EF4-FFF2-40B4-BE49-F238E27FC236}">
                <a16:creationId xmlns:a16="http://schemas.microsoft.com/office/drawing/2014/main" id="{1B62EA47-EA92-6AAD-3B2F-6F18D9D343E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27552" y="1324751"/>
            <a:ext cx="2182128" cy="1821281"/>
          </a:xfrm>
          <a:prstGeom prst="rect">
            <a:avLst/>
          </a:prstGeom>
        </p:spPr>
      </p:pic>
    </p:spTree>
    <p:extLst>
      <p:ext uri="{BB962C8B-B14F-4D97-AF65-F5344CB8AC3E}">
        <p14:creationId xmlns:p14="http://schemas.microsoft.com/office/powerpoint/2010/main" val="3276147214"/>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A66B8-9676-AE1F-DEA4-26691A130ADF}"/>
              </a:ext>
            </a:extLst>
          </p:cNvPr>
          <p:cNvSpPr>
            <a:spLocks noGrp="1"/>
          </p:cNvSpPr>
          <p:nvPr>
            <p:ph sz="half" idx="2"/>
          </p:nvPr>
        </p:nvSpPr>
        <p:spPr>
          <a:xfrm>
            <a:off x="412954" y="2223116"/>
            <a:ext cx="8306291" cy="3609975"/>
          </a:xfrm>
        </p:spPr>
        <p:txBody>
          <a:bodyPr rtlCol="1"/>
          <a:lstStyle/>
          <a:p>
            <a:pPr marL="0" indent="0" rtl="1">
              <a:buNone/>
            </a:pPr>
            <a:r>
              <a:rPr lang="ar-SA" dirty="0">
                <a:latin typeface="Arial"/>
                <a:cs typeface="Arial"/>
              </a:rPr>
              <a:t>حدد نوع الهيكل التنظيمي للشركة:</a:t>
            </a:r>
          </a:p>
          <a:p>
            <a:pPr marL="0" indent="0" rtl="1">
              <a:buNone/>
            </a:pPr>
            <a:endParaRPr lang="ar-SA" dirty="0">
              <a:latin typeface="Arial"/>
              <a:cs typeface="Arial"/>
            </a:endParaRPr>
          </a:p>
          <a:p>
            <a:pPr rtl="1">
              <a:buFont typeface="Arial" panose="05000000000000000000" pitchFamily="2" charset="2"/>
              <a:buChar char="•"/>
            </a:pPr>
            <a:r>
              <a:rPr lang="ar-SA" sz="2000" dirty="0">
                <a:latin typeface="Arial"/>
                <a:cs typeface="Arial"/>
              </a:rPr>
              <a:t>جمعية خيرية لديها مدير لجمع التبرعات، ومدير تسويق، ومدير مبيعات، ومدير اتصالات.</a:t>
            </a:r>
          </a:p>
          <a:p>
            <a:pPr rtl="1">
              <a:buFont typeface="Arial" panose="05000000000000000000" pitchFamily="2" charset="2"/>
              <a:buChar char="•"/>
            </a:pPr>
            <a:r>
              <a:rPr lang="ar-SA" sz="2000" dirty="0">
                <a:latin typeface="Arial"/>
                <a:cs typeface="Arial"/>
              </a:rPr>
              <a:t>شركة تعمل على مستوى العالم، ولديها مدير عمليات في كل بلد.</a:t>
            </a:r>
          </a:p>
          <a:p>
            <a:pPr rtl="1">
              <a:buFont typeface="Arial" panose="05000000000000000000" pitchFamily="2" charset="2"/>
              <a:buChar char="•"/>
            </a:pPr>
            <a:r>
              <a:rPr lang="ar-SA" sz="2000" dirty="0">
                <a:latin typeface="Arial"/>
                <a:cs typeface="Arial"/>
              </a:rPr>
              <a:t>شركة صغيرة تعطي موظفيها الذين يعملون جميعهم من المنزل صلاحيات متساوية.</a:t>
            </a:r>
          </a:p>
          <a:p>
            <a:pPr rtl="1">
              <a:buFont typeface="Arial" panose="05000000000000000000" pitchFamily="2" charset="2"/>
              <a:buChar char="•"/>
            </a:pPr>
            <a:r>
              <a:rPr lang="ar-SA" sz="2000" dirty="0">
                <a:latin typeface="Arial"/>
                <a:cs typeface="Arial"/>
              </a:rPr>
              <a:t>شركة كبيرة يديرها رئيس تنفيذي، ولديها سلسلة من القيادات من لأعضاء مجلس الإدارة إلى المديرين وبقية الموظفين.</a:t>
            </a:r>
          </a:p>
          <a:p>
            <a:pPr rtl="1">
              <a:buFont typeface="Arial" panose="05000000000000000000" pitchFamily="2" charset="2"/>
              <a:buChar char="•"/>
            </a:pPr>
            <a:r>
              <a:rPr lang="ar-SA" sz="2000" dirty="0">
                <a:latin typeface="Arial"/>
                <a:cs typeface="Arial"/>
              </a:rPr>
              <a:t>شركة كبيرة لديها الكثير من المشاريع، ينتقل فيها الموظفون من مشروع إلى آخر.</a:t>
            </a:r>
          </a:p>
          <a:p>
            <a:pPr rtl="1">
              <a:buFont typeface="Arial" panose="05000000000000000000" pitchFamily="2" charset="2"/>
              <a:buChar char="•"/>
            </a:pPr>
            <a:endParaRPr lang="ar-SA" sz="2000" dirty="0"/>
          </a:p>
          <a:p>
            <a:pPr marL="0" indent="0" rtl="1">
              <a:buNone/>
            </a:pPr>
            <a:endParaRPr lang="ar-SA" dirty="0"/>
          </a:p>
        </p:txBody>
      </p:sp>
      <p:sp>
        <p:nvSpPr>
          <p:cNvPr id="5" name="Title 4">
            <a:extLst>
              <a:ext uri="{FF2B5EF4-FFF2-40B4-BE49-F238E27FC236}">
                <a16:creationId xmlns:a16="http://schemas.microsoft.com/office/drawing/2014/main" id="{95C572A9-E1C8-1518-ABCA-077FF568C4FA}"/>
              </a:ext>
            </a:extLst>
          </p:cNvPr>
          <p:cNvSpPr>
            <a:spLocks noGrp="1"/>
          </p:cNvSpPr>
          <p:nvPr>
            <p:ph type="title"/>
          </p:nvPr>
        </p:nvSpPr>
        <p:spPr>
          <a:xfrm>
            <a:off x="682123" y="1125513"/>
            <a:ext cx="8507288" cy="863600"/>
          </a:xfrm>
        </p:spPr>
        <p:txBody>
          <a:bodyPr rtlCol="1"/>
          <a:lstStyle/>
          <a:p>
            <a:pPr rtl="1"/>
            <a:r>
              <a:rPr lang="ar-SA" sz="3600" b="1" dirty="0"/>
              <a:t>نشاط الهياكل التنظيمية</a:t>
            </a:r>
          </a:p>
        </p:txBody>
      </p:sp>
      <p:sp>
        <p:nvSpPr>
          <p:cNvPr id="2" name="Footer Placeholder 2">
            <a:extLst>
              <a:ext uri="{FF2B5EF4-FFF2-40B4-BE49-F238E27FC236}">
                <a16:creationId xmlns:a16="http://schemas.microsoft.com/office/drawing/2014/main" id="{E1F4E8EB-AF6F-6A06-19C4-AAD3AB031F8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2463423138"/>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7B4CB-F82C-832C-91D6-93AEC38AC250}"/>
              </a:ext>
            </a:extLst>
          </p:cNvPr>
          <p:cNvSpPr>
            <a:spLocks noGrp="1"/>
          </p:cNvSpPr>
          <p:nvPr>
            <p:ph type="title"/>
          </p:nvPr>
        </p:nvSpPr>
        <p:spPr>
          <a:xfrm>
            <a:off x="581987" y="998070"/>
            <a:ext cx="8229600" cy="863600"/>
          </a:xfrm>
        </p:spPr>
        <p:txBody>
          <a:bodyPr rtlCol="1"/>
          <a:lstStyle/>
          <a:p>
            <a:pPr rtl="1"/>
            <a:r>
              <a:rPr lang="ar-SA" sz="3600" b="1" dirty="0"/>
              <a:t>أ-2 الأدوار والمسؤوليات الوظيفية</a:t>
            </a:r>
          </a:p>
        </p:txBody>
      </p:sp>
      <p:sp>
        <p:nvSpPr>
          <p:cNvPr id="3" name="Content Placeholder 2">
            <a:extLst>
              <a:ext uri="{FF2B5EF4-FFF2-40B4-BE49-F238E27FC236}">
                <a16:creationId xmlns:a16="http://schemas.microsoft.com/office/drawing/2014/main" id="{CA9FC53C-B7E5-9FB4-20BC-49281E5C9218}"/>
              </a:ext>
            </a:extLst>
          </p:cNvPr>
          <p:cNvSpPr>
            <a:spLocks noGrp="1"/>
          </p:cNvSpPr>
          <p:nvPr>
            <p:ph sz="half" idx="2"/>
          </p:nvPr>
        </p:nvSpPr>
        <p:spPr>
          <a:xfrm>
            <a:off x="469497" y="1674294"/>
            <a:ext cx="7991475" cy="761608"/>
          </a:xfrm>
        </p:spPr>
        <p:txBody>
          <a:bodyPr rtlCol="1"/>
          <a:lstStyle/>
          <a:p>
            <a:pPr marL="0" indent="0" rtl="1">
              <a:buNone/>
            </a:pPr>
            <a:r>
              <a:rPr lang="ar-SA" sz="2000" dirty="0">
                <a:latin typeface="Arial"/>
                <a:cs typeface="Arial"/>
              </a:rPr>
              <a:t>ابحث عن الشواغر الوظيفية للوظائف التالية في منظمات مختلفة. قم بعمل قائمة بالمسؤوليات </a:t>
            </a:r>
            <a:br>
              <a:rPr lang="ar-SA" sz="2000" dirty="0">
                <a:latin typeface="Arial"/>
                <a:cs typeface="Arial"/>
              </a:rPr>
            </a:br>
            <a:r>
              <a:rPr lang="ar-SA" sz="2000" dirty="0">
                <a:latin typeface="Arial"/>
                <a:cs typeface="Arial"/>
              </a:rPr>
              <a:t>لكل وظيفة.</a:t>
            </a:r>
            <a:endParaRPr lang="ar-SA" dirty="0"/>
          </a:p>
          <a:p>
            <a:pPr rtl="1"/>
            <a:endParaRPr lang="ar-SA" dirty="0"/>
          </a:p>
          <a:p>
            <a:pPr rtl="1"/>
            <a:endParaRPr lang="ar-SA" dirty="0"/>
          </a:p>
        </p:txBody>
      </p:sp>
      <p:graphicFrame>
        <p:nvGraphicFramePr>
          <p:cNvPr id="5" name="Table 5">
            <a:extLst>
              <a:ext uri="{FF2B5EF4-FFF2-40B4-BE49-F238E27FC236}">
                <a16:creationId xmlns:a16="http://schemas.microsoft.com/office/drawing/2014/main" id="{657D933A-0B81-575F-3442-B083294A5780}"/>
              </a:ext>
            </a:extLst>
          </p:cNvPr>
          <p:cNvGraphicFramePr>
            <a:graphicFrameLocks noGrp="1"/>
          </p:cNvGraphicFramePr>
          <p:nvPr>
            <p:extLst>
              <p:ext uri="{D42A27DB-BD31-4B8C-83A1-F6EECF244321}">
                <p14:modId xmlns:p14="http://schemas.microsoft.com/office/powerpoint/2010/main" val="1109498972"/>
              </p:ext>
            </p:extLst>
          </p:nvPr>
        </p:nvGraphicFramePr>
        <p:xfrm>
          <a:off x="761017" y="2537893"/>
          <a:ext cx="7699057" cy="2613151"/>
        </p:xfrm>
        <a:graphic>
          <a:graphicData uri="http://schemas.openxmlformats.org/drawingml/2006/table">
            <a:tbl>
              <a:tblPr rtl="1" firstRow="1" bandRow="1">
                <a:tableStyleId>{93296810-A885-4BE3-A3E7-6D5BEEA58F35}</a:tableStyleId>
              </a:tblPr>
              <a:tblGrid>
                <a:gridCol w="2711831">
                  <a:extLst>
                    <a:ext uri="{9D8B030D-6E8A-4147-A177-3AD203B41FA5}">
                      <a16:colId xmlns:a16="http://schemas.microsoft.com/office/drawing/2014/main" val="2903740548"/>
                    </a:ext>
                  </a:extLst>
                </a:gridCol>
                <a:gridCol w="2711831">
                  <a:extLst>
                    <a:ext uri="{9D8B030D-6E8A-4147-A177-3AD203B41FA5}">
                      <a16:colId xmlns:a16="http://schemas.microsoft.com/office/drawing/2014/main" val="2318936143"/>
                    </a:ext>
                  </a:extLst>
                </a:gridCol>
                <a:gridCol w="2275395">
                  <a:extLst>
                    <a:ext uri="{9D8B030D-6E8A-4147-A177-3AD203B41FA5}">
                      <a16:colId xmlns:a16="http://schemas.microsoft.com/office/drawing/2014/main" val="225902692"/>
                    </a:ext>
                  </a:extLst>
                </a:gridCol>
              </a:tblGrid>
              <a:tr h="1045218">
                <a:tc>
                  <a:txBody>
                    <a:bodyPr/>
                    <a:lstStyle/>
                    <a:p>
                      <a:pPr rtl="1"/>
                      <a:r>
                        <a:rPr lang="ar" dirty="0">
                          <a:solidFill>
                            <a:schemeClr val="tx1"/>
                          </a:solidFill>
                        </a:rPr>
                        <a:t>الدور الوظيفي</a:t>
                      </a:r>
                    </a:p>
                  </a:txBody>
                  <a:tcPr>
                    <a:solidFill>
                      <a:schemeClr val="accent6">
                        <a:lumMod val="20000"/>
                        <a:lumOff val="80000"/>
                      </a:schemeClr>
                    </a:solidFill>
                  </a:tcPr>
                </a:tc>
                <a:tc>
                  <a:txBody>
                    <a:bodyPr/>
                    <a:lstStyle/>
                    <a:p>
                      <a:pPr rtl="1"/>
                      <a:r>
                        <a:rPr lang="ar">
                          <a:solidFill>
                            <a:schemeClr val="tx1"/>
                          </a:solidFill>
                        </a:rPr>
                        <a:t>المسؤوليات في منظمة صغيرة تسمى X</a:t>
                      </a:r>
                    </a:p>
                  </a:txBody>
                  <a:tcPr>
                    <a:solidFill>
                      <a:schemeClr val="accent6">
                        <a:lumMod val="20000"/>
                        <a:lumOff val="80000"/>
                      </a:schemeClr>
                    </a:solidFill>
                  </a:tcPr>
                </a:tc>
                <a:tc>
                  <a:txBody>
                    <a:bodyPr/>
                    <a:lstStyle/>
                    <a:p>
                      <a:pPr rtl="1"/>
                      <a:r>
                        <a:rPr lang="ar">
                          <a:solidFill>
                            <a:schemeClr val="tx1"/>
                          </a:solidFill>
                        </a:rPr>
                        <a:t>المسؤوليات في منظمة كبيرة تسمى Y</a:t>
                      </a:r>
                    </a:p>
                  </a:txBody>
                  <a:tcPr>
                    <a:solidFill>
                      <a:schemeClr val="accent6">
                        <a:lumMod val="20000"/>
                        <a:lumOff val="80000"/>
                      </a:schemeClr>
                    </a:solidFill>
                  </a:tcPr>
                </a:tc>
                <a:extLst>
                  <a:ext uri="{0D108BD9-81ED-4DB2-BD59-A6C34878D82A}">
                    <a16:rowId xmlns:a16="http://schemas.microsoft.com/office/drawing/2014/main" val="1844052260"/>
                  </a:ext>
                </a:extLst>
              </a:tr>
              <a:tr h="391407">
                <a:tc>
                  <a:txBody>
                    <a:bodyPr/>
                    <a:lstStyle/>
                    <a:p>
                      <a:pPr rtl="1"/>
                      <a:r>
                        <a:rPr lang="ar"/>
                        <a:t>عضو مجلس الإدارة</a:t>
                      </a:r>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extLst>
                  <a:ext uri="{0D108BD9-81ED-4DB2-BD59-A6C34878D82A}">
                    <a16:rowId xmlns:a16="http://schemas.microsoft.com/office/drawing/2014/main" val="3061403716"/>
                  </a:ext>
                </a:extLst>
              </a:tr>
              <a:tr h="383795">
                <a:tc>
                  <a:txBody>
                    <a:bodyPr/>
                    <a:lstStyle/>
                    <a:p>
                      <a:pPr rtl="1"/>
                      <a:r>
                        <a:rPr lang="ar"/>
                        <a:t>المدير الأول</a:t>
                      </a:r>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extLst>
                  <a:ext uri="{0D108BD9-81ED-4DB2-BD59-A6C34878D82A}">
                    <a16:rowId xmlns:a16="http://schemas.microsoft.com/office/drawing/2014/main" val="924834084"/>
                  </a:ext>
                </a:extLst>
              </a:tr>
              <a:tr h="399516">
                <a:tc>
                  <a:txBody>
                    <a:bodyPr/>
                    <a:lstStyle/>
                    <a:p>
                      <a:pPr rtl="1"/>
                      <a:r>
                        <a:rPr lang="ar"/>
                        <a:t>المشرفون أو قادة الفرق</a:t>
                      </a:r>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extLst>
                  <a:ext uri="{0D108BD9-81ED-4DB2-BD59-A6C34878D82A}">
                    <a16:rowId xmlns:a16="http://schemas.microsoft.com/office/drawing/2014/main" val="118989409"/>
                  </a:ext>
                </a:extLst>
              </a:tr>
              <a:tr h="393215">
                <a:tc>
                  <a:txBody>
                    <a:bodyPr/>
                    <a:lstStyle/>
                    <a:p>
                      <a:pPr rtl="1"/>
                      <a:r>
                        <a:rPr lang="ar"/>
                        <a:t>العاملين أو موظفي الدعم</a:t>
                      </a:r>
                    </a:p>
                  </a:txBody>
                  <a:tcPr>
                    <a:solidFill>
                      <a:schemeClr val="accent6">
                        <a:lumMod val="20000"/>
                        <a:lumOff val="80000"/>
                      </a:schemeClr>
                    </a:solidFill>
                  </a:tcPr>
                </a:tc>
                <a:tc>
                  <a:txBody>
                    <a:bodyPr/>
                    <a:lstStyle/>
                    <a:p>
                      <a:pPr rtl="1"/>
                      <a:endParaRPr lang="en-GB"/>
                    </a:p>
                  </a:txBody>
                  <a:tcPr>
                    <a:solidFill>
                      <a:schemeClr val="accent6">
                        <a:lumMod val="20000"/>
                        <a:lumOff val="80000"/>
                      </a:schemeClr>
                    </a:solidFill>
                  </a:tcPr>
                </a:tc>
                <a:tc>
                  <a:txBody>
                    <a:bodyPr/>
                    <a:lstStyle/>
                    <a:p>
                      <a:pPr rtl="1"/>
                      <a:endParaRPr lang="en-GB" dirty="0"/>
                    </a:p>
                  </a:txBody>
                  <a:tcPr>
                    <a:solidFill>
                      <a:schemeClr val="accent6">
                        <a:lumMod val="20000"/>
                        <a:lumOff val="80000"/>
                      </a:schemeClr>
                    </a:solidFill>
                  </a:tcPr>
                </a:tc>
                <a:extLst>
                  <a:ext uri="{0D108BD9-81ED-4DB2-BD59-A6C34878D82A}">
                    <a16:rowId xmlns:a16="http://schemas.microsoft.com/office/drawing/2014/main" val="4217304705"/>
                  </a:ext>
                </a:extLst>
              </a:tr>
            </a:tbl>
          </a:graphicData>
        </a:graphic>
      </p:graphicFrame>
      <p:sp>
        <p:nvSpPr>
          <p:cNvPr id="6" name="Footer Placeholder 2">
            <a:extLst>
              <a:ext uri="{FF2B5EF4-FFF2-40B4-BE49-F238E27FC236}">
                <a16:creationId xmlns:a16="http://schemas.microsoft.com/office/drawing/2014/main" id="{140BE52E-FAA7-EB6C-F953-CD7A064E26B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884871406"/>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1296" y="125212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SA" sz="3600" b="1" dirty="0">
                <a:latin typeface="Arial"/>
                <a:cs typeface="Arial"/>
              </a:rPr>
              <a:t>ما معنى أن تُقارن؟</a:t>
            </a:r>
            <a:br>
              <a:rPr lang="ar-SA" altLang="en-US" sz="3600" b="1" dirty="0"/>
            </a:br>
            <a:r>
              <a:rPr lang="ar-SA" sz="2400" dirty="0">
                <a:latin typeface="Arial"/>
                <a:cs typeface="Arial"/>
              </a:rPr>
              <a:t>تتطلب المقارنة منك شرح أوجه الشبه والاختلاف. </a:t>
            </a:r>
            <a:br>
              <a:rPr lang="ar-SA" altLang="en-US" sz="2400" dirty="0">
                <a:latin typeface="Arial"/>
                <a:cs typeface="Arial"/>
              </a:rPr>
            </a:br>
            <a:br>
              <a:rPr lang="ar-SA" altLang="en-US" sz="2400" dirty="0">
                <a:latin typeface="Arial"/>
                <a:cs typeface="Arial"/>
              </a:rPr>
            </a:br>
            <a:r>
              <a:rPr lang="ar-SA" sz="2400" dirty="0">
                <a:latin typeface="Arial"/>
                <a:cs typeface="Arial"/>
              </a:rPr>
              <a:t>اختر شركتين مختلفتين وناقش أوجه الشبه والاختلاف بين كل من:</a:t>
            </a:r>
            <a:br>
              <a:rPr lang="ar-SA" altLang="en-US" sz="2400" dirty="0">
                <a:latin typeface="Arial"/>
                <a:cs typeface="Arial"/>
              </a:rPr>
            </a:br>
            <a:br>
              <a:rPr lang="ar-SA" altLang="en-US" sz="2400" dirty="0">
                <a:latin typeface="Arial"/>
                <a:cs typeface="Arial"/>
              </a:rPr>
            </a:br>
            <a:r>
              <a:rPr lang="ar-SA" sz="2400" dirty="0">
                <a:latin typeface="Arial"/>
                <a:cs typeface="Arial"/>
              </a:rPr>
              <a:t>1. دور عضو مجلس الإدارة في كل من الشركتين</a:t>
            </a:r>
            <a:br>
              <a:rPr lang="ar-SA" altLang="en-US" sz="2400" dirty="0">
                <a:latin typeface="Arial"/>
                <a:cs typeface="Arial"/>
              </a:rPr>
            </a:br>
            <a:r>
              <a:rPr lang="ar-SA" sz="2400" dirty="0">
                <a:latin typeface="Arial"/>
                <a:cs typeface="Arial"/>
              </a:rPr>
              <a:t>2. دور المدير الأول في كل من الشركتين</a:t>
            </a:r>
            <a:br>
              <a:rPr lang="ar-SA" altLang="en-US" sz="2400" dirty="0">
                <a:latin typeface="Arial"/>
                <a:cs typeface="Arial"/>
              </a:rPr>
            </a:br>
            <a:r>
              <a:rPr lang="ar-SA" sz="2400" dirty="0">
                <a:latin typeface="Arial"/>
                <a:cs typeface="Arial"/>
              </a:rPr>
              <a:t>3. دور قائد الفريق في كل من الشركتين</a:t>
            </a:r>
            <a:br>
              <a:rPr lang="ar-SA" altLang="en-US" sz="2400" dirty="0">
                <a:latin typeface="Arial"/>
                <a:cs typeface="Arial"/>
              </a:rPr>
            </a:br>
            <a:r>
              <a:rPr lang="ar-SA" sz="2400" dirty="0">
                <a:latin typeface="Arial"/>
                <a:cs typeface="Arial"/>
              </a:rPr>
              <a:t>4. موظفي الدعم / العمال في كل من الشركتين</a:t>
            </a:r>
            <a:br>
              <a:rPr lang="ar-SA" altLang="en-US" sz="3600" b="1" dirty="0"/>
            </a:br>
            <a:endParaRPr lang="ar-SA" altLang="en-US" sz="3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ar-SA" altLang="en-US" sz="3600" b="1" dirty="0">
              <a:highlight>
                <a:srgbClr val="FFFF00"/>
              </a:highlight>
            </a:endParaRPr>
          </a:p>
        </p:txBody>
      </p:sp>
      <p:sp>
        <p:nvSpPr>
          <p:cNvPr id="3" name="TextBox 2">
            <a:extLst>
              <a:ext uri="{FF2B5EF4-FFF2-40B4-BE49-F238E27FC236}">
                <a16:creationId xmlns:a16="http://schemas.microsoft.com/office/drawing/2014/main" id="{D471660D-9551-8636-8353-E82E2AAE9DDD}"/>
              </a:ext>
            </a:extLst>
          </p:cNvPr>
          <p:cNvSpPr txBox="1"/>
          <p:nvPr/>
        </p:nvSpPr>
        <p:spPr>
          <a:xfrm>
            <a:off x="584974" y="5738902"/>
            <a:ext cx="7771727" cy="461665"/>
          </a:xfrm>
          <a:prstGeom prst="rect">
            <a:avLst/>
          </a:prstGeom>
          <a:noFill/>
          <a:ln>
            <a:solidFill>
              <a:schemeClr val="tx1"/>
            </a:solidFill>
          </a:ln>
        </p:spPr>
        <p:txBody>
          <a:bodyPr wrap="square" lIns="91440" tIns="45720" rIns="91440" bIns="45720" rtlCol="1" anchor="t">
            <a:spAutoFit/>
          </a:bodyPr>
          <a:lstStyle/>
          <a:p>
            <a:pPr rtl="1"/>
            <a:r>
              <a:rPr lang="ar-SA" sz="2400" dirty="0">
                <a:latin typeface="Arial"/>
                <a:cs typeface="Arial"/>
              </a:rPr>
              <a:t>ما هو تأثير نوع الهيكل التنظيمي على الوظائف المختلفة في الشركتين؟</a:t>
            </a:r>
          </a:p>
        </p:txBody>
      </p:sp>
      <p:sp>
        <p:nvSpPr>
          <p:cNvPr id="2" name="Footer Placeholder 2">
            <a:extLst>
              <a:ext uri="{FF2B5EF4-FFF2-40B4-BE49-F238E27FC236}">
                <a16:creationId xmlns:a16="http://schemas.microsoft.com/office/drawing/2014/main" id="{CF43795A-0516-987B-2E6D-BA032BE78EB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extLst>
    <p:ext uri="{6950BFC3-D8DA-4A85-94F7-54DA5524770B}">
      <p188:commentRel xmlns:p188="http://schemas.microsoft.com/office/powerpoint/2018/8/main" r:id="rId4"/>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6C3A-78C7-16E0-2432-0BE3FA00491E}"/>
              </a:ext>
            </a:extLst>
          </p:cNvPr>
          <p:cNvSpPr>
            <a:spLocks noGrp="1"/>
          </p:cNvSpPr>
          <p:nvPr>
            <p:ph type="title"/>
          </p:nvPr>
        </p:nvSpPr>
        <p:spPr>
          <a:xfrm>
            <a:off x="1166936" y="198548"/>
            <a:ext cx="8229600" cy="863600"/>
          </a:xfrm>
        </p:spPr>
        <p:txBody>
          <a:bodyPr rtlCol="1"/>
          <a:lstStyle/>
          <a:p>
            <a:pPr rtl="1"/>
            <a:r>
              <a:rPr lang="ar-SA" sz="3600" b="1" dirty="0"/>
              <a:t>ما معنى أن تُحلل؟</a:t>
            </a:r>
          </a:p>
        </p:txBody>
      </p:sp>
      <p:sp>
        <p:nvSpPr>
          <p:cNvPr id="3" name="Content Placeholder 2">
            <a:extLst>
              <a:ext uri="{FF2B5EF4-FFF2-40B4-BE49-F238E27FC236}">
                <a16:creationId xmlns:a16="http://schemas.microsoft.com/office/drawing/2014/main" id="{195DB792-4592-AA6E-E7C8-CA5C9F9C4875}"/>
              </a:ext>
            </a:extLst>
          </p:cNvPr>
          <p:cNvSpPr>
            <a:spLocks noGrp="1"/>
          </p:cNvSpPr>
          <p:nvPr>
            <p:ph sz="half" idx="2"/>
          </p:nvPr>
        </p:nvSpPr>
        <p:spPr>
          <a:xfrm>
            <a:off x="144087" y="1162760"/>
            <a:ext cx="8676385" cy="4535048"/>
          </a:xfrm>
        </p:spPr>
        <p:txBody>
          <a:bodyPr rtlCol="1"/>
          <a:lstStyle/>
          <a:p>
            <a:pPr rtl="1"/>
            <a:r>
              <a:rPr lang="ar-SA" dirty="0">
                <a:latin typeface="Arial"/>
                <a:cs typeface="Arial"/>
              </a:rPr>
              <a:t>يعني التحليل استخدام مفردات الربط المناسبة لشرح وجهة نظرك بشكل أعمق. </a:t>
            </a:r>
            <a:endParaRPr lang="ar-SA" dirty="0"/>
          </a:p>
          <a:p>
            <a:pPr rtl="1"/>
            <a:r>
              <a:rPr lang="ar-SA" dirty="0">
                <a:latin typeface="Arial"/>
                <a:cs typeface="Arial"/>
              </a:rPr>
              <a:t>من أمثلة مفردات الربط : «هذا يُظهر أن»، و «وهذا يترك أثراً لأن»، </a:t>
            </a:r>
            <a:br>
              <a:rPr lang="ar-SA" dirty="0">
                <a:latin typeface="Arial"/>
                <a:cs typeface="Arial"/>
              </a:rPr>
            </a:br>
            <a:r>
              <a:rPr lang="ar-SA" dirty="0">
                <a:latin typeface="Arial"/>
                <a:cs typeface="Arial"/>
              </a:rPr>
              <a:t>و «هذا يساعد على».</a:t>
            </a:r>
            <a:endParaRPr lang="ar-SA" dirty="0"/>
          </a:p>
          <a:p>
            <a:pPr rtl="1"/>
            <a:r>
              <a:rPr lang="ar-SA" dirty="0">
                <a:solidFill>
                  <a:srgbClr val="000000"/>
                </a:solidFill>
                <a:latin typeface="Arial"/>
                <a:cs typeface="Arial"/>
              </a:rPr>
              <a:t>على سبيل المثال:</a:t>
            </a:r>
          </a:p>
          <a:p>
            <a:pPr marL="0" indent="0" rtl="1">
              <a:buNone/>
            </a:pPr>
            <a:r>
              <a:rPr lang="ar-SA" dirty="0">
                <a:solidFill>
                  <a:schemeClr val="accent2"/>
                </a:solidFill>
                <a:latin typeface="Arial"/>
                <a:cs typeface="Arial"/>
              </a:rPr>
              <a:t>محمد يشرف على قسم البقالة في سوبرماركت. </a:t>
            </a:r>
            <a:r>
              <a:rPr lang="ar-SA" dirty="0">
                <a:solidFill>
                  <a:srgbClr val="FF0000"/>
                </a:solidFill>
                <a:latin typeface="Arial"/>
                <a:cs typeface="Arial"/>
              </a:rPr>
              <a:t>وزميله هو قائد الفريق للعناصر </a:t>
            </a:r>
            <a:br>
              <a:rPr lang="ar-SA" dirty="0">
                <a:solidFill>
                  <a:srgbClr val="FF0000"/>
                </a:solidFill>
                <a:latin typeface="Arial"/>
                <a:cs typeface="Arial"/>
              </a:rPr>
            </a:br>
            <a:r>
              <a:rPr lang="ar-SA" dirty="0">
                <a:solidFill>
                  <a:srgbClr val="FF0000"/>
                </a:solidFill>
                <a:latin typeface="Arial"/>
                <a:cs typeface="Arial"/>
              </a:rPr>
              <a:t>الأخرى غير البقالة مثل: لوازم الاستحمام ومنتجات التنظيف. </a:t>
            </a:r>
            <a:r>
              <a:rPr lang="ar-SA" dirty="0">
                <a:solidFill>
                  <a:srgbClr val="00B050"/>
                </a:solidFill>
                <a:latin typeface="Arial"/>
                <a:cs typeface="Arial"/>
              </a:rPr>
              <a:t>هذا يُظهر أنه يعمل </a:t>
            </a:r>
            <a:br>
              <a:rPr lang="ar-SA" dirty="0">
                <a:solidFill>
                  <a:srgbClr val="00B050"/>
                </a:solidFill>
                <a:latin typeface="Arial"/>
                <a:cs typeface="Arial"/>
              </a:rPr>
            </a:br>
            <a:r>
              <a:rPr lang="ar-SA" dirty="0">
                <a:solidFill>
                  <a:srgbClr val="00B050"/>
                </a:solidFill>
                <a:latin typeface="Arial"/>
                <a:cs typeface="Arial"/>
              </a:rPr>
              <a:t>في هيكل وظيفي. ويعني أن مسؤولياته تتركز على منتجات البقالة، وأفراد فريقه </a:t>
            </a:r>
            <a:br>
              <a:rPr lang="ar-SA" dirty="0">
                <a:solidFill>
                  <a:srgbClr val="00B050"/>
                </a:solidFill>
                <a:latin typeface="Arial"/>
                <a:cs typeface="Arial"/>
              </a:rPr>
            </a:br>
            <a:r>
              <a:rPr lang="ar-SA" dirty="0">
                <a:solidFill>
                  <a:srgbClr val="00B050"/>
                </a:solidFill>
                <a:latin typeface="Arial"/>
                <a:cs typeface="Arial"/>
              </a:rPr>
              <a:t>العاملين في هذا القسم. </a:t>
            </a:r>
            <a:endParaRPr lang="ar-SA" dirty="0">
              <a:solidFill>
                <a:srgbClr val="00B050"/>
              </a:solidFill>
            </a:endParaRPr>
          </a:p>
          <a:p>
            <a:pPr marL="0" indent="0" rtl="1">
              <a:buNone/>
            </a:pPr>
            <a:endParaRPr lang="ar-SA" dirty="0">
              <a:solidFill>
                <a:srgbClr val="00B050"/>
              </a:solidFill>
              <a:latin typeface="Arial"/>
              <a:cs typeface="Arial"/>
            </a:endParaRPr>
          </a:p>
          <a:p>
            <a:pPr marL="0" indent="0" rtl="1">
              <a:buNone/>
            </a:pPr>
            <a:r>
              <a:rPr lang="ar-SA" dirty="0">
                <a:latin typeface="Arial"/>
                <a:cs typeface="Arial"/>
              </a:rPr>
              <a:t>هل يمكنك التوصل إلى مثال خاص بك للتحليل؟ </a:t>
            </a:r>
            <a:endParaRPr lang="ar-SA" dirty="0"/>
          </a:p>
        </p:txBody>
      </p:sp>
      <p:sp>
        <p:nvSpPr>
          <p:cNvPr id="5" name="Footer Placeholder 2">
            <a:extLst>
              <a:ext uri="{FF2B5EF4-FFF2-40B4-BE49-F238E27FC236}">
                <a16:creationId xmlns:a16="http://schemas.microsoft.com/office/drawing/2014/main" id="{099896D0-02FF-845C-1854-A6EC9A52727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995189037"/>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860061" y="120600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ب</a:t>
            </a:r>
            <a:br>
              <a:rPr lang="ar-SA" altLang="en-US" sz="2400" dirty="0"/>
            </a:br>
            <a:br>
              <a:rPr lang="ar-SA" altLang="en-US" sz="2400" dirty="0"/>
            </a:br>
            <a:endParaRPr lang="ar-SA"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18832" y="2671768"/>
            <a:ext cx="7667968" cy="374543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SA" b="1" dirty="0">
                <a:latin typeface="Arial"/>
                <a:cs typeface="Arial"/>
              </a:rPr>
              <a:t>ب1 التوظيف والتحليل الوظيفي</a:t>
            </a:r>
            <a:endParaRPr lang="ar-SA" dirty="0"/>
          </a:p>
          <a:p>
            <a:pPr marL="685800" rtl="1"/>
            <a:r>
              <a:rPr lang="ar-SA" b="0" i="0" u="none" strike="noStrike" dirty="0"/>
              <a:t>أسباب توفُّر وظيفة شاغرة في الشركة</a:t>
            </a:r>
          </a:p>
          <a:p>
            <a:pPr marL="685800" rtl="1"/>
            <a:r>
              <a:rPr lang="ar-SA" dirty="0">
                <a:latin typeface="Arial"/>
                <a:cs typeface="Arial"/>
              </a:rPr>
              <a:t>أنواع التوظيف</a:t>
            </a:r>
            <a:endParaRPr lang="ar-SA" altLang="en-US" dirty="0">
              <a:latin typeface="Arial" charset="0"/>
              <a:cs typeface="Arial"/>
            </a:endParaRPr>
          </a:p>
          <a:p>
            <a:pPr marL="685800" rtl="1"/>
            <a:r>
              <a:rPr lang="ar-SA" dirty="0">
                <a:latin typeface="Arial"/>
                <a:cs typeface="Arial"/>
              </a:rPr>
              <a:t>المخاطر والاعتبارات القانونية.</a:t>
            </a:r>
            <a:endParaRPr lang="ar-SA" altLang="en-US" dirty="0">
              <a:latin typeface="Arial" charset="0"/>
              <a:cs typeface="Arial"/>
            </a:endParaRPr>
          </a:p>
          <a:p>
            <a:pPr marL="685800" rtl="1"/>
            <a:r>
              <a:rPr lang="ar-SA" dirty="0">
                <a:latin typeface="Arial"/>
                <a:cs typeface="Arial"/>
              </a:rPr>
              <a:t>تحليل متطلبات الدور الوظيفي</a:t>
            </a:r>
            <a:endParaRPr lang="ar-SA" dirty="0">
              <a:latin typeface="Arial" charset="0"/>
              <a:cs typeface="Arial"/>
            </a:endParaRPr>
          </a:p>
          <a:p>
            <a:pPr marL="685800" rtl="1"/>
            <a:r>
              <a:rPr lang="ar-SA" dirty="0">
                <a:latin typeface="Arial"/>
                <a:cs typeface="Arial"/>
              </a:rPr>
              <a:t>الإعلان عن الوظيفة الشاغرة</a:t>
            </a:r>
            <a:endParaRPr lang="ar-SA" dirty="0">
              <a:latin typeface="Arial" charset="0"/>
              <a:cs typeface="Arial"/>
            </a:endParaRPr>
          </a:p>
          <a:p>
            <a:pPr indent="0" rtl="1">
              <a:buNone/>
            </a:pPr>
            <a:r>
              <a:rPr lang="ar-SA" b="1" dirty="0">
                <a:latin typeface="Arial"/>
                <a:cs typeface="Arial"/>
              </a:rPr>
              <a:t>ب2 محتويات الوصف الوظيفي</a:t>
            </a:r>
          </a:p>
          <a:p>
            <a:pPr indent="0" rtl="1">
              <a:buNone/>
            </a:pPr>
            <a:r>
              <a:rPr lang="ar-SA" b="1" dirty="0">
                <a:latin typeface="Arial"/>
                <a:cs typeface="Arial"/>
              </a:rPr>
              <a:t>ب3 محتويات متطلبات مؤهلات الموظفين</a:t>
            </a:r>
          </a:p>
          <a:p>
            <a:pPr marL="685800" algn="ctr" rtl="1"/>
            <a:endParaRPr lang="ar-SA" altLang="en-US" sz="2200" dirty="0"/>
          </a:p>
          <a:p>
            <a:pPr marL="685800" algn="ctr" rtl="1"/>
            <a:endParaRPr lang="ar-SA" altLang="en-US"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7225" y="1772561"/>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SA" sz="3600" b="1" dirty="0">
                <a:latin typeface="Arial"/>
                <a:cs typeface="Arial"/>
              </a:rPr>
              <a:t>تخطيط الأدوار الوظيفية في الشركة </a:t>
            </a:r>
            <a:endParaRPr lang="ar-SA" altLang="en-US" sz="3600" b="1" dirty="0"/>
          </a:p>
        </p:txBody>
      </p:sp>
      <p:sp>
        <p:nvSpPr>
          <p:cNvPr id="2" name="Footer Placeholder 2">
            <a:extLst>
              <a:ext uri="{FF2B5EF4-FFF2-40B4-BE49-F238E27FC236}">
                <a16:creationId xmlns:a16="http://schemas.microsoft.com/office/drawing/2014/main" id="{A3A0689E-3C7E-BF3A-D4FB-2C7427F6650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295850632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074371" y="1712244"/>
            <a:ext cx="3486811" cy="330137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ar-SA" altLang="en-US" dirty="0"/>
          </a:p>
          <a:p>
            <a:pPr indent="0" rtl="1">
              <a:buNone/>
            </a:pPr>
            <a:r>
              <a:rPr lang="ar-SA" dirty="0">
                <a:latin typeface="Arial"/>
                <a:cs typeface="Arial"/>
              </a:rPr>
              <a:t>استخدام هذه الصور لمساعدتك، وقدم شرحًا لبعض الأسباب المختلفة التي قد تؤدي إلى ظهور وظائف شاغرة </a:t>
            </a:r>
            <a:br>
              <a:rPr lang="ar-SA" dirty="0">
                <a:latin typeface="Arial"/>
                <a:cs typeface="Arial"/>
              </a:rPr>
            </a:br>
            <a:r>
              <a:rPr lang="ar-SA" dirty="0">
                <a:latin typeface="Arial"/>
                <a:cs typeface="Arial"/>
              </a:rPr>
              <a:t>في الشركات.</a:t>
            </a:r>
          </a:p>
        </p:txBody>
      </p:sp>
      <p:sp>
        <p:nvSpPr>
          <p:cNvPr id="3" name="TextBox 2">
            <a:extLst>
              <a:ext uri="{FF2B5EF4-FFF2-40B4-BE49-F238E27FC236}">
                <a16:creationId xmlns:a16="http://schemas.microsoft.com/office/drawing/2014/main" id="{71C2309B-F3E0-AF62-45B4-EAE9C4738811}"/>
              </a:ext>
            </a:extLst>
          </p:cNvPr>
          <p:cNvSpPr txBox="1"/>
          <p:nvPr/>
        </p:nvSpPr>
        <p:spPr>
          <a:xfrm>
            <a:off x="829206" y="1219754"/>
            <a:ext cx="7450837" cy="646331"/>
          </a:xfrm>
          <a:prstGeom prst="rect">
            <a:avLst/>
          </a:prstGeom>
          <a:noFill/>
        </p:spPr>
        <p:txBody>
          <a:bodyPr wrap="square" rtlCol="1">
            <a:spAutoFit/>
          </a:bodyPr>
          <a:lstStyle/>
          <a:p>
            <a:pPr rtl="1"/>
            <a:r>
              <a:rPr lang="ar-SA" sz="3600" b="1" dirty="0"/>
              <a:t>ب1 التوظيف والتحليل الوظيفي</a:t>
            </a:r>
          </a:p>
        </p:txBody>
      </p:sp>
      <p:sp>
        <p:nvSpPr>
          <p:cNvPr id="4" name="Footer Placeholder 2">
            <a:extLst>
              <a:ext uri="{FF2B5EF4-FFF2-40B4-BE49-F238E27FC236}">
                <a16:creationId xmlns:a16="http://schemas.microsoft.com/office/drawing/2014/main" id="{07C15474-DB03-B787-BC06-747D3DF2F5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pic>
        <p:nvPicPr>
          <p:cNvPr id="5" name="Picture 4" descr="A pregnant person wearing a head scarf&#10;&#10;Description automatically generated">
            <a:extLst>
              <a:ext uri="{FF2B5EF4-FFF2-40B4-BE49-F238E27FC236}">
                <a16:creationId xmlns:a16="http://schemas.microsoft.com/office/drawing/2014/main" id="{7B060A05-31E5-8050-E069-B0DE2FEC22F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8269" y="1916869"/>
            <a:ext cx="1407669" cy="2109867"/>
          </a:xfrm>
          <a:prstGeom prst="rect">
            <a:avLst/>
          </a:prstGeom>
        </p:spPr>
      </p:pic>
      <p:pic>
        <p:nvPicPr>
          <p:cNvPr id="6" name="Picture 5" descr="A group of plants growing out of dirt&#10;&#10;Description automatically generated">
            <a:extLst>
              <a:ext uri="{FF2B5EF4-FFF2-40B4-BE49-F238E27FC236}">
                <a16:creationId xmlns:a16="http://schemas.microsoft.com/office/drawing/2014/main" id="{B214618B-E017-E26E-BFE9-6E0C0B90AA0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19005" y="5145756"/>
            <a:ext cx="2394204" cy="1111384"/>
          </a:xfrm>
          <a:prstGeom prst="rect">
            <a:avLst/>
          </a:prstGeom>
        </p:spPr>
      </p:pic>
      <p:pic>
        <p:nvPicPr>
          <p:cNvPr id="7" name="Picture 6" descr="A person holding a box with things in it&#10;&#10;Description automatically generated">
            <a:extLst>
              <a:ext uri="{FF2B5EF4-FFF2-40B4-BE49-F238E27FC236}">
                <a16:creationId xmlns:a16="http://schemas.microsoft.com/office/drawing/2014/main" id="{7332532D-7F67-FD5D-91B1-2AE76C1C24F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69566" y="2144264"/>
            <a:ext cx="2939864" cy="1655076"/>
          </a:xfrm>
          <a:prstGeom prst="rect">
            <a:avLst/>
          </a:prstGeom>
        </p:spPr>
      </p:pic>
      <p:pic>
        <p:nvPicPr>
          <p:cNvPr id="8" name="Picture 7" descr="A person in a hospital bed&#10;&#10;Description automatically generated">
            <a:extLst>
              <a:ext uri="{FF2B5EF4-FFF2-40B4-BE49-F238E27FC236}">
                <a16:creationId xmlns:a16="http://schemas.microsoft.com/office/drawing/2014/main" id="{AE4C38DA-FF85-3558-CB15-3320C74413E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899909" y="4440008"/>
            <a:ext cx="2879177" cy="1903943"/>
          </a:xfrm>
          <a:prstGeom prst="rect">
            <a:avLst/>
          </a:prstGeom>
        </p:spPr>
      </p:pic>
      <p:pic>
        <p:nvPicPr>
          <p:cNvPr id="9" name="Picture 8" descr="A large stack of papers on a desk&#10;&#10;Description automatically generated">
            <a:extLst>
              <a:ext uri="{FF2B5EF4-FFF2-40B4-BE49-F238E27FC236}">
                <a16:creationId xmlns:a16="http://schemas.microsoft.com/office/drawing/2014/main" id="{6E5211A0-099A-31FB-93FE-3DF49B8FD27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54347" y="4517195"/>
            <a:ext cx="2623279" cy="1745730"/>
          </a:xfrm>
          <a:prstGeom prst="rect">
            <a:avLst/>
          </a:prstGeom>
        </p:spPr>
      </p:pic>
    </p:spTree>
    <p:extLst>
      <p:ext uri="{BB962C8B-B14F-4D97-AF65-F5344CB8AC3E}">
        <p14:creationId xmlns:p14="http://schemas.microsoft.com/office/powerpoint/2010/main" val="19832045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ar-SA" altLang="en-US" dirty="0"/>
          </a:p>
          <a:p>
            <a:pPr marL="685800" rtl="1"/>
            <a:endParaRPr lang="ar-SA" altLang="en-US" dirty="0"/>
          </a:p>
        </p:txBody>
      </p:sp>
      <p:sp>
        <p:nvSpPr>
          <p:cNvPr id="2" name="TextBox 1">
            <a:extLst>
              <a:ext uri="{FF2B5EF4-FFF2-40B4-BE49-F238E27FC236}">
                <a16:creationId xmlns:a16="http://schemas.microsoft.com/office/drawing/2014/main" id="{ED0E3BFC-8FD2-7801-5CD9-38D523C9EDC6}"/>
              </a:ext>
            </a:extLst>
          </p:cNvPr>
          <p:cNvSpPr txBox="1"/>
          <p:nvPr/>
        </p:nvSpPr>
        <p:spPr>
          <a:xfrm>
            <a:off x="1414606" y="1482082"/>
            <a:ext cx="7272808" cy="646331"/>
          </a:xfrm>
          <a:prstGeom prst="rect">
            <a:avLst/>
          </a:prstGeom>
          <a:noFill/>
        </p:spPr>
        <p:txBody>
          <a:bodyPr wrap="square" rtlCol="1">
            <a:spAutoFit/>
          </a:bodyPr>
          <a:lstStyle/>
          <a:p>
            <a:pPr rtl="1"/>
            <a:r>
              <a:rPr lang="ar-SA" sz="3600" dirty="0"/>
              <a:t>التوظيف الخارجي</a:t>
            </a:r>
          </a:p>
        </p:txBody>
      </p:sp>
      <p:sp>
        <p:nvSpPr>
          <p:cNvPr id="4" name="TextBox 3">
            <a:extLst>
              <a:ext uri="{FF2B5EF4-FFF2-40B4-BE49-F238E27FC236}">
                <a16:creationId xmlns:a16="http://schemas.microsoft.com/office/drawing/2014/main" id="{52F41F63-A459-55E4-0F33-ABB190342DD7}"/>
              </a:ext>
            </a:extLst>
          </p:cNvPr>
          <p:cNvSpPr txBox="1"/>
          <p:nvPr/>
        </p:nvSpPr>
        <p:spPr>
          <a:xfrm>
            <a:off x="2890652" y="3567912"/>
            <a:ext cx="3528392" cy="1200329"/>
          </a:xfrm>
          <a:prstGeom prst="rect">
            <a:avLst/>
          </a:prstGeom>
          <a:noFill/>
          <a:ln>
            <a:solidFill>
              <a:srgbClr val="7030A0"/>
            </a:solidFill>
          </a:ln>
        </p:spPr>
        <p:txBody>
          <a:bodyPr wrap="square" rtlCol="1">
            <a:spAutoFit/>
          </a:bodyPr>
          <a:lstStyle/>
          <a:p>
            <a:pPr algn="ctr" rtl="1"/>
            <a:r>
              <a:rPr lang="ar-SA" sz="3600" b="1" dirty="0"/>
              <a:t>التوظيف </a:t>
            </a:r>
            <a:br>
              <a:rPr lang="ar-SA" sz="3600" b="1" dirty="0"/>
            </a:br>
            <a:r>
              <a:rPr lang="ar-SA" sz="3600" b="1" dirty="0"/>
              <a:t>الخارجي</a:t>
            </a:r>
          </a:p>
        </p:txBody>
      </p:sp>
      <p:sp>
        <p:nvSpPr>
          <p:cNvPr id="5" name="TextBox 4">
            <a:extLst>
              <a:ext uri="{FF2B5EF4-FFF2-40B4-BE49-F238E27FC236}">
                <a16:creationId xmlns:a16="http://schemas.microsoft.com/office/drawing/2014/main" id="{AACC1970-5A28-DDD9-02F2-F363E531E0E9}"/>
              </a:ext>
            </a:extLst>
          </p:cNvPr>
          <p:cNvSpPr txBox="1"/>
          <p:nvPr/>
        </p:nvSpPr>
        <p:spPr>
          <a:xfrm>
            <a:off x="6419044" y="2741027"/>
            <a:ext cx="2267646" cy="461665"/>
          </a:xfrm>
          <a:prstGeom prst="rect">
            <a:avLst/>
          </a:prstGeom>
          <a:noFill/>
          <a:ln>
            <a:solidFill>
              <a:srgbClr val="7030A0"/>
            </a:solidFill>
          </a:ln>
        </p:spPr>
        <p:txBody>
          <a:bodyPr wrap="square" rtlCol="1">
            <a:spAutoFit/>
          </a:bodyPr>
          <a:lstStyle/>
          <a:p>
            <a:pPr algn="ctr" rtl="1"/>
            <a:r>
              <a:rPr lang="ar-SA" sz="2400" b="1" dirty="0"/>
              <a:t>مراكز التوظيف</a:t>
            </a:r>
          </a:p>
        </p:txBody>
      </p:sp>
      <p:sp>
        <p:nvSpPr>
          <p:cNvPr id="6" name="TextBox 5">
            <a:extLst>
              <a:ext uri="{FF2B5EF4-FFF2-40B4-BE49-F238E27FC236}">
                <a16:creationId xmlns:a16="http://schemas.microsoft.com/office/drawing/2014/main" id="{283602A8-4E49-25B8-A61F-61C222806547}"/>
              </a:ext>
            </a:extLst>
          </p:cNvPr>
          <p:cNvSpPr txBox="1"/>
          <p:nvPr/>
        </p:nvSpPr>
        <p:spPr>
          <a:xfrm>
            <a:off x="6418644" y="4989369"/>
            <a:ext cx="2267646" cy="461665"/>
          </a:xfrm>
          <a:prstGeom prst="rect">
            <a:avLst/>
          </a:prstGeom>
          <a:noFill/>
          <a:ln>
            <a:solidFill>
              <a:srgbClr val="7030A0"/>
            </a:solidFill>
          </a:ln>
        </p:spPr>
        <p:txBody>
          <a:bodyPr wrap="square" lIns="91440" tIns="45720" rIns="91440" bIns="45720" rtlCol="1" anchor="t">
            <a:spAutoFit/>
          </a:bodyPr>
          <a:lstStyle/>
          <a:p>
            <a:pPr algn="ctr" rtl="1"/>
            <a:r>
              <a:rPr lang="ar-SA" sz="2400" b="1" dirty="0">
                <a:latin typeface="Arial"/>
                <a:cs typeface="Arial"/>
              </a:rPr>
              <a:t>المستشارون</a:t>
            </a:r>
            <a:endParaRPr lang="ar-SA" sz="2400" b="1" dirty="0"/>
          </a:p>
        </p:txBody>
      </p:sp>
      <p:sp>
        <p:nvSpPr>
          <p:cNvPr id="7" name="TextBox 6">
            <a:extLst>
              <a:ext uri="{FF2B5EF4-FFF2-40B4-BE49-F238E27FC236}">
                <a16:creationId xmlns:a16="http://schemas.microsoft.com/office/drawing/2014/main" id="{4F849C6E-921B-1ED1-9F41-3B6B5774453D}"/>
              </a:ext>
            </a:extLst>
          </p:cNvPr>
          <p:cNvSpPr txBox="1"/>
          <p:nvPr/>
        </p:nvSpPr>
        <p:spPr>
          <a:xfrm>
            <a:off x="431134" y="4989369"/>
            <a:ext cx="2267646" cy="461665"/>
          </a:xfrm>
          <a:prstGeom prst="rect">
            <a:avLst/>
          </a:prstGeom>
          <a:noFill/>
          <a:ln>
            <a:solidFill>
              <a:srgbClr val="7030A0"/>
            </a:solidFill>
          </a:ln>
        </p:spPr>
        <p:txBody>
          <a:bodyPr wrap="square" rtlCol="1">
            <a:spAutoFit/>
          </a:bodyPr>
          <a:lstStyle/>
          <a:p>
            <a:pPr algn="ctr" rtl="1"/>
            <a:r>
              <a:rPr lang="ar-SA" sz="2400" b="1" dirty="0"/>
              <a:t>وكالات التوظيف</a:t>
            </a:r>
          </a:p>
        </p:txBody>
      </p:sp>
      <p:sp>
        <p:nvSpPr>
          <p:cNvPr id="8" name="TextBox 7">
            <a:extLst>
              <a:ext uri="{FF2B5EF4-FFF2-40B4-BE49-F238E27FC236}">
                <a16:creationId xmlns:a16="http://schemas.microsoft.com/office/drawing/2014/main" id="{DF07200B-8629-32A2-375B-C00D77786E09}"/>
              </a:ext>
            </a:extLst>
          </p:cNvPr>
          <p:cNvSpPr txBox="1"/>
          <p:nvPr/>
        </p:nvSpPr>
        <p:spPr>
          <a:xfrm>
            <a:off x="431134" y="2781303"/>
            <a:ext cx="2267646" cy="461665"/>
          </a:xfrm>
          <a:prstGeom prst="rect">
            <a:avLst/>
          </a:prstGeom>
          <a:noFill/>
          <a:ln>
            <a:solidFill>
              <a:srgbClr val="7030A0"/>
            </a:solidFill>
          </a:ln>
        </p:spPr>
        <p:txBody>
          <a:bodyPr wrap="square" rtlCol="1">
            <a:spAutoFit/>
          </a:bodyPr>
          <a:lstStyle/>
          <a:p>
            <a:pPr algn="ctr" rtl="1"/>
            <a:r>
              <a:rPr lang="ar-SA" sz="2400" b="1" dirty="0"/>
              <a:t>الدعاية والإعلان</a:t>
            </a:r>
          </a:p>
        </p:txBody>
      </p:sp>
      <p:sp>
        <p:nvSpPr>
          <p:cNvPr id="3" name="Footer Placeholder 2">
            <a:extLst>
              <a:ext uri="{FF2B5EF4-FFF2-40B4-BE49-F238E27FC236}">
                <a16:creationId xmlns:a16="http://schemas.microsoft.com/office/drawing/2014/main" id="{44EE7105-F563-F1A0-D141-D978C29B97E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extLst>
    <p:ext uri="{6950BFC3-D8DA-4A85-94F7-54DA5524770B}">
      <p188:commentRel xmlns:p188="http://schemas.microsoft.com/office/powerpoint/2018/8/main" r:id="rId4"/>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C2AB8-87FA-6D15-9BEF-19D8D25F74DA}"/>
              </a:ext>
            </a:extLst>
          </p:cNvPr>
          <p:cNvSpPr>
            <a:spLocks noGrp="1"/>
          </p:cNvSpPr>
          <p:nvPr>
            <p:ph type="title"/>
          </p:nvPr>
        </p:nvSpPr>
        <p:spPr>
          <a:xfrm>
            <a:off x="387248" y="1132310"/>
            <a:ext cx="8640960" cy="791505"/>
          </a:xfrm>
        </p:spPr>
        <p:txBody>
          <a:bodyPr rtlCol="1"/>
          <a:lstStyle/>
          <a:p>
            <a:pPr rtl="1"/>
            <a:r>
              <a:rPr lang="ar-SA" sz="3600" dirty="0"/>
              <a:t>مشكلات التوظيف الداخلي والخارجي</a:t>
            </a:r>
          </a:p>
        </p:txBody>
      </p:sp>
      <p:graphicFrame>
        <p:nvGraphicFramePr>
          <p:cNvPr id="5" name="Table 5">
            <a:extLst>
              <a:ext uri="{FF2B5EF4-FFF2-40B4-BE49-F238E27FC236}">
                <a16:creationId xmlns:a16="http://schemas.microsoft.com/office/drawing/2014/main" id="{C9C66CAF-1C02-A0A6-0C34-933E55BA722A}"/>
              </a:ext>
            </a:extLst>
          </p:cNvPr>
          <p:cNvGraphicFramePr>
            <a:graphicFrameLocks noGrp="1"/>
          </p:cNvGraphicFramePr>
          <p:nvPr>
            <p:ph sz="half" idx="2"/>
            <p:extLst>
              <p:ext uri="{D42A27DB-BD31-4B8C-83A1-F6EECF244321}">
                <p14:modId xmlns:p14="http://schemas.microsoft.com/office/powerpoint/2010/main" val="850600621"/>
              </p:ext>
            </p:extLst>
          </p:nvPr>
        </p:nvGraphicFramePr>
        <p:xfrm>
          <a:off x="318694" y="1883139"/>
          <a:ext cx="8516134" cy="2923414"/>
        </p:xfrm>
        <a:graphic>
          <a:graphicData uri="http://schemas.openxmlformats.org/drawingml/2006/table">
            <a:tbl>
              <a:tblPr firstRow="1" bandRow="1">
                <a:tableStyleId>{93296810-A885-4BE3-A3E7-6D5BEEA58F35}</a:tableStyleId>
              </a:tblPr>
              <a:tblGrid>
                <a:gridCol w="4258067">
                  <a:extLst>
                    <a:ext uri="{9D8B030D-6E8A-4147-A177-3AD203B41FA5}">
                      <a16:colId xmlns:a16="http://schemas.microsoft.com/office/drawing/2014/main" val="2603297863"/>
                    </a:ext>
                  </a:extLst>
                </a:gridCol>
                <a:gridCol w="4258067">
                  <a:extLst>
                    <a:ext uri="{9D8B030D-6E8A-4147-A177-3AD203B41FA5}">
                      <a16:colId xmlns:a16="http://schemas.microsoft.com/office/drawing/2014/main" val="3684966838"/>
                    </a:ext>
                  </a:extLst>
                </a:gridCol>
              </a:tblGrid>
              <a:tr h="425066">
                <a:tc>
                  <a:txBody>
                    <a:bodyPr/>
                    <a:lstStyle/>
                    <a:p>
                      <a:pPr rtl="1"/>
                      <a:r>
                        <a:rPr lang="ar-SA" noProof="0">
                          <a:solidFill>
                            <a:schemeClr val="tx1"/>
                          </a:solidFill>
                        </a:rPr>
                        <a:t>مشكلات التوظيف الداخلي</a:t>
                      </a:r>
                    </a:p>
                  </a:txBody>
                  <a:tcPr>
                    <a:solidFill>
                      <a:schemeClr val="accent6">
                        <a:lumMod val="20000"/>
                        <a:lumOff val="80000"/>
                      </a:schemeClr>
                    </a:solidFill>
                  </a:tcPr>
                </a:tc>
                <a:tc>
                  <a:txBody>
                    <a:bodyPr/>
                    <a:lstStyle/>
                    <a:p>
                      <a:pPr rtl="1"/>
                      <a:r>
                        <a:rPr lang="ar-SA" noProof="0">
                          <a:solidFill>
                            <a:schemeClr val="tx1"/>
                          </a:solidFill>
                        </a:rPr>
                        <a:t>مشكلات التوظيف الخارجي</a:t>
                      </a:r>
                    </a:p>
                  </a:txBody>
                  <a:tcPr>
                    <a:solidFill>
                      <a:schemeClr val="accent6">
                        <a:lumMod val="20000"/>
                        <a:lumOff val="80000"/>
                      </a:schemeClr>
                    </a:solidFill>
                  </a:tcPr>
                </a:tc>
                <a:extLst>
                  <a:ext uri="{0D108BD9-81ED-4DB2-BD59-A6C34878D82A}">
                    <a16:rowId xmlns:a16="http://schemas.microsoft.com/office/drawing/2014/main" val="4235216876"/>
                  </a:ext>
                </a:extLst>
              </a:tr>
              <a:tr h="763385">
                <a:tc>
                  <a:txBody>
                    <a:bodyPr/>
                    <a:lstStyle/>
                    <a:p>
                      <a:pPr rtl="1"/>
                      <a:r>
                        <a:rPr lang="ar-SA" sz="1600" noProof="0">
                          <a:solidFill>
                            <a:schemeClr val="tx1"/>
                          </a:solidFill>
                        </a:rPr>
                        <a:t>يكون مناسبًا فقط في ظل وجود احتمال للترقية</a:t>
                      </a:r>
                    </a:p>
                  </a:txBody>
                  <a:tcPr>
                    <a:solidFill>
                      <a:schemeClr val="accent6">
                        <a:lumMod val="20000"/>
                        <a:lumOff val="80000"/>
                      </a:schemeClr>
                    </a:solidFill>
                  </a:tcPr>
                </a:tc>
                <a:tc>
                  <a:txBody>
                    <a:bodyPr/>
                    <a:lstStyle/>
                    <a:p>
                      <a:pPr rtl="1"/>
                      <a:r>
                        <a:rPr lang="ar-SA" sz="1600" noProof="0">
                          <a:solidFill>
                            <a:schemeClr val="tx1"/>
                          </a:solidFill>
                        </a:rPr>
                        <a:t>قد لا يسهل الحكم على المتقدمين، فربما كان البعض أفضل </a:t>
                      </a:r>
                      <a:br>
                        <a:rPr lang="ar-SA" sz="1600" noProof="0">
                          <a:solidFill>
                            <a:schemeClr val="tx1"/>
                          </a:solidFill>
                        </a:rPr>
                      </a:br>
                      <a:r>
                        <a:rPr lang="ar-SA" sz="1600" noProof="0">
                          <a:solidFill>
                            <a:schemeClr val="tx1"/>
                          </a:solidFill>
                        </a:rPr>
                        <a:t>في المقابلات من غيرهم.</a:t>
                      </a:r>
                    </a:p>
                  </a:txBody>
                  <a:tcPr>
                    <a:solidFill>
                      <a:schemeClr val="accent6">
                        <a:lumMod val="20000"/>
                        <a:lumOff val="80000"/>
                      </a:schemeClr>
                    </a:solidFill>
                  </a:tcPr>
                </a:tc>
                <a:extLst>
                  <a:ext uri="{0D108BD9-81ED-4DB2-BD59-A6C34878D82A}">
                    <a16:rowId xmlns:a16="http://schemas.microsoft.com/office/drawing/2014/main" val="2216773281"/>
                  </a:ext>
                </a:extLst>
              </a:tr>
              <a:tr h="754710">
                <a:tc>
                  <a:txBody>
                    <a:bodyPr/>
                    <a:lstStyle/>
                    <a:p>
                      <a:pPr rtl="1"/>
                      <a:r>
                        <a:rPr lang="ar-SA" sz="1600" noProof="0">
                          <a:solidFill>
                            <a:schemeClr val="tx1"/>
                          </a:solidFill>
                        </a:rPr>
                        <a:t>قد لا يكون المُتقدم هو الأنسب لهذا الدور.</a:t>
                      </a:r>
                    </a:p>
                  </a:txBody>
                  <a:tcPr>
                    <a:solidFill>
                      <a:schemeClr val="accent6">
                        <a:lumMod val="20000"/>
                        <a:lumOff val="80000"/>
                      </a:schemeClr>
                    </a:solidFill>
                  </a:tcPr>
                </a:tc>
                <a:tc>
                  <a:txBody>
                    <a:bodyPr/>
                    <a:lstStyle/>
                    <a:p>
                      <a:pPr rtl="1"/>
                      <a:r>
                        <a:rPr lang="ar-SA" sz="1600" noProof="0">
                          <a:solidFill>
                            <a:schemeClr val="tx1"/>
                          </a:solidFill>
                        </a:rPr>
                        <a:t>قد لا يتناسب الشخص مع الفريق الحالي وقد يحتاج </a:t>
                      </a:r>
                      <a:br>
                        <a:rPr lang="ar-SA" sz="1600" noProof="0">
                          <a:solidFill>
                            <a:schemeClr val="tx1"/>
                          </a:solidFill>
                        </a:rPr>
                      </a:br>
                      <a:r>
                        <a:rPr lang="ar-SA" sz="1600" noProof="0">
                          <a:solidFill>
                            <a:schemeClr val="tx1"/>
                          </a:solidFill>
                        </a:rPr>
                        <a:t>إلى تدريب إضافي</a:t>
                      </a:r>
                    </a:p>
                  </a:txBody>
                  <a:tcPr>
                    <a:solidFill>
                      <a:schemeClr val="accent6">
                        <a:lumMod val="20000"/>
                        <a:lumOff val="80000"/>
                      </a:schemeClr>
                    </a:solidFill>
                  </a:tcPr>
                </a:tc>
                <a:extLst>
                  <a:ext uri="{0D108BD9-81ED-4DB2-BD59-A6C34878D82A}">
                    <a16:rowId xmlns:a16="http://schemas.microsoft.com/office/drawing/2014/main" val="754930914"/>
                  </a:ext>
                </a:extLst>
              </a:tr>
              <a:tr h="980253">
                <a:tc>
                  <a:txBody>
                    <a:bodyPr/>
                    <a:lstStyle/>
                    <a:p>
                      <a:pPr rtl="1"/>
                      <a:r>
                        <a:rPr lang="ar-SA" sz="1600" noProof="0">
                          <a:solidFill>
                            <a:schemeClr val="tx1"/>
                          </a:solidFill>
                        </a:rPr>
                        <a:t>يؤدي نقل الموظف الحالي إلى وظيفة جديدة إلى وجود </a:t>
                      </a:r>
                      <a:br>
                        <a:rPr lang="ar-SA" sz="1600" noProof="0">
                          <a:solidFill>
                            <a:schemeClr val="tx1"/>
                          </a:solidFill>
                        </a:rPr>
                      </a:br>
                      <a:r>
                        <a:rPr lang="ar-SA" sz="1600" noProof="0">
                          <a:solidFill>
                            <a:schemeClr val="tx1"/>
                          </a:solidFill>
                        </a:rPr>
                        <a:t>منصب شاغر وهو منصبه القديم.</a:t>
                      </a:r>
                    </a:p>
                  </a:txBody>
                  <a:tcPr>
                    <a:solidFill>
                      <a:schemeClr val="accent6">
                        <a:lumMod val="20000"/>
                        <a:lumOff val="80000"/>
                      </a:schemeClr>
                    </a:solidFill>
                  </a:tcPr>
                </a:tc>
                <a:tc>
                  <a:txBody>
                    <a:bodyPr/>
                    <a:lstStyle/>
                    <a:p>
                      <a:pPr rtl="1"/>
                      <a:r>
                        <a:rPr lang="ar-SA" sz="1600" noProof="0" dirty="0">
                          <a:solidFill>
                            <a:schemeClr val="tx1"/>
                          </a:solidFill>
                        </a:rPr>
                        <a:t>قد يستغرق ملء الوظيفة الشاغرة وقتًا طويلاً ويكلف الإعلان وإجراء المقابلات لجميع المرشحين كثيرًا</a:t>
                      </a:r>
                    </a:p>
                  </a:txBody>
                  <a:tcPr>
                    <a:solidFill>
                      <a:schemeClr val="accent6">
                        <a:lumMod val="20000"/>
                        <a:lumOff val="80000"/>
                      </a:schemeClr>
                    </a:solidFill>
                  </a:tcPr>
                </a:tc>
                <a:extLst>
                  <a:ext uri="{0D108BD9-81ED-4DB2-BD59-A6C34878D82A}">
                    <a16:rowId xmlns:a16="http://schemas.microsoft.com/office/drawing/2014/main" val="1795633046"/>
                  </a:ext>
                </a:extLst>
              </a:tr>
            </a:tbl>
          </a:graphicData>
        </a:graphic>
      </p:graphicFrame>
      <p:sp>
        <p:nvSpPr>
          <p:cNvPr id="6" name="TextBox 5">
            <a:extLst>
              <a:ext uri="{FF2B5EF4-FFF2-40B4-BE49-F238E27FC236}">
                <a16:creationId xmlns:a16="http://schemas.microsoft.com/office/drawing/2014/main" id="{F76FD93E-D38B-20A5-2652-72F85B1FDFC9}"/>
              </a:ext>
            </a:extLst>
          </p:cNvPr>
          <p:cNvSpPr txBox="1"/>
          <p:nvPr/>
        </p:nvSpPr>
        <p:spPr>
          <a:xfrm>
            <a:off x="319057" y="4920613"/>
            <a:ext cx="8506760" cy="1200329"/>
          </a:xfrm>
          <a:prstGeom prst="rect">
            <a:avLst/>
          </a:prstGeom>
          <a:noFill/>
        </p:spPr>
        <p:txBody>
          <a:bodyPr wrap="square" rtlCol="1">
            <a:spAutoFit/>
          </a:bodyPr>
          <a:lstStyle/>
          <a:p>
            <a:pPr rtl="1"/>
            <a:r>
              <a:rPr lang="ar-SA" dirty="0"/>
              <a:t>1. ما هي التكاليف المترتبة على اختيار الشركة الاستعانة بإحدى وكالات التوظيف؟</a:t>
            </a:r>
          </a:p>
          <a:p>
            <a:pPr rtl="1"/>
            <a:r>
              <a:rPr lang="ar-SA" dirty="0"/>
              <a:t>2. كم ستكون التكاليف في حال قررت الشركة الإعلان عن الوظيفة، وإجراء مقابلات مع المرشحين، </a:t>
            </a:r>
            <a:br>
              <a:rPr lang="ar-SA" dirty="0"/>
            </a:br>
            <a:r>
              <a:rPr lang="ar-SA" dirty="0"/>
              <a:t>وتعيينهم بنفسها؟</a:t>
            </a:r>
          </a:p>
          <a:p>
            <a:pPr rtl="1"/>
            <a:r>
              <a:rPr lang="ar-SA" dirty="0"/>
              <a:t>3. أنَّى للشركة أن تتأكد من اتباعها قانون تكافؤ الفرص عند تعيين الموظفين؟</a:t>
            </a:r>
          </a:p>
        </p:txBody>
      </p:sp>
      <p:sp>
        <p:nvSpPr>
          <p:cNvPr id="3" name="Footer Placeholder 2">
            <a:extLst>
              <a:ext uri="{FF2B5EF4-FFF2-40B4-BE49-F238E27FC236}">
                <a16:creationId xmlns:a16="http://schemas.microsoft.com/office/drawing/2014/main" id="{783903A2-3D1F-8FCC-D778-E119D0C9941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791108862"/>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75F2-F9D2-4C86-D039-FCF5A35C8962}"/>
              </a:ext>
            </a:extLst>
          </p:cNvPr>
          <p:cNvSpPr>
            <a:spLocks noGrp="1"/>
          </p:cNvSpPr>
          <p:nvPr>
            <p:ph type="title"/>
          </p:nvPr>
        </p:nvSpPr>
        <p:spPr>
          <a:xfrm>
            <a:off x="2066926" y="1164147"/>
            <a:ext cx="8229600" cy="863600"/>
          </a:xfrm>
        </p:spPr>
        <p:txBody>
          <a:bodyPr rtlCol="1"/>
          <a:lstStyle/>
          <a:p>
            <a:pPr rtl="1"/>
            <a:r>
              <a:rPr lang="ar-SA" dirty="0">
                <a:latin typeface="Arial"/>
                <a:cs typeface="Arial"/>
              </a:rPr>
              <a:t>تحليل الوظائف والإعلانات</a:t>
            </a:r>
          </a:p>
        </p:txBody>
      </p:sp>
      <p:sp>
        <p:nvSpPr>
          <p:cNvPr id="3" name="Content Placeholder 2">
            <a:extLst>
              <a:ext uri="{FF2B5EF4-FFF2-40B4-BE49-F238E27FC236}">
                <a16:creationId xmlns:a16="http://schemas.microsoft.com/office/drawing/2014/main" id="{316DDB0D-7DEC-52A0-AB4A-4873AC028C23}"/>
              </a:ext>
            </a:extLst>
          </p:cNvPr>
          <p:cNvSpPr>
            <a:spLocks noGrp="1"/>
          </p:cNvSpPr>
          <p:nvPr>
            <p:ph sz="half" idx="2"/>
          </p:nvPr>
        </p:nvSpPr>
        <p:spPr>
          <a:xfrm>
            <a:off x="573995" y="2126687"/>
            <a:ext cx="7991475" cy="3609975"/>
          </a:xfrm>
        </p:spPr>
        <p:txBody>
          <a:bodyPr rtlCol="1"/>
          <a:lstStyle/>
          <a:p>
            <a:pPr rtl="1"/>
            <a:r>
              <a:rPr lang="ar-SA" sz="1500" dirty="0">
                <a:solidFill>
                  <a:srgbClr val="2D2D2D"/>
                </a:solidFill>
                <a:latin typeface="Arial"/>
                <a:cs typeface="Arial"/>
              </a:rPr>
              <a:t>عند ظهور وظيفة شاغرة في الشركة، يتم إجراء </a:t>
            </a:r>
            <a:r>
              <a:rPr lang="ar-SA" sz="1500" b="1" dirty="0">
                <a:solidFill>
                  <a:srgbClr val="2D2D2D"/>
                </a:solidFill>
                <a:latin typeface="Arial"/>
                <a:cs typeface="Arial"/>
              </a:rPr>
              <a:t>تحليل للوظيفة</a:t>
            </a:r>
            <a:endParaRPr lang="ar-SA" dirty="0">
              <a:solidFill>
                <a:srgbClr val="000000"/>
              </a:solidFill>
              <a:latin typeface="Arial"/>
              <a:cs typeface="Arial"/>
            </a:endParaRPr>
          </a:p>
          <a:p>
            <a:pPr rtl="1"/>
            <a:r>
              <a:rPr lang="ar-SA" sz="1500" dirty="0">
                <a:solidFill>
                  <a:srgbClr val="2D2D2D"/>
                </a:solidFill>
                <a:latin typeface="Arial"/>
                <a:cs typeface="Arial"/>
              </a:rPr>
              <a:t>وهذا عندما تقرر الشركة الدور والمسؤوليات للوظيفة التي سيتم الإعلان عنها. </a:t>
            </a:r>
            <a:endParaRPr lang="ar-SA" dirty="0">
              <a:solidFill>
                <a:srgbClr val="000000"/>
              </a:solidFill>
              <a:latin typeface="Arial"/>
              <a:cs typeface="Arial"/>
            </a:endParaRPr>
          </a:p>
          <a:p>
            <a:pPr rtl="1"/>
            <a:r>
              <a:rPr lang="ar-SA" sz="1500" dirty="0">
                <a:solidFill>
                  <a:srgbClr val="2D2D2D"/>
                </a:solidFill>
                <a:latin typeface="Arial"/>
                <a:cs typeface="Arial"/>
              </a:rPr>
              <a:t>وسيضمن ذلك أن تقوم الشركة بتحسين عملياتها عن طريق التأكد من أن الوظيفة تساعد في تحقيق الأهداف. </a:t>
            </a:r>
          </a:p>
          <a:p>
            <a:pPr rtl="1"/>
            <a:endParaRPr lang="ar-SA" sz="1500" dirty="0">
              <a:solidFill>
                <a:srgbClr val="2D2D2D"/>
              </a:solidFill>
              <a:latin typeface="Arial"/>
              <a:cs typeface="Arial"/>
            </a:endParaRPr>
          </a:p>
          <a:p>
            <a:pPr rtl="1"/>
            <a:r>
              <a:rPr lang="ar-SA" sz="1500" dirty="0">
                <a:solidFill>
                  <a:srgbClr val="2D2D2D"/>
                </a:solidFill>
                <a:latin typeface="Arial"/>
                <a:cs typeface="Arial"/>
              </a:rPr>
              <a:t>بمجرد إكمال تحليل الوظيفة، تصدر الشركة </a:t>
            </a:r>
            <a:r>
              <a:rPr lang="ar-SA" sz="1500" b="1" dirty="0">
                <a:solidFill>
                  <a:srgbClr val="2D2D2D"/>
                </a:solidFill>
                <a:latin typeface="Arial"/>
                <a:cs typeface="Arial"/>
              </a:rPr>
              <a:t>الوصف الوظيفي</a:t>
            </a:r>
            <a:r>
              <a:rPr lang="ar-SA" sz="1500" dirty="0">
                <a:solidFill>
                  <a:srgbClr val="2D2D2D"/>
                </a:solidFill>
                <a:latin typeface="Arial"/>
                <a:cs typeface="Arial"/>
              </a:rPr>
              <a:t>، أي وصف الدور و</a:t>
            </a:r>
            <a:r>
              <a:rPr lang="ar-SA" sz="1500" b="1" dirty="0">
                <a:solidFill>
                  <a:srgbClr val="2D2D2D"/>
                </a:solidFill>
                <a:latin typeface="Arial"/>
                <a:cs typeface="Arial"/>
              </a:rPr>
              <a:t>متطلبات مؤهلات الموظفين</a:t>
            </a:r>
            <a:r>
              <a:rPr lang="ar-SA" sz="1500" dirty="0">
                <a:solidFill>
                  <a:srgbClr val="2D2D2D"/>
                </a:solidFill>
                <a:latin typeface="Arial"/>
                <a:cs typeface="Arial"/>
              </a:rPr>
              <a:t> أي نوع الشخص الذي يحتاجونه للدور. ثم يتم الإعلان عن الوظيفة. </a:t>
            </a:r>
          </a:p>
          <a:p>
            <a:pPr rtl="1"/>
            <a:r>
              <a:rPr lang="ar-SA" sz="1500" b="1" dirty="0">
                <a:solidFill>
                  <a:srgbClr val="2D2D2D"/>
                </a:solidFill>
                <a:latin typeface="Arial"/>
                <a:cs typeface="Arial"/>
              </a:rPr>
              <a:t>إعلان الوظيفة</a:t>
            </a:r>
            <a:r>
              <a:rPr lang="ar-SA" sz="1500" dirty="0">
                <a:solidFill>
                  <a:srgbClr val="2D2D2D"/>
                </a:solidFill>
                <a:latin typeface="Arial"/>
                <a:cs typeface="Arial"/>
              </a:rPr>
              <a:t> يعني الترويج للوظيفة الشاغرة في أماكن يمكن للمرشحين المحتملين المناسبين رؤيتها، مثل مواقع التوظيف عبر الإنترنت، وموقع الشركة على الإنترنت، والصحف الخ.</a:t>
            </a:r>
          </a:p>
        </p:txBody>
      </p:sp>
      <p:sp>
        <p:nvSpPr>
          <p:cNvPr id="5" name="TextBox 4">
            <a:extLst>
              <a:ext uri="{FF2B5EF4-FFF2-40B4-BE49-F238E27FC236}">
                <a16:creationId xmlns:a16="http://schemas.microsoft.com/office/drawing/2014/main" id="{89DD4F1D-2875-C47C-D1FB-78E8F22C3AFB}"/>
              </a:ext>
            </a:extLst>
          </p:cNvPr>
          <p:cNvSpPr txBox="1"/>
          <p:nvPr/>
        </p:nvSpPr>
        <p:spPr>
          <a:xfrm>
            <a:off x="5266945" y="5409181"/>
            <a:ext cx="2861138" cy="646331"/>
          </a:xfrm>
          <a:prstGeom prst="rect">
            <a:avLst/>
          </a:prstGeom>
          <a:noFill/>
          <a:ln>
            <a:solidFill>
              <a:schemeClr val="tx1"/>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SA" dirty="0">
                <a:latin typeface="Arial"/>
                <a:cs typeface="Arial"/>
              </a:rPr>
              <a:t>لماذا يعد تحليل الوظيفة ضروريًا؟</a:t>
            </a:r>
          </a:p>
          <a:p>
            <a:pPr rtl="1"/>
            <a:endParaRPr lang="ar-SA" dirty="0">
              <a:solidFill>
                <a:srgbClr val="FF0000"/>
              </a:solidFill>
            </a:endParaRPr>
          </a:p>
        </p:txBody>
      </p:sp>
      <p:sp>
        <p:nvSpPr>
          <p:cNvPr id="6" name="TextBox 5">
            <a:extLst>
              <a:ext uri="{FF2B5EF4-FFF2-40B4-BE49-F238E27FC236}">
                <a16:creationId xmlns:a16="http://schemas.microsoft.com/office/drawing/2014/main" id="{6BB7D72B-F3C1-41C0-41D9-D86098F7A425}"/>
              </a:ext>
            </a:extLst>
          </p:cNvPr>
          <p:cNvSpPr txBox="1"/>
          <p:nvPr/>
        </p:nvSpPr>
        <p:spPr>
          <a:xfrm>
            <a:off x="868642" y="5412973"/>
            <a:ext cx="3522942" cy="646331"/>
          </a:xfrm>
          <a:prstGeom prst="rect">
            <a:avLst/>
          </a:prstGeom>
          <a:noFill/>
          <a:ln>
            <a:solidFill>
              <a:schemeClr val="tx1"/>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SA" dirty="0">
                <a:latin typeface="Arial"/>
                <a:cs typeface="Arial"/>
              </a:rPr>
              <a:t>أين يمكن أن تعلن المدرسة عن شاغر </a:t>
            </a:r>
            <a:br>
              <a:rPr lang="ar-SA" dirty="0">
                <a:latin typeface="Arial"/>
                <a:cs typeface="Arial"/>
              </a:rPr>
            </a:br>
            <a:r>
              <a:rPr lang="ar-SA" dirty="0">
                <a:latin typeface="Arial"/>
                <a:cs typeface="Arial"/>
              </a:rPr>
              <a:t>وظيفي لوظائف التدريس؟ ولماذا؟</a:t>
            </a:r>
            <a:endParaRPr lang="ar-SA" dirty="0"/>
          </a:p>
        </p:txBody>
      </p:sp>
      <p:sp>
        <p:nvSpPr>
          <p:cNvPr id="7" name="Footer Placeholder 2">
            <a:extLst>
              <a:ext uri="{FF2B5EF4-FFF2-40B4-BE49-F238E27FC236}">
                <a16:creationId xmlns:a16="http://schemas.microsoft.com/office/drawing/2014/main" id="{F49F39B1-795F-9CD7-77A1-3449AC94D5D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96651681"/>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FA1C6-BFB7-3232-A8ED-D50A57758AB6}"/>
              </a:ext>
            </a:extLst>
          </p:cNvPr>
          <p:cNvSpPr>
            <a:spLocks noGrp="1"/>
          </p:cNvSpPr>
          <p:nvPr>
            <p:ph type="title"/>
          </p:nvPr>
        </p:nvSpPr>
        <p:spPr>
          <a:xfrm>
            <a:off x="-1002467" y="947517"/>
            <a:ext cx="9996565" cy="863600"/>
          </a:xfrm>
        </p:spPr>
        <p:txBody>
          <a:bodyPr rtlCol="1"/>
          <a:lstStyle/>
          <a:p>
            <a:pPr algn="r" rtl="1"/>
            <a:r>
              <a:rPr lang="ar-SA" sz="2800" dirty="0">
                <a:latin typeface="Arial"/>
                <a:cs typeface="Arial"/>
              </a:rPr>
              <a:t>تحليل متطلبات الوظيفة والإعلان عن الوظائف الشاغرة</a:t>
            </a:r>
          </a:p>
        </p:txBody>
      </p:sp>
      <p:sp>
        <p:nvSpPr>
          <p:cNvPr id="3" name="TextBox 2">
            <a:extLst>
              <a:ext uri="{FF2B5EF4-FFF2-40B4-BE49-F238E27FC236}">
                <a16:creationId xmlns:a16="http://schemas.microsoft.com/office/drawing/2014/main" id="{BCE9353C-9CA5-A6E9-D177-6329FD750806}"/>
              </a:ext>
            </a:extLst>
          </p:cNvPr>
          <p:cNvSpPr txBox="1"/>
          <p:nvPr/>
        </p:nvSpPr>
        <p:spPr>
          <a:xfrm>
            <a:off x="209797" y="1894030"/>
            <a:ext cx="4328465" cy="4493538"/>
          </a:xfrm>
          <a:prstGeom prst="rect">
            <a:avLst/>
          </a:prstGeom>
          <a:noFill/>
          <a:ln>
            <a:solidFill>
              <a:srgbClr val="7030A0"/>
            </a:solidFill>
          </a:ln>
        </p:spPr>
        <p:txBody>
          <a:bodyPr wrap="square" lIns="91440" tIns="45720" rIns="91440" bIns="45720" rtlCol="1" anchor="t">
            <a:spAutoFit/>
          </a:bodyPr>
          <a:lstStyle/>
          <a:p>
            <a:pPr rtl="1"/>
            <a:r>
              <a:rPr lang="ar-SA" sz="2200" b="1" dirty="0">
                <a:latin typeface="Arial"/>
                <a:cs typeface="Arial"/>
              </a:rPr>
              <a:t>المهمة الثانية</a:t>
            </a:r>
          </a:p>
          <a:p>
            <a:pPr rtl="1"/>
            <a:endParaRPr lang="ar-SA" sz="2200" dirty="0">
              <a:latin typeface="Arial"/>
              <a:cs typeface="Arial"/>
            </a:endParaRPr>
          </a:p>
          <a:p>
            <a:pPr rtl="1"/>
            <a:r>
              <a:rPr lang="ar-SA" sz="2200" dirty="0">
                <a:latin typeface="Arial"/>
                <a:cs typeface="Arial"/>
              </a:rPr>
              <a:t>العثور على إعلانات وظائف مختلفة. </a:t>
            </a:r>
            <a:endParaRPr lang="ar-SA" sz="2200" dirty="0"/>
          </a:p>
          <a:p>
            <a:pPr rtl="1"/>
            <a:endParaRPr lang="ar-SA" sz="2200" dirty="0">
              <a:latin typeface="Arial"/>
              <a:cs typeface="Arial"/>
            </a:endParaRPr>
          </a:p>
          <a:p>
            <a:pPr rtl="1"/>
            <a:r>
              <a:rPr lang="ar-SA" sz="2200" dirty="0">
                <a:latin typeface="Arial"/>
                <a:cs typeface="Arial"/>
              </a:rPr>
              <a:t>ابحث واشرح:</a:t>
            </a:r>
          </a:p>
          <a:p>
            <a:pPr rtl="1"/>
            <a:endParaRPr lang="ar-SA" sz="2200" dirty="0">
              <a:latin typeface="Arial"/>
              <a:cs typeface="Arial"/>
            </a:endParaRPr>
          </a:p>
          <a:p>
            <a:pPr marL="457200" indent="-457200" rtl="1"/>
            <a:r>
              <a:rPr lang="ar-SA" sz="2200" dirty="0">
                <a:latin typeface="Arial"/>
                <a:cs typeface="Arial"/>
              </a:rPr>
              <a:t>أ.	ما هي الاختلافات بين الأساليب </a:t>
            </a:r>
            <a:br>
              <a:rPr lang="ar-SA" sz="2200" dirty="0">
                <a:latin typeface="Arial"/>
                <a:cs typeface="Arial"/>
              </a:rPr>
            </a:br>
            <a:r>
              <a:rPr lang="ar-SA" sz="2200" dirty="0">
                <a:latin typeface="Arial"/>
                <a:cs typeface="Arial"/>
              </a:rPr>
              <a:t>الثلاثة للإعلان؟</a:t>
            </a:r>
          </a:p>
          <a:p>
            <a:pPr marL="457200" indent="-457200" rtl="1"/>
            <a:r>
              <a:rPr lang="ar-SA" sz="2200" dirty="0">
                <a:latin typeface="Arial"/>
                <a:cs typeface="Arial"/>
              </a:rPr>
              <a:t>ب.	لماذا قد تستخدم الشركة أساليب مختلفة؟</a:t>
            </a:r>
          </a:p>
          <a:p>
            <a:pPr marL="457200" indent="-457200"/>
            <a:r>
              <a:rPr lang="ar-SA" sz="2200" dirty="0">
                <a:latin typeface="Arial"/>
                <a:cs typeface="Arial"/>
              </a:rPr>
              <a:t>ج.	ما هي أنواع الوظائف التي يمكن الإعلان عنها باستخدام كل طريقة ولماذا.</a:t>
            </a:r>
          </a:p>
          <a:p>
            <a:pPr marL="457200" indent="-457200"/>
            <a:endParaRPr lang="ar-SA" sz="2200" dirty="0">
              <a:latin typeface="Arial"/>
              <a:cs typeface="Arial"/>
            </a:endParaRPr>
          </a:p>
          <a:p>
            <a:pPr marL="457200" indent="-457200"/>
            <a:endParaRPr lang="ar-SA" sz="2200" dirty="0">
              <a:latin typeface="Arial"/>
              <a:cs typeface="Arial"/>
            </a:endParaRPr>
          </a:p>
        </p:txBody>
      </p:sp>
      <p:sp>
        <p:nvSpPr>
          <p:cNvPr id="6" name="TextBox 5">
            <a:extLst>
              <a:ext uri="{FF2B5EF4-FFF2-40B4-BE49-F238E27FC236}">
                <a16:creationId xmlns:a16="http://schemas.microsoft.com/office/drawing/2014/main" id="{9DE99859-586B-3CC0-78CE-E117DF849D11}"/>
              </a:ext>
            </a:extLst>
          </p:cNvPr>
          <p:cNvSpPr txBox="1"/>
          <p:nvPr/>
        </p:nvSpPr>
        <p:spPr>
          <a:xfrm>
            <a:off x="4669372" y="1894029"/>
            <a:ext cx="4328465" cy="4493538"/>
          </a:xfrm>
          <a:prstGeom prst="rect">
            <a:avLst/>
          </a:prstGeom>
          <a:noFill/>
          <a:ln>
            <a:solidFill>
              <a:srgbClr val="7030A0"/>
            </a:solidFill>
          </a:ln>
        </p:spPr>
        <p:txBody>
          <a:bodyPr wrap="square" lIns="91440" tIns="45720" rIns="91440" bIns="45720" rtlCol="1" anchor="t">
            <a:spAutoFit/>
          </a:bodyPr>
          <a:lstStyle/>
          <a:p>
            <a:pPr rtl="1"/>
            <a:r>
              <a:rPr lang="ar-SA" sz="2200" b="1" dirty="0">
                <a:latin typeface="Arial"/>
                <a:cs typeface="Arial"/>
              </a:rPr>
              <a:t>المهمة الأولى</a:t>
            </a:r>
          </a:p>
          <a:p>
            <a:pPr rtl="1"/>
            <a:endParaRPr lang="ar-SA" sz="2200" dirty="0">
              <a:latin typeface="Arial"/>
              <a:cs typeface="Arial"/>
            </a:endParaRPr>
          </a:p>
          <a:p>
            <a:pPr rtl="1"/>
            <a:r>
              <a:rPr lang="ar-SA" sz="2200" dirty="0">
                <a:latin typeface="Arial"/>
                <a:cs typeface="Arial"/>
              </a:rPr>
              <a:t>احصل على الوصف الوظيفي ومتطلبات مؤهلات الموظفين.</a:t>
            </a:r>
            <a:endParaRPr lang="ar-SA" dirty="0"/>
          </a:p>
          <a:p>
            <a:pPr rtl="1"/>
            <a:endParaRPr lang="ar-SA" sz="2200" dirty="0">
              <a:latin typeface="Arial"/>
              <a:cs typeface="Arial"/>
            </a:endParaRPr>
          </a:p>
          <a:p>
            <a:pPr rtl="1"/>
            <a:r>
              <a:rPr lang="ar-SA" sz="2200" dirty="0">
                <a:latin typeface="Arial"/>
                <a:cs typeface="Arial"/>
              </a:rPr>
              <a:t>يساعد هذا على فهم </a:t>
            </a:r>
            <a:r>
              <a:rPr lang="ar-SA" sz="2200" b="1" dirty="0">
                <a:latin typeface="Arial"/>
                <a:cs typeface="Arial"/>
              </a:rPr>
              <a:t>المرشح </a:t>
            </a:r>
            <a:r>
              <a:rPr lang="ar-SA" sz="2200" dirty="0">
                <a:latin typeface="Arial"/>
                <a:cs typeface="Arial"/>
              </a:rPr>
              <a:t>للوظيفة </a:t>
            </a:r>
            <a:br>
              <a:rPr lang="ar-SA" sz="2200" dirty="0">
                <a:latin typeface="Arial"/>
                <a:cs typeface="Arial"/>
              </a:rPr>
            </a:br>
            <a:r>
              <a:rPr lang="ar-SA" sz="2200" dirty="0">
                <a:latin typeface="Arial"/>
                <a:cs typeface="Arial"/>
              </a:rPr>
              <a:t>ونوع الشخص الذي تبحث الشركة عنه. </a:t>
            </a:r>
          </a:p>
          <a:p>
            <a:pPr rtl="1"/>
            <a:endParaRPr lang="ar-SA" sz="2200" dirty="0">
              <a:latin typeface="Arial"/>
              <a:cs typeface="Arial"/>
            </a:endParaRPr>
          </a:p>
          <a:p>
            <a:pPr rtl="1"/>
            <a:r>
              <a:rPr lang="ar-SA" sz="2200" dirty="0">
                <a:latin typeface="Arial"/>
                <a:cs typeface="Arial"/>
              </a:rPr>
              <a:t>حدد سببين تقوم من أجلهما الشركة بإنتاج الوصف الوظيفي ومتطلبات مؤهلات الموظفين</a:t>
            </a:r>
          </a:p>
          <a:p>
            <a:pPr rtl="1"/>
            <a:endParaRPr lang="ar-SA" sz="2200" dirty="0">
              <a:latin typeface="Arial"/>
              <a:cs typeface="Arial"/>
            </a:endParaRPr>
          </a:p>
          <a:p>
            <a:pPr rtl="1"/>
            <a:endParaRPr lang="ar-SA" sz="2200" dirty="0">
              <a:latin typeface="Arial"/>
              <a:cs typeface="Arial"/>
            </a:endParaRPr>
          </a:p>
          <a:p>
            <a:pPr rtl="1"/>
            <a:endParaRPr lang="ar-SA" sz="2200" dirty="0">
              <a:latin typeface="Arial"/>
              <a:cs typeface="Arial"/>
            </a:endParaRPr>
          </a:p>
        </p:txBody>
      </p:sp>
      <p:sp>
        <p:nvSpPr>
          <p:cNvPr id="4" name="Footer Placeholder 2">
            <a:extLst>
              <a:ext uri="{FF2B5EF4-FFF2-40B4-BE49-F238E27FC236}">
                <a16:creationId xmlns:a16="http://schemas.microsoft.com/office/drawing/2014/main" id="{2EF1F16D-AD90-D5BA-0731-02EC2DF29DB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81573" y="2003675"/>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SA" sz="1800" b="1" dirty="0">
                <a:latin typeface="Arial"/>
                <a:cs typeface="Arial"/>
              </a:rPr>
              <a:t>المسمى الوظيفي:</a:t>
            </a:r>
            <a:r>
              <a:rPr lang="ar-SA" sz="1800" dirty="0">
                <a:latin typeface="Arial"/>
                <a:cs typeface="Arial"/>
              </a:rPr>
              <a:t> مدرس للمستوى الثاني في برنامج BTEC لإدارة الأعمال</a:t>
            </a:r>
          </a:p>
          <a:p>
            <a:pPr indent="0" rtl="1">
              <a:buNone/>
            </a:pPr>
            <a:r>
              <a:rPr lang="ar-SA" sz="1800" b="1" dirty="0">
                <a:latin typeface="Arial"/>
                <a:cs typeface="Arial"/>
              </a:rPr>
              <a:t>الموقع:</a:t>
            </a:r>
          </a:p>
          <a:p>
            <a:pPr indent="0" rtl="1">
              <a:buNone/>
            </a:pPr>
            <a:r>
              <a:rPr lang="ar-SA" sz="1800" b="1" dirty="0">
                <a:latin typeface="Arial"/>
                <a:cs typeface="Arial"/>
              </a:rPr>
              <a:t>وصف للمدرسة/ المعهد:</a:t>
            </a:r>
          </a:p>
          <a:p>
            <a:pPr indent="0" rtl="1">
              <a:buNone/>
            </a:pPr>
            <a:r>
              <a:rPr lang="ar-SA" sz="1800" b="1" dirty="0">
                <a:latin typeface="Arial"/>
                <a:cs typeface="Arial"/>
              </a:rPr>
              <a:t>غرض الوظيفة:</a:t>
            </a:r>
          </a:p>
          <a:p>
            <a:pPr indent="0" rtl="1">
              <a:buNone/>
            </a:pPr>
            <a:r>
              <a:rPr lang="ar-SA" sz="1800" b="1" dirty="0">
                <a:latin typeface="Arial"/>
                <a:cs typeface="Arial"/>
              </a:rPr>
              <a:t>المهام الرئيسية:</a:t>
            </a:r>
          </a:p>
          <a:p>
            <a:pPr indent="0" rtl="1">
              <a:buNone/>
            </a:pPr>
            <a:r>
              <a:rPr lang="ar-SA" sz="1800" b="1" dirty="0">
                <a:latin typeface="Arial"/>
                <a:cs typeface="Arial"/>
              </a:rPr>
              <a:t>المتطلبات الأساسية:</a:t>
            </a:r>
          </a:p>
          <a:p>
            <a:pPr indent="0" rtl="1">
              <a:buNone/>
            </a:pPr>
            <a:r>
              <a:rPr lang="ar-SA" sz="1800" b="1" dirty="0">
                <a:latin typeface="Arial"/>
                <a:cs typeface="Arial"/>
              </a:rPr>
              <a:t>المتطلبات المرغوبة:</a:t>
            </a:r>
          </a:p>
          <a:p>
            <a:pPr indent="0" rtl="1">
              <a:buNone/>
            </a:pPr>
            <a:r>
              <a:rPr lang="ar-SA" sz="1800" b="1" dirty="0">
                <a:latin typeface="Arial"/>
                <a:cs typeface="Arial"/>
              </a:rPr>
              <a:t>التسلسل الإداري:</a:t>
            </a:r>
          </a:p>
          <a:p>
            <a:pPr indent="0" rtl="1">
              <a:buNone/>
            </a:pPr>
            <a:r>
              <a:rPr lang="ar-SA" sz="1800" b="1" dirty="0">
                <a:latin typeface="Arial"/>
                <a:cs typeface="Arial"/>
              </a:rPr>
              <a:t>الراتب:</a:t>
            </a:r>
          </a:p>
          <a:p>
            <a:pPr indent="0" rtl="1">
              <a:buNone/>
            </a:pPr>
            <a:r>
              <a:rPr lang="ar-SA" sz="1800" b="1" dirty="0">
                <a:latin typeface="Arial"/>
                <a:cs typeface="Arial"/>
              </a:rPr>
              <a:t>المزايا:</a:t>
            </a:r>
          </a:p>
          <a:p>
            <a:pPr indent="0" rtl="1">
              <a:buNone/>
            </a:pPr>
            <a:r>
              <a:rPr lang="ar-SA" sz="1800" b="1" dirty="0">
                <a:latin typeface="Arial"/>
                <a:cs typeface="Arial"/>
              </a:rPr>
              <a:t>فرص الترقي:</a:t>
            </a:r>
          </a:p>
          <a:p>
            <a:pPr indent="0" rtl="1">
              <a:buNone/>
            </a:pPr>
            <a:r>
              <a:rPr lang="ar-SA" sz="1800" b="1" dirty="0">
                <a:latin typeface="Arial"/>
                <a:cs typeface="Arial"/>
              </a:rPr>
              <a:t>تاريخ البدء:</a:t>
            </a:r>
          </a:p>
          <a:p>
            <a:pPr indent="0" rtl="1">
              <a:buNone/>
            </a:pPr>
            <a:r>
              <a:rPr lang="ar-SA" sz="1800" b="1" dirty="0">
                <a:latin typeface="Arial"/>
                <a:cs typeface="Arial"/>
              </a:rPr>
              <a:t>الأساس:</a:t>
            </a:r>
          </a:p>
          <a:p>
            <a:pPr indent="0" rtl="1">
              <a:buNone/>
            </a:pPr>
            <a:endParaRPr lang="ar-SA" altLang="en-US" dirty="0"/>
          </a:p>
          <a:p>
            <a:pPr marL="685800" rtl="1"/>
            <a:endParaRPr lang="ar-SA" altLang="en-US" dirty="0"/>
          </a:p>
        </p:txBody>
      </p:sp>
      <p:sp>
        <p:nvSpPr>
          <p:cNvPr id="2" name="TextBox 1">
            <a:extLst>
              <a:ext uri="{FF2B5EF4-FFF2-40B4-BE49-F238E27FC236}">
                <a16:creationId xmlns:a16="http://schemas.microsoft.com/office/drawing/2014/main" id="{563B1C8D-2FFF-E1D2-7FEF-41CF0728644D}"/>
              </a:ext>
            </a:extLst>
          </p:cNvPr>
          <p:cNvSpPr txBox="1"/>
          <p:nvPr/>
        </p:nvSpPr>
        <p:spPr>
          <a:xfrm>
            <a:off x="826022" y="1254287"/>
            <a:ext cx="7885282" cy="646331"/>
          </a:xfrm>
          <a:prstGeom prst="rect">
            <a:avLst/>
          </a:prstGeom>
          <a:noFill/>
        </p:spPr>
        <p:txBody>
          <a:bodyPr wrap="square" rtlCol="1">
            <a:spAutoFit/>
          </a:bodyPr>
          <a:lstStyle/>
          <a:p>
            <a:pPr rtl="1"/>
            <a:r>
              <a:rPr lang="ar-SA" sz="3600" b="1" dirty="0"/>
              <a:t>ب-2: محتويات الوصف الوظيفي</a:t>
            </a:r>
          </a:p>
        </p:txBody>
      </p:sp>
      <p:sp>
        <p:nvSpPr>
          <p:cNvPr id="3" name="Footer Placeholder 2">
            <a:extLst>
              <a:ext uri="{FF2B5EF4-FFF2-40B4-BE49-F238E27FC236}">
                <a16:creationId xmlns:a16="http://schemas.microsoft.com/office/drawing/2014/main" id="{90647F92-12E3-6896-167C-0EE9FEA873F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4061E-AA6E-A208-A5A7-5A298787D169}"/>
              </a:ext>
            </a:extLst>
          </p:cNvPr>
          <p:cNvSpPr>
            <a:spLocks noGrp="1"/>
          </p:cNvSpPr>
          <p:nvPr>
            <p:ph type="title"/>
          </p:nvPr>
        </p:nvSpPr>
        <p:spPr>
          <a:xfrm>
            <a:off x="703681" y="1278910"/>
            <a:ext cx="9864328" cy="863600"/>
          </a:xfrm>
        </p:spPr>
        <p:txBody>
          <a:bodyPr rtlCol="1"/>
          <a:lstStyle/>
          <a:p>
            <a:pPr rtl="1"/>
            <a:r>
              <a:rPr lang="ar" sz="3600" b="1" dirty="0"/>
              <a:t>ب3 محتويات متطلبات مؤهلات الموظفين</a:t>
            </a:r>
          </a:p>
        </p:txBody>
      </p:sp>
      <p:sp>
        <p:nvSpPr>
          <p:cNvPr id="3" name="Content Placeholder 2">
            <a:extLst>
              <a:ext uri="{FF2B5EF4-FFF2-40B4-BE49-F238E27FC236}">
                <a16:creationId xmlns:a16="http://schemas.microsoft.com/office/drawing/2014/main" id="{BCF7FAB7-123F-F388-C734-22602791FC09}"/>
              </a:ext>
            </a:extLst>
          </p:cNvPr>
          <p:cNvSpPr>
            <a:spLocks noGrp="1"/>
          </p:cNvSpPr>
          <p:nvPr>
            <p:ph sz="half" idx="2"/>
          </p:nvPr>
        </p:nvSpPr>
        <p:spPr>
          <a:xfrm>
            <a:off x="679320" y="2573477"/>
            <a:ext cx="7991475" cy="3609975"/>
          </a:xfrm>
        </p:spPr>
        <p:txBody>
          <a:bodyPr rtlCol="1"/>
          <a:lstStyle/>
          <a:p>
            <a:pPr marL="0" indent="0" rtl="1">
              <a:buNone/>
            </a:pPr>
            <a:r>
              <a:rPr lang="ar" b="1" dirty="0"/>
              <a:t>المسمى الوظيفي:</a:t>
            </a:r>
            <a:r>
              <a:rPr lang="ar" dirty="0"/>
              <a:t> مدرس للمستوى الثاني في برنامج BTEC لإدارة الأعمال</a:t>
            </a:r>
          </a:p>
          <a:p>
            <a:pPr marL="0" indent="0" rtl="1">
              <a:buNone/>
            </a:pPr>
            <a:r>
              <a:rPr lang="ar" b="1" dirty="0"/>
              <a:t>الإنجازات:</a:t>
            </a:r>
          </a:p>
          <a:p>
            <a:pPr marL="0" indent="0" rtl="1">
              <a:buNone/>
            </a:pPr>
            <a:r>
              <a:rPr lang="ar" b="1" dirty="0"/>
              <a:t>الكفاءة:</a:t>
            </a:r>
          </a:p>
          <a:p>
            <a:pPr marL="0" indent="0" rtl="1">
              <a:buNone/>
            </a:pPr>
            <a:r>
              <a:rPr lang="ar" b="1" dirty="0"/>
              <a:t>القدرات أو المهارات الخاصة:</a:t>
            </a:r>
          </a:p>
          <a:p>
            <a:pPr marL="0" indent="0" rtl="1">
              <a:buNone/>
            </a:pPr>
            <a:r>
              <a:rPr lang="ar" b="1" dirty="0"/>
              <a:t>السمات الأساسية:</a:t>
            </a:r>
          </a:p>
          <a:p>
            <a:pPr marL="0" indent="0" rtl="1">
              <a:buNone/>
            </a:pPr>
            <a:r>
              <a:rPr lang="ar" b="1" dirty="0"/>
              <a:t>السمات المرغوبة:</a:t>
            </a:r>
          </a:p>
          <a:p>
            <a:pPr marL="0" indent="0" rtl="1">
              <a:buNone/>
            </a:pPr>
            <a:r>
              <a:rPr lang="ar" b="1" dirty="0"/>
              <a:t>الميول:</a:t>
            </a:r>
          </a:p>
          <a:p>
            <a:pPr marL="0" indent="0" rtl="1">
              <a:buNone/>
            </a:pPr>
            <a:r>
              <a:rPr lang="ar" b="1" dirty="0"/>
              <a:t>الظروف:</a:t>
            </a:r>
          </a:p>
        </p:txBody>
      </p:sp>
      <p:sp>
        <p:nvSpPr>
          <p:cNvPr id="5" name="Footer Placeholder 2">
            <a:extLst>
              <a:ext uri="{FF2B5EF4-FFF2-40B4-BE49-F238E27FC236}">
                <a16:creationId xmlns:a16="http://schemas.microsoft.com/office/drawing/2014/main" id="{505C92D3-7320-4849-B63A-5A1B8EDA4C0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033878284"/>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SA" sz="2400" dirty="0"/>
              <a:t>هدف التعلم ج</a:t>
            </a:r>
            <a:br>
              <a:rPr lang="ar-SA" altLang="en-US" sz="2400" dirty="0"/>
            </a:br>
            <a:br>
              <a:rPr lang="ar-SA" altLang="en-US" sz="2400" dirty="0"/>
            </a:br>
            <a:endParaRPr lang="ar-SA"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08480" y="3706969"/>
            <a:ext cx="4426345"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SA" b="1" dirty="0">
                <a:latin typeface="Arial"/>
                <a:cs typeface="Arial"/>
              </a:rPr>
              <a:t>ج1 التقديم للوظائف</a:t>
            </a:r>
            <a:endParaRPr lang="ar-SA" dirty="0"/>
          </a:p>
          <a:p>
            <a:pPr indent="0" rtl="1">
              <a:buNone/>
            </a:pPr>
            <a:r>
              <a:rPr lang="ar-SA" b="1" dirty="0">
                <a:latin typeface="Arial"/>
                <a:cs typeface="Arial"/>
              </a:rPr>
              <a:t>ج2 المقابلة</a:t>
            </a:r>
            <a:endParaRPr lang="ar-SA" altLang="en-US" b="1" dirty="0">
              <a:latin typeface="Arial" charset="0"/>
              <a:cs typeface="Arial"/>
            </a:endParaRPr>
          </a:p>
          <a:p>
            <a:pPr indent="0" rtl="1">
              <a:buNone/>
            </a:pPr>
            <a:r>
              <a:rPr lang="ar-SA" b="1" dirty="0">
                <a:latin typeface="Arial"/>
                <a:cs typeface="Arial"/>
              </a:rPr>
              <a:t>ج3 التدقيق في المهارات الشخصية</a:t>
            </a:r>
            <a:endParaRPr lang="ar-SA" altLang="en-US" b="1" dirty="0">
              <a:latin typeface="Arial" charset="0"/>
              <a:cs typeface="Arial"/>
            </a:endParaRPr>
          </a:p>
          <a:p>
            <a:pPr indent="0" rtl="1">
              <a:buNone/>
            </a:pPr>
            <a:r>
              <a:rPr lang="ar-SA" b="1" dirty="0">
                <a:latin typeface="Arial"/>
                <a:cs typeface="Arial"/>
              </a:rPr>
              <a:t>ج4 التطوُّر الوظيفي</a:t>
            </a:r>
            <a:endParaRPr lang="ar-SA" altLang="en-US" b="1" dirty="0">
              <a:latin typeface="Arial" charset="0"/>
              <a:cs typeface="Arial"/>
            </a:endParaRPr>
          </a:p>
          <a:p>
            <a:pPr marL="685800" algn="ctr" rtl="1"/>
            <a:endParaRPr lang="ar-SA" altLang="en-US"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rtlCol="1" anchor="t"/>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SA" sz="3600" b="1" dirty="0">
                <a:latin typeface="Arial"/>
                <a:cs typeface="Arial"/>
              </a:rPr>
              <a:t>التخطيط للتوظيف والاستعداد له</a:t>
            </a:r>
            <a:endParaRPr lang="ar-SA" altLang="en-US" sz="3600" b="1" dirty="0"/>
          </a:p>
        </p:txBody>
      </p:sp>
      <p:sp>
        <p:nvSpPr>
          <p:cNvPr id="2" name="Footer Placeholder 2">
            <a:extLst>
              <a:ext uri="{FF2B5EF4-FFF2-40B4-BE49-F238E27FC236}">
                <a16:creationId xmlns:a16="http://schemas.microsoft.com/office/drawing/2014/main" id="{B2642533-67AB-45BC-5B01-31B28B54DB0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418359881"/>
      </p:ext>
    </p:extLst>
  </p:cSld>
  <p:clrMapOvr>
    <a:masterClrMapping/>
  </p:clrMapOvr>
  <p:transition>
    <p:sndAc>
      <p:stSnd>
        <p:snd r:embed="rId3" name="click.wav"/>
      </p:stSnd>
    </p:sndAc>
  </p:transition>
  <p:extLst>
    <p:ext uri="{6950BFC3-D8DA-4A85-94F7-54DA5524770B}">
      <p188:commentRel xmlns:p188="http://schemas.microsoft.com/office/powerpoint/2018/8/main" r:id="rId4"/>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D830-E4AD-4B40-46CA-8DD117D20EF6}"/>
              </a:ext>
            </a:extLst>
          </p:cNvPr>
          <p:cNvSpPr>
            <a:spLocks noGrp="1"/>
          </p:cNvSpPr>
          <p:nvPr>
            <p:ph type="title"/>
          </p:nvPr>
        </p:nvSpPr>
        <p:spPr>
          <a:xfrm>
            <a:off x="3123645" y="1153904"/>
            <a:ext cx="8229600" cy="863600"/>
          </a:xfrm>
        </p:spPr>
        <p:txBody>
          <a:bodyPr rtlCol="1"/>
          <a:lstStyle/>
          <a:p>
            <a:pPr rtl="1"/>
            <a:r>
              <a:rPr lang="ar" sz="3600" b="1" dirty="0"/>
              <a:t>ج1 التقديم للوظائف</a:t>
            </a:r>
          </a:p>
        </p:txBody>
      </p:sp>
      <p:sp>
        <p:nvSpPr>
          <p:cNvPr id="3" name="Content Placeholder 2">
            <a:extLst>
              <a:ext uri="{FF2B5EF4-FFF2-40B4-BE49-F238E27FC236}">
                <a16:creationId xmlns:a16="http://schemas.microsoft.com/office/drawing/2014/main" id="{360CE817-1223-E127-2925-C5462F238244}"/>
              </a:ext>
            </a:extLst>
          </p:cNvPr>
          <p:cNvSpPr>
            <a:spLocks noGrp="1"/>
          </p:cNvSpPr>
          <p:nvPr>
            <p:ph sz="half" idx="2"/>
          </p:nvPr>
        </p:nvSpPr>
        <p:spPr>
          <a:xfrm>
            <a:off x="785096" y="2430498"/>
            <a:ext cx="7991475" cy="3609975"/>
          </a:xfrm>
        </p:spPr>
        <p:txBody>
          <a:bodyPr rtlCol="1"/>
          <a:lstStyle/>
          <a:p>
            <a:pPr marL="0" indent="0" rtl="1">
              <a:buNone/>
            </a:pPr>
            <a:r>
              <a:rPr lang="ar" b="1" dirty="0">
                <a:latin typeface="Arial"/>
                <a:cs typeface="Arial"/>
              </a:rPr>
              <a:t>نماذج طلبات التقديم</a:t>
            </a:r>
          </a:p>
          <a:p>
            <a:pPr rtl="1"/>
            <a:r>
              <a:rPr lang="ar" dirty="0">
                <a:latin typeface="Arial"/>
                <a:cs typeface="Arial"/>
              </a:rPr>
              <a:t>البحث والعثور على ثلاث نماذج مختلفة لطلبات التقديم من شركات متنوعة لدورٍ مماثلٍ.</a:t>
            </a:r>
          </a:p>
          <a:p>
            <a:pPr rtl="1"/>
            <a:r>
              <a:rPr lang="ar" dirty="0">
                <a:latin typeface="Arial"/>
                <a:cs typeface="Arial"/>
              </a:rPr>
              <a:t>ما هي أوجه التشابه؟</a:t>
            </a:r>
          </a:p>
          <a:p>
            <a:pPr rtl="1"/>
            <a:r>
              <a:rPr lang="ar" dirty="0">
                <a:latin typeface="Arial"/>
                <a:cs typeface="Arial"/>
              </a:rPr>
              <a:t>ما هي أوجه الاختلاف؟</a:t>
            </a:r>
          </a:p>
          <a:p>
            <a:pPr rtl="1"/>
            <a:r>
              <a:rPr lang="ar" dirty="0">
                <a:latin typeface="Arial"/>
                <a:cs typeface="Arial"/>
              </a:rPr>
              <a:t>ضع قائمة بأهم أقسام طلب التقديم للوظيفة</a:t>
            </a:r>
          </a:p>
          <a:p>
            <a:pPr rtl="1"/>
            <a:r>
              <a:rPr lang="ar" dirty="0">
                <a:latin typeface="Arial"/>
                <a:cs typeface="Arial"/>
              </a:rPr>
              <a:t>ناقش أفضل الممارسات في ملء طلب التقديم للوظيفة</a:t>
            </a:r>
          </a:p>
        </p:txBody>
      </p:sp>
      <p:sp>
        <p:nvSpPr>
          <p:cNvPr id="5" name="Footer Placeholder 2">
            <a:extLst>
              <a:ext uri="{FF2B5EF4-FFF2-40B4-BE49-F238E27FC236}">
                <a16:creationId xmlns:a16="http://schemas.microsoft.com/office/drawing/2014/main" id="{73FA11D7-6366-D15C-4F62-868D68E9672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43967074"/>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D830-E4AD-4B40-46CA-8DD117D20EF6}"/>
              </a:ext>
            </a:extLst>
          </p:cNvPr>
          <p:cNvSpPr>
            <a:spLocks noGrp="1"/>
          </p:cNvSpPr>
          <p:nvPr>
            <p:ph type="title"/>
          </p:nvPr>
        </p:nvSpPr>
        <p:spPr>
          <a:xfrm>
            <a:off x="3124770" y="1500551"/>
            <a:ext cx="8229600" cy="863600"/>
          </a:xfrm>
        </p:spPr>
        <p:txBody>
          <a:bodyPr rtlCol="1"/>
          <a:lstStyle/>
          <a:p>
            <a:pPr rtl="1"/>
            <a:r>
              <a:rPr lang="ar" sz="3600" b="1" dirty="0"/>
              <a:t>ج1 التقديم للوظائف</a:t>
            </a:r>
          </a:p>
        </p:txBody>
      </p:sp>
      <p:sp>
        <p:nvSpPr>
          <p:cNvPr id="3" name="Content Placeholder 2">
            <a:extLst>
              <a:ext uri="{FF2B5EF4-FFF2-40B4-BE49-F238E27FC236}">
                <a16:creationId xmlns:a16="http://schemas.microsoft.com/office/drawing/2014/main" id="{360CE817-1223-E127-2925-C5462F238244}"/>
              </a:ext>
            </a:extLst>
          </p:cNvPr>
          <p:cNvSpPr>
            <a:spLocks noGrp="1"/>
          </p:cNvSpPr>
          <p:nvPr>
            <p:ph sz="half" idx="2"/>
          </p:nvPr>
        </p:nvSpPr>
        <p:spPr>
          <a:xfrm>
            <a:off x="803833" y="2655350"/>
            <a:ext cx="7991475" cy="3609975"/>
          </a:xfrm>
        </p:spPr>
        <p:txBody>
          <a:bodyPr rtlCol="1"/>
          <a:lstStyle/>
          <a:p>
            <a:pPr marL="0" indent="0" rtl="1">
              <a:buNone/>
            </a:pPr>
            <a:r>
              <a:rPr lang="ar" b="1" dirty="0"/>
              <a:t>السيرة الذاتية</a:t>
            </a:r>
          </a:p>
          <a:p>
            <a:pPr rtl="1"/>
            <a:r>
              <a:rPr lang="ar" dirty="0"/>
              <a:t>البحث والعثور على ثلاث سير ذاتية مكتملة مختلفة</a:t>
            </a:r>
          </a:p>
          <a:p>
            <a:pPr rtl="1"/>
            <a:r>
              <a:rPr lang="ar" dirty="0"/>
              <a:t>ما هي أوجه التشابه؟</a:t>
            </a:r>
          </a:p>
          <a:p>
            <a:pPr rtl="1"/>
            <a:r>
              <a:rPr lang="ar" dirty="0"/>
              <a:t>ما هي أوجه الاختلاف؟</a:t>
            </a:r>
          </a:p>
          <a:p>
            <a:pPr rtl="1"/>
            <a:r>
              <a:rPr lang="ar" dirty="0"/>
              <a:t>ضع قائمة بالمعلومات الرئيسية المدرجة في السيرة الذاتية. </a:t>
            </a:r>
          </a:p>
          <a:p>
            <a:pPr rtl="1"/>
            <a:r>
              <a:rPr lang="ar" dirty="0"/>
              <a:t>ناقش أفضل الممارسات في كتابة السيرة الذاتية</a:t>
            </a:r>
          </a:p>
          <a:p>
            <a:pPr rtl="1"/>
            <a:r>
              <a:rPr lang="ar" dirty="0"/>
              <a:t>أيها هو الأفضل ولماذا؟</a:t>
            </a:r>
          </a:p>
        </p:txBody>
      </p:sp>
      <p:sp>
        <p:nvSpPr>
          <p:cNvPr id="5" name="Footer Placeholder 2">
            <a:extLst>
              <a:ext uri="{FF2B5EF4-FFF2-40B4-BE49-F238E27FC236}">
                <a16:creationId xmlns:a16="http://schemas.microsoft.com/office/drawing/2014/main" id="{EA705C71-F406-E004-42DB-EFC04F00ABE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94799433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D830-E4AD-4B40-46CA-8DD117D20EF6}"/>
              </a:ext>
            </a:extLst>
          </p:cNvPr>
          <p:cNvSpPr>
            <a:spLocks noGrp="1"/>
          </p:cNvSpPr>
          <p:nvPr>
            <p:ph type="title"/>
          </p:nvPr>
        </p:nvSpPr>
        <p:spPr>
          <a:xfrm>
            <a:off x="3114726" y="1116428"/>
            <a:ext cx="8229600" cy="863600"/>
          </a:xfrm>
        </p:spPr>
        <p:txBody>
          <a:bodyPr rtlCol="1"/>
          <a:lstStyle/>
          <a:p>
            <a:pPr rtl="1"/>
            <a:r>
              <a:rPr lang="ar" sz="3600" b="1" dirty="0"/>
              <a:t>ج1 التقديم للوظائف</a:t>
            </a:r>
          </a:p>
        </p:txBody>
      </p:sp>
      <p:sp>
        <p:nvSpPr>
          <p:cNvPr id="3" name="Content Placeholder 2">
            <a:extLst>
              <a:ext uri="{FF2B5EF4-FFF2-40B4-BE49-F238E27FC236}">
                <a16:creationId xmlns:a16="http://schemas.microsoft.com/office/drawing/2014/main" id="{360CE817-1223-E127-2925-C5462F238244}"/>
              </a:ext>
            </a:extLst>
          </p:cNvPr>
          <p:cNvSpPr>
            <a:spLocks noGrp="1"/>
          </p:cNvSpPr>
          <p:nvPr>
            <p:ph sz="half" idx="2"/>
          </p:nvPr>
        </p:nvSpPr>
        <p:spPr>
          <a:xfrm>
            <a:off x="756989" y="2093219"/>
            <a:ext cx="7991475" cy="3609975"/>
          </a:xfrm>
        </p:spPr>
        <p:txBody>
          <a:bodyPr rtlCol="1"/>
          <a:lstStyle/>
          <a:p>
            <a:pPr marL="0" indent="0" rtl="1">
              <a:buNone/>
            </a:pPr>
            <a:r>
              <a:rPr lang="ar" b="1" dirty="0"/>
              <a:t>خطابات التقديم</a:t>
            </a:r>
          </a:p>
          <a:p>
            <a:pPr rtl="1"/>
            <a:r>
              <a:rPr lang="ar" dirty="0"/>
              <a:t>البحث والعثور على ثلاث خطابات تقديم مكتملة مختلفة.</a:t>
            </a:r>
          </a:p>
          <a:p>
            <a:pPr rtl="1"/>
            <a:r>
              <a:rPr lang="ar" dirty="0"/>
              <a:t>ما هي أوجه التشابه؟</a:t>
            </a:r>
          </a:p>
          <a:p>
            <a:pPr rtl="1"/>
            <a:r>
              <a:rPr lang="ar" dirty="0"/>
              <a:t>ما هي أوجه الاختلاف؟</a:t>
            </a:r>
          </a:p>
          <a:p>
            <a:pPr rtl="1"/>
            <a:r>
              <a:rPr lang="ar" dirty="0"/>
              <a:t>ضع قائمة بالمعلومات الرئيسية المدرجة في خطاب التقديم. </a:t>
            </a:r>
          </a:p>
          <a:p>
            <a:pPr rtl="1"/>
            <a:r>
              <a:rPr lang="ar" dirty="0"/>
              <a:t>ناقش أفضل الممارسات في كتابة خطاب التقديم</a:t>
            </a:r>
          </a:p>
          <a:p>
            <a:pPr rtl="1"/>
            <a:r>
              <a:rPr lang="ar" dirty="0"/>
              <a:t>أيها هو الأفضل ولماذا؟</a:t>
            </a:r>
          </a:p>
        </p:txBody>
      </p:sp>
      <p:sp>
        <p:nvSpPr>
          <p:cNvPr id="5" name="Footer Placeholder 2">
            <a:extLst>
              <a:ext uri="{FF2B5EF4-FFF2-40B4-BE49-F238E27FC236}">
                <a16:creationId xmlns:a16="http://schemas.microsoft.com/office/drawing/2014/main" id="{137533CA-36C2-A6BE-1E37-7468061454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72362085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D830-E4AD-4B40-46CA-8DD117D20EF6}"/>
              </a:ext>
            </a:extLst>
          </p:cNvPr>
          <p:cNvSpPr>
            <a:spLocks noGrp="1"/>
          </p:cNvSpPr>
          <p:nvPr>
            <p:ph type="title"/>
          </p:nvPr>
        </p:nvSpPr>
        <p:spPr>
          <a:xfrm>
            <a:off x="675627" y="963691"/>
            <a:ext cx="12241360" cy="935832"/>
          </a:xfrm>
        </p:spPr>
        <p:txBody>
          <a:bodyPr rtlCol="1"/>
          <a:lstStyle/>
          <a:p>
            <a:pPr marL="0" indent="0" rtl="1">
              <a:buNone/>
            </a:pPr>
            <a:r>
              <a:rPr lang="ar-SA" sz="3600" b="1" dirty="0"/>
              <a:t>الاختبارات السابقة للتقديم</a:t>
            </a:r>
          </a:p>
        </p:txBody>
      </p:sp>
      <p:sp>
        <p:nvSpPr>
          <p:cNvPr id="3" name="Content Placeholder 2">
            <a:extLst>
              <a:ext uri="{FF2B5EF4-FFF2-40B4-BE49-F238E27FC236}">
                <a16:creationId xmlns:a16="http://schemas.microsoft.com/office/drawing/2014/main" id="{360CE817-1223-E127-2925-C5462F238244}"/>
              </a:ext>
            </a:extLst>
          </p:cNvPr>
          <p:cNvSpPr>
            <a:spLocks noGrp="1"/>
          </p:cNvSpPr>
          <p:nvPr>
            <p:ph sz="half" idx="2"/>
          </p:nvPr>
        </p:nvSpPr>
        <p:spPr>
          <a:xfrm>
            <a:off x="-48603" y="1784048"/>
            <a:ext cx="8759592" cy="1728192"/>
          </a:xfrm>
        </p:spPr>
        <p:txBody>
          <a:bodyPr rtlCol="1"/>
          <a:lstStyle/>
          <a:p>
            <a:pPr marL="0" indent="0" rtl="1">
              <a:buNone/>
            </a:pPr>
            <a:r>
              <a:rPr lang="ar-SA" sz="2000" b="1" dirty="0">
                <a:latin typeface="Arial"/>
                <a:cs typeface="Arial"/>
              </a:rPr>
              <a:t>قم بتوصيل نوع الاختبار/ المتطلب مع أقرب وظيفة:</a:t>
            </a:r>
            <a:endParaRPr lang="ar-SA" sz="2000" dirty="0">
              <a:latin typeface="Arial"/>
              <a:cs typeface="Arial"/>
            </a:endParaRPr>
          </a:p>
          <a:p>
            <a:pPr marL="0" indent="0" rtl="1">
              <a:buNone/>
            </a:pPr>
            <a:endParaRPr lang="ar-SA" b="1" dirty="0"/>
          </a:p>
        </p:txBody>
      </p:sp>
      <p:sp>
        <p:nvSpPr>
          <p:cNvPr id="5" name="TextBox 4">
            <a:extLst>
              <a:ext uri="{FF2B5EF4-FFF2-40B4-BE49-F238E27FC236}">
                <a16:creationId xmlns:a16="http://schemas.microsoft.com/office/drawing/2014/main" id="{4B62594D-78A8-FBEA-CF60-4CCE2D3E56F1}"/>
              </a:ext>
            </a:extLst>
          </p:cNvPr>
          <p:cNvSpPr txBox="1"/>
          <p:nvPr/>
        </p:nvSpPr>
        <p:spPr>
          <a:xfrm>
            <a:off x="3404585" y="2202750"/>
            <a:ext cx="2363444" cy="3416320"/>
          </a:xfrm>
          <a:prstGeom prst="rect">
            <a:avLst/>
          </a:prstGeom>
          <a:noFill/>
        </p:spPr>
        <p:txBody>
          <a:bodyPr wrap="square" rtlCol="1">
            <a:spAutoFit/>
          </a:bodyPr>
          <a:lstStyle/>
          <a:p>
            <a:pPr rtl="1"/>
            <a:r>
              <a:rPr lang="ar-SA" dirty="0"/>
              <a:t>اختبار نفسي</a:t>
            </a:r>
          </a:p>
          <a:p>
            <a:pPr rtl="1"/>
            <a:endParaRPr lang="ar-SA" dirty="0"/>
          </a:p>
          <a:p>
            <a:pPr rtl="1"/>
            <a:r>
              <a:rPr lang="ar-SA" dirty="0"/>
              <a:t>اختبار لياقة بدنية</a:t>
            </a:r>
          </a:p>
          <a:p>
            <a:pPr rtl="1"/>
            <a:endParaRPr lang="ar-SA" dirty="0"/>
          </a:p>
          <a:p>
            <a:pPr rtl="1"/>
            <a:r>
              <a:rPr lang="ar-SA" dirty="0"/>
              <a:t>اختبار الرؤية</a:t>
            </a:r>
          </a:p>
          <a:p>
            <a:pPr rtl="1"/>
            <a:endParaRPr lang="ar-SA" dirty="0"/>
          </a:p>
          <a:p>
            <a:pPr rtl="1"/>
            <a:r>
              <a:rPr lang="ar-SA" dirty="0"/>
              <a:t>فحص سجل الحالة الجنائية</a:t>
            </a:r>
          </a:p>
          <a:p>
            <a:pPr rtl="1"/>
            <a:endParaRPr lang="ar-SA" dirty="0"/>
          </a:p>
          <a:p>
            <a:pPr rtl="1"/>
            <a:endParaRPr lang="ar-SA" dirty="0"/>
          </a:p>
          <a:p>
            <a:pPr rtl="1"/>
            <a:endParaRPr lang="ar-SA" b="1" dirty="0"/>
          </a:p>
          <a:p>
            <a:pPr rtl="1"/>
            <a:r>
              <a:rPr lang="ar-SA" b="1" dirty="0"/>
              <a:t>لماذا تفرض هذه الوظائف هذه الاختبارات/ المتطلبات؟</a:t>
            </a:r>
          </a:p>
        </p:txBody>
      </p:sp>
      <p:sp>
        <p:nvSpPr>
          <p:cNvPr id="6" name="TextBox 5">
            <a:extLst>
              <a:ext uri="{FF2B5EF4-FFF2-40B4-BE49-F238E27FC236}">
                <a16:creationId xmlns:a16="http://schemas.microsoft.com/office/drawing/2014/main" id="{17BF91C6-9F4E-89CF-E180-C16D56B47AD6}"/>
              </a:ext>
            </a:extLst>
          </p:cNvPr>
          <p:cNvSpPr txBox="1"/>
          <p:nvPr/>
        </p:nvSpPr>
        <p:spPr>
          <a:xfrm>
            <a:off x="6297249" y="4030394"/>
            <a:ext cx="2160240" cy="369332"/>
          </a:xfrm>
          <a:prstGeom prst="rect">
            <a:avLst/>
          </a:prstGeom>
          <a:noFill/>
        </p:spPr>
        <p:txBody>
          <a:bodyPr wrap="square" rtlCol="1">
            <a:spAutoFit/>
          </a:bodyPr>
          <a:lstStyle/>
          <a:p>
            <a:pPr rtl="1"/>
            <a:r>
              <a:rPr lang="ar-SA" dirty="0"/>
              <a:t>محاسب</a:t>
            </a:r>
          </a:p>
        </p:txBody>
      </p:sp>
      <p:sp>
        <p:nvSpPr>
          <p:cNvPr id="7" name="TextBox 6">
            <a:extLst>
              <a:ext uri="{FF2B5EF4-FFF2-40B4-BE49-F238E27FC236}">
                <a16:creationId xmlns:a16="http://schemas.microsoft.com/office/drawing/2014/main" id="{863B3BBA-9A2E-EED8-9AB3-D3F77B33BF4B}"/>
              </a:ext>
            </a:extLst>
          </p:cNvPr>
          <p:cNvSpPr txBox="1"/>
          <p:nvPr/>
        </p:nvSpPr>
        <p:spPr>
          <a:xfrm>
            <a:off x="6374195" y="6122471"/>
            <a:ext cx="2160240" cy="369332"/>
          </a:xfrm>
          <a:prstGeom prst="rect">
            <a:avLst/>
          </a:prstGeom>
          <a:noFill/>
        </p:spPr>
        <p:txBody>
          <a:bodyPr wrap="square" rtlCol="1">
            <a:spAutoFit/>
          </a:bodyPr>
          <a:lstStyle/>
          <a:p>
            <a:pPr rtl="1"/>
            <a:r>
              <a:rPr lang="ar-SA" dirty="0"/>
              <a:t>مدرس</a:t>
            </a:r>
          </a:p>
        </p:txBody>
      </p:sp>
      <p:sp>
        <p:nvSpPr>
          <p:cNvPr id="8" name="TextBox 7">
            <a:extLst>
              <a:ext uri="{FF2B5EF4-FFF2-40B4-BE49-F238E27FC236}">
                <a16:creationId xmlns:a16="http://schemas.microsoft.com/office/drawing/2014/main" id="{FD0DA779-4F90-13C5-9DE5-1189E34D90A8}"/>
              </a:ext>
            </a:extLst>
          </p:cNvPr>
          <p:cNvSpPr txBox="1"/>
          <p:nvPr/>
        </p:nvSpPr>
        <p:spPr>
          <a:xfrm>
            <a:off x="868755" y="6123200"/>
            <a:ext cx="2160240" cy="369332"/>
          </a:xfrm>
          <a:prstGeom prst="rect">
            <a:avLst/>
          </a:prstGeom>
          <a:noFill/>
        </p:spPr>
        <p:txBody>
          <a:bodyPr wrap="square" rtlCol="1">
            <a:spAutoFit/>
          </a:bodyPr>
          <a:lstStyle/>
          <a:p>
            <a:pPr rtl="1"/>
            <a:r>
              <a:rPr lang="ar-SA" dirty="0"/>
              <a:t>طيار</a:t>
            </a:r>
          </a:p>
        </p:txBody>
      </p:sp>
      <p:sp>
        <p:nvSpPr>
          <p:cNvPr id="9" name="TextBox 8">
            <a:extLst>
              <a:ext uri="{FF2B5EF4-FFF2-40B4-BE49-F238E27FC236}">
                <a16:creationId xmlns:a16="http://schemas.microsoft.com/office/drawing/2014/main" id="{EFE90E3F-2B47-6856-7D90-14A7BF10762E}"/>
              </a:ext>
            </a:extLst>
          </p:cNvPr>
          <p:cNvSpPr txBox="1"/>
          <p:nvPr/>
        </p:nvSpPr>
        <p:spPr>
          <a:xfrm>
            <a:off x="899592" y="4033009"/>
            <a:ext cx="2160240" cy="369332"/>
          </a:xfrm>
          <a:prstGeom prst="rect">
            <a:avLst/>
          </a:prstGeom>
          <a:noFill/>
        </p:spPr>
        <p:txBody>
          <a:bodyPr wrap="square" rtlCol="1">
            <a:spAutoFit/>
          </a:bodyPr>
          <a:lstStyle/>
          <a:p>
            <a:pPr rtl="1"/>
            <a:r>
              <a:rPr lang="ar-SA" dirty="0"/>
              <a:t>رجل إطفاء</a:t>
            </a:r>
          </a:p>
        </p:txBody>
      </p:sp>
      <p:sp>
        <p:nvSpPr>
          <p:cNvPr id="10" name="Footer Placeholder 2">
            <a:extLst>
              <a:ext uri="{FF2B5EF4-FFF2-40B4-BE49-F238E27FC236}">
                <a16:creationId xmlns:a16="http://schemas.microsoft.com/office/drawing/2014/main" id="{E01121C0-81D2-61D4-4847-37C7875351F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pic>
        <p:nvPicPr>
          <p:cNvPr id="11" name="Picture 10" descr="A person in a hijab writing on a paper&#10;&#10;Description automatically generated">
            <a:extLst>
              <a:ext uri="{FF2B5EF4-FFF2-40B4-BE49-F238E27FC236}">
                <a16:creationId xmlns:a16="http://schemas.microsoft.com/office/drawing/2014/main" id="{B941B9B8-CBAD-A361-BE0D-5E57610E578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18368" y="2307649"/>
            <a:ext cx="2435902" cy="1605399"/>
          </a:xfrm>
          <a:prstGeom prst="rect">
            <a:avLst/>
          </a:prstGeom>
        </p:spPr>
      </p:pic>
      <p:pic>
        <p:nvPicPr>
          <p:cNvPr id="12" name="Picture 11" descr="A firefighter putting out a fire&#10;&#10;Description automatically generated">
            <a:extLst>
              <a:ext uri="{FF2B5EF4-FFF2-40B4-BE49-F238E27FC236}">
                <a16:creationId xmlns:a16="http://schemas.microsoft.com/office/drawing/2014/main" id="{0AB1D897-4F75-8816-3DD0-441B133914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8583" y="2178467"/>
            <a:ext cx="2538959" cy="1740001"/>
          </a:xfrm>
          <a:prstGeom prst="rect">
            <a:avLst/>
          </a:prstGeom>
        </p:spPr>
      </p:pic>
      <p:pic>
        <p:nvPicPr>
          <p:cNvPr id="13" name="Picture 12" descr="A person in a white shirt and tie pointing at a chalkboard&#10;&#10;Description automatically generated">
            <a:extLst>
              <a:ext uri="{FF2B5EF4-FFF2-40B4-BE49-F238E27FC236}">
                <a16:creationId xmlns:a16="http://schemas.microsoft.com/office/drawing/2014/main" id="{E03B2447-50E3-25CE-B3BB-A91BCA3963E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064400" y="4430835"/>
            <a:ext cx="2435901" cy="1670341"/>
          </a:xfrm>
          <a:prstGeom prst="rect">
            <a:avLst/>
          </a:prstGeom>
        </p:spPr>
      </p:pic>
      <p:pic>
        <p:nvPicPr>
          <p:cNvPr id="14" name="Picture 13" descr="A few pilots looking at a map&#10;&#10;Description automatically generated">
            <a:extLst>
              <a:ext uri="{FF2B5EF4-FFF2-40B4-BE49-F238E27FC236}">
                <a16:creationId xmlns:a16="http://schemas.microsoft.com/office/drawing/2014/main" id="{A9BF5DF0-577D-A38E-589A-64150081C18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86511" y="4379802"/>
            <a:ext cx="2595173" cy="1726992"/>
          </a:xfrm>
          <a:prstGeom prst="rect">
            <a:avLst/>
          </a:prstGeom>
        </p:spPr>
      </p:pic>
    </p:spTree>
    <p:extLst>
      <p:ext uri="{BB962C8B-B14F-4D97-AF65-F5344CB8AC3E}">
        <p14:creationId xmlns:p14="http://schemas.microsoft.com/office/powerpoint/2010/main" val="293637832"/>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7D0C7-7DE2-A487-3A2A-DC8A6D39D240}"/>
              </a:ext>
            </a:extLst>
          </p:cNvPr>
          <p:cNvSpPr>
            <a:spLocks noGrp="1"/>
          </p:cNvSpPr>
          <p:nvPr>
            <p:ph type="title"/>
          </p:nvPr>
        </p:nvSpPr>
        <p:spPr>
          <a:xfrm>
            <a:off x="3486192" y="1251783"/>
            <a:ext cx="8229600" cy="863600"/>
          </a:xfrm>
        </p:spPr>
        <p:txBody>
          <a:bodyPr rtlCol="1"/>
          <a:lstStyle/>
          <a:p>
            <a:pPr rtl="1"/>
            <a:r>
              <a:rPr lang="ar-SA" dirty="0"/>
              <a:t>ج2 المقابلة</a:t>
            </a:r>
          </a:p>
        </p:txBody>
      </p:sp>
      <p:sp>
        <p:nvSpPr>
          <p:cNvPr id="3" name="Content Placeholder 2">
            <a:extLst>
              <a:ext uri="{FF2B5EF4-FFF2-40B4-BE49-F238E27FC236}">
                <a16:creationId xmlns:a16="http://schemas.microsoft.com/office/drawing/2014/main" id="{AA2AC9AE-3DC7-20C7-325B-A273E08556E7}"/>
              </a:ext>
            </a:extLst>
          </p:cNvPr>
          <p:cNvSpPr>
            <a:spLocks noGrp="1"/>
          </p:cNvSpPr>
          <p:nvPr>
            <p:ph sz="half" idx="2"/>
          </p:nvPr>
        </p:nvSpPr>
        <p:spPr>
          <a:xfrm>
            <a:off x="1772843" y="2273490"/>
            <a:ext cx="7195123" cy="3609975"/>
          </a:xfrm>
        </p:spPr>
        <p:txBody>
          <a:bodyPr rtlCol="1"/>
          <a:lstStyle/>
          <a:p>
            <a:pPr rtl="1"/>
            <a:r>
              <a:rPr lang="ar-SA" sz="1800" dirty="0">
                <a:latin typeface="Arial"/>
                <a:cs typeface="Arial"/>
              </a:rPr>
              <a:t>المقابلات هي جزء هام من عملية التوظيف. حيث يُطلب من المرشح أن يجيب على مجموعة من الأسئلة لتحديد ما إذا كان مناسبًا للوظيفة أم لا.</a:t>
            </a:r>
          </a:p>
          <a:p>
            <a:pPr rtl="1"/>
            <a:r>
              <a:rPr lang="ar-SA" sz="1800" dirty="0">
                <a:latin typeface="Arial"/>
                <a:cs typeface="Arial"/>
              </a:rPr>
              <a:t>التحضير للمقابلة مهم لضمان أداء المرشح بشكل جيد. يجب على المرشح:</a:t>
            </a:r>
          </a:p>
          <a:p>
            <a:pPr lvl="1" rtl="1"/>
            <a:r>
              <a:rPr lang="ar-SA" sz="1800" dirty="0">
                <a:latin typeface="Arial"/>
                <a:cs typeface="Arial"/>
              </a:rPr>
              <a:t>البحث عن الشركة والوظيفة</a:t>
            </a:r>
          </a:p>
          <a:p>
            <a:pPr lvl="1" rtl="1"/>
            <a:r>
              <a:rPr lang="ar-SA" sz="1800" dirty="0">
                <a:latin typeface="Arial"/>
                <a:cs typeface="Arial"/>
              </a:rPr>
              <a:t>توقع الأسئلة التي قد يُطلب منه الإجابة عليها والتحضير المسبق لبعض الإجابات</a:t>
            </a:r>
            <a:endParaRPr lang="ar-SA" sz="1800" dirty="0">
              <a:latin typeface="Arial"/>
            </a:endParaRPr>
          </a:p>
          <a:p>
            <a:pPr lvl="1" rtl="1"/>
            <a:r>
              <a:rPr lang="ar-SA" sz="1800" dirty="0">
                <a:latin typeface="Arial"/>
                <a:cs typeface="Arial"/>
              </a:rPr>
              <a:t>تحضير بعض الأسئلة لطرحها على المحاور </a:t>
            </a:r>
          </a:p>
          <a:p>
            <a:pPr lvl="1" rtl="1"/>
            <a:r>
              <a:rPr lang="ar-SA" sz="1800" dirty="0">
                <a:latin typeface="Arial"/>
                <a:cs typeface="Arial"/>
              </a:rPr>
              <a:t>تحضير ملابسه وضمان النظافة الجيدة والبحث عن مكان المقابلة والتحضير </a:t>
            </a:r>
            <a:br>
              <a:rPr lang="ar-SA" sz="1800" dirty="0">
                <a:latin typeface="Arial"/>
                <a:cs typeface="Arial"/>
              </a:rPr>
            </a:br>
            <a:r>
              <a:rPr lang="ar-SA" sz="1800" dirty="0">
                <a:latin typeface="Arial"/>
                <a:cs typeface="Arial"/>
              </a:rPr>
              <a:t>لترتيبات السفر والتوقيت</a:t>
            </a:r>
          </a:p>
          <a:p>
            <a:pPr lvl="1" rtl="1"/>
            <a:r>
              <a:rPr lang="ar-SA" sz="1800" dirty="0">
                <a:latin typeface="Arial"/>
                <a:cs typeface="Arial"/>
              </a:rPr>
              <a:t>التمرن على أسئلة المقابلة والإجابات مع شخص آخر لضمان أن إجاباته </a:t>
            </a:r>
            <a:br>
              <a:rPr lang="ar-SA" sz="1800" dirty="0">
                <a:latin typeface="Arial"/>
                <a:cs typeface="Arial"/>
              </a:rPr>
            </a:br>
            <a:r>
              <a:rPr lang="ar-SA" sz="1800" dirty="0">
                <a:latin typeface="Arial"/>
                <a:cs typeface="Arial"/>
              </a:rPr>
              <a:t>وسلوكه مناسبين</a:t>
            </a:r>
          </a:p>
        </p:txBody>
      </p:sp>
      <p:sp>
        <p:nvSpPr>
          <p:cNvPr id="5" name="TextBox 4">
            <a:extLst>
              <a:ext uri="{FF2B5EF4-FFF2-40B4-BE49-F238E27FC236}">
                <a16:creationId xmlns:a16="http://schemas.microsoft.com/office/drawing/2014/main" id="{A85EEBFF-C9A7-B066-F6C6-20FE17DF38A3}"/>
              </a:ext>
            </a:extLst>
          </p:cNvPr>
          <p:cNvSpPr txBox="1"/>
          <p:nvPr/>
        </p:nvSpPr>
        <p:spPr>
          <a:xfrm>
            <a:off x="244940" y="3160329"/>
            <a:ext cx="1388231" cy="1477328"/>
          </a:xfrm>
          <a:prstGeom prst="rect">
            <a:avLst/>
          </a:prstGeom>
          <a:noFill/>
          <a:ln>
            <a:solidFill>
              <a:schemeClr val="tx1"/>
            </a:solidFill>
          </a:ln>
        </p:spPr>
        <p:txBody>
          <a:bodyPr rot="0" spcFirstLastPara="0" vertOverflow="overflow" horzOverflow="overflow" vert="horz" wrap="square" lIns="91440" tIns="45720" rIns="91440" bIns="45720" numCol="1" spcCol="0" rtlCol="1" fromWordArt="0" anchor="t" anchorCtr="0" forceAA="0" compatLnSpc="1">
            <a:prstTxWarp prst="textNoShape">
              <a:avLst/>
            </a:prstTxWarp>
            <a:spAutoFit/>
          </a:bodyPr>
          <a:lstStyle/>
          <a:p>
            <a:pPr rtl="1"/>
            <a:r>
              <a:rPr lang="ar-SA" dirty="0">
                <a:latin typeface="Arial"/>
                <a:cs typeface="Arial"/>
              </a:rPr>
              <a:t>ما هي السلوكيات </a:t>
            </a:r>
            <a:br>
              <a:rPr lang="ar-SA" dirty="0">
                <a:latin typeface="Arial"/>
                <a:cs typeface="Arial"/>
              </a:rPr>
            </a:br>
            <a:r>
              <a:rPr lang="ar-SA" dirty="0">
                <a:latin typeface="Arial"/>
                <a:cs typeface="Arial"/>
              </a:rPr>
              <a:t>التي تعتقد أنها مناسبة في المقابلة؟ </a:t>
            </a:r>
            <a:endParaRPr lang="ar-SA" dirty="0"/>
          </a:p>
        </p:txBody>
      </p:sp>
      <p:sp>
        <p:nvSpPr>
          <p:cNvPr id="6" name="Footer Placeholder 2">
            <a:extLst>
              <a:ext uri="{FF2B5EF4-FFF2-40B4-BE49-F238E27FC236}">
                <a16:creationId xmlns:a16="http://schemas.microsoft.com/office/drawing/2014/main" id="{DE12EE7F-6D05-8A21-8BF3-4AE6FDDB174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124768087"/>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84F6F-D2D0-249D-D1D1-F3B0C891C3E8}"/>
              </a:ext>
            </a:extLst>
          </p:cNvPr>
          <p:cNvSpPr>
            <a:spLocks noGrp="1"/>
          </p:cNvSpPr>
          <p:nvPr>
            <p:ph type="title"/>
          </p:nvPr>
        </p:nvSpPr>
        <p:spPr>
          <a:xfrm>
            <a:off x="3693394" y="1148639"/>
            <a:ext cx="8229600" cy="863600"/>
          </a:xfrm>
        </p:spPr>
        <p:txBody>
          <a:bodyPr rtlCol="1"/>
          <a:lstStyle/>
          <a:p>
            <a:pPr rtl="1"/>
            <a:r>
              <a:rPr lang="ar" sz="3600" b="1" dirty="0"/>
              <a:t>ج2 المقابلة</a:t>
            </a:r>
          </a:p>
        </p:txBody>
      </p:sp>
      <p:sp>
        <p:nvSpPr>
          <p:cNvPr id="3" name="Content Placeholder 2">
            <a:extLst>
              <a:ext uri="{FF2B5EF4-FFF2-40B4-BE49-F238E27FC236}">
                <a16:creationId xmlns:a16="http://schemas.microsoft.com/office/drawing/2014/main" id="{AA29FB8F-0949-0EFC-5557-FE6B31BC96EF}"/>
              </a:ext>
            </a:extLst>
          </p:cNvPr>
          <p:cNvSpPr>
            <a:spLocks noGrp="1"/>
          </p:cNvSpPr>
          <p:nvPr>
            <p:ph sz="half" idx="2"/>
          </p:nvPr>
        </p:nvSpPr>
        <p:spPr>
          <a:xfrm>
            <a:off x="726165" y="1928063"/>
            <a:ext cx="7991475" cy="3609975"/>
          </a:xfrm>
        </p:spPr>
        <p:txBody>
          <a:bodyPr rtlCol="1"/>
          <a:lstStyle/>
          <a:p>
            <a:pPr marL="0" indent="0" algn="ctr" rtl="1">
              <a:buNone/>
            </a:pPr>
            <a:r>
              <a:rPr lang="ar" b="1" dirty="0">
                <a:latin typeface="Arial"/>
                <a:cs typeface="Arial"/>
              </a:rPr>
              <a:t>الدعوة لإجراء المقابلة</a:t>
            </a:r>
          </a:p>
          <a:p>
            <a:pPr marL="0" indent="0" rtl="1">
              <a:buNone/>
            </a:pPr>
            <a:r>
              <a:rPr lang="ar" dirty="0">
                <a:latin typeface="Arial"/>
                <a:cs typeface="Arial"/>
              </a:rPr>
              <a:t>لقد تمت دعوتك لإجراء مقابلة للحصول على دور مساعد خدمة العملاء في أقرب سوبرماركت كبير لك. موعد المقابلة: الأربعاء القادم في الساعة القانية ظهرًا.</a:t>
            </a:r>
          </a:p>
          <a:p>
            <a:pPr marL="0" indent="0" rtl="1">
              <a:buNone/>
            </a:pPr>
            <a:r>
              <a:rPr lang="ar" dirty="0"/>
              <a:t> قم بإجراء بحثك للمقابلة حول:</a:t>
            </a:r>
          </a:p>
          <a:p>
            <a:pPr rtl="1"/>
            <a:r>
              <a:rPr lang="ar" dirty="0"/>
              <a:t>أحدث الأخبار حول السوبرماركت</a:t>
            </a:r>
          </a:p>
          <a:p>
            <a:pPr rtl="1"/>
            <a:r>
              <a:rPr lang="ar" dirty="0"/>
              <a:t>الوصف الوظيفي ومتطلبات مؤهلات الموظفين.</a:t>
            </a:r>
          </a:p>
          <a:p>
            <a:pPr rtl="1"/>
            <a:r>
              <a:rPr lang="ar" dirty="0"/>
              <a:t>تمرن على ممارسة أسئلة المقابلة والإجابات</a:t>
            </a:r>
          </a:p>
          <a:p>
            <a:pPr rtl="1"/>
            <a:r>
              <a:rPr lang="ar" dirty="0"/>
              <a:t>تحضير الزي المناسب</a:t>
            </a:r>
          </a:p>
          <a:p>
            <a:pPr rtl="1"/>
            <a:r>
              <a:rPr lang="ar" dirty="0"/>
              <a:t>ترتيبات السفر</a:t>
            </a:r>
          </a:p>
        </p:txBody>
      </p:sp>
      <p:sp>
        <p:nvSpPr>
          <p:cNvPr id="5" name="Footer Placeholder 2">
            <a:extLst>
              <a:ext uri="{FF2B5EF4-FFF2-40B4-BE49-F238E27FC236}">
                <a16:creationId xmlns:a16="http://schemas.microsoft.com/office/drawing/2014/main" id="{4B96F038-779E-9ED9-E43F-991CB7006A1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57112229"/>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A91B3-935F-DD28-7823-88C09057226D}"/>
              </a:ext>
            </a:extLst>
          </p:cNvPr>
          <p:cNvSpPr>
            <a:spLocks noGrp="1"/>
          </p:cNvSpPr>
          <p:nvPr>
            <p:ph type="title"/>
          </p:nvPr>
        </p:nvSpPr>
        <p:spPr>
          <a:xfrm>
            <a:off x="1937343" y="1004002"/>
            <a:ext cx="8229600" cy="863600"/>
          </a:xfrm>
        </p:spPr>
        <p:txBody>
          <a:bodyPr rtlCol="1"/>
          <a:lstStyle/>
          <a:p>
            <a:pPr rtl="1"/>
            <a:r>
              <a:rPr lang="ar" sz="3600" b="1"/>
              <a:t>ج3 التدقيق في المهارات الشخصية</a:t>
            </a:r>
          </a:p>
        </p:txBody>
      </p:sp>
      <p:sp>
        <p:nvSpPr>
          <p:cNvPr id="3" name="Content Placeholder 2">
            <a:extLst>
              <a:ext uri="{FF2B5EF4-FFF2-40B4-BE49-F238E27FC236}">
                <a16:creationId xmlns:a16="http://schemas.microsoft.com/office/drawing/2014/main" id="{0194729A-636E-E877-AB41-0A27A2270219}"/>
              </a:ext>
            </a:extLst>
          </p:cNvPr>
          <p:cNvSpPr>
            <a:spLocks noGrp="1"/>
          </p:cNvSpPr>
          <p:nvPr>
            <p:ph sz="half" idx="2"/>
          </p:nvPr>
        </p:nvSpPr>
        <p:spPr>
          <a:xfrm>
            <a:off x="702749" y="2861232"/>
            <a:ext cx="7991475" cy="3609975"/>
          </a:xfrm>
        </p:spPr>
        <p:txBody>
          <a:bodyPr rtlCol="1"/>
          <a:lstStyle/>
          <a:p>
            <a:pPr marL="0" algn="l" rtl="1" eaLnBrk="1" fontAlgn="t" latinLnBrk="0" hangingPunct="1">
              <a:spcBef>
                <a:spcPts val="0"/>
              </a:spcBef>
              <a:spcAft>
                <a:spcPts val="0"/>
              </a:spcAft>
            </a:pPr>
            <a:r>
              <a:rPr lang="ar" sz="1800" b="1" i="0" u="none" strike="noStrike" kern="1200">
                <a:solidFill>
                  <a:srgbClr val="FFFFFF"/>
                </a:solidFill>
                <a:effectLst/>
                <a:latin typeface="Verdana" panose="020B0604030504040204" pitchFamily="34" charset="0"/>
              </a:rPr>
              <a:t>نقاط الضعف</a:t>
            </a:r>
            <a:endParaRPr lang="en-GB" sz="1800" b="0" i="0" u="none" strike="noStrike">
              <a:effectLst/>
              <a:latin typeface="Arial" panose="020B0604020202020204" pitchFamily="34" charset="0"/>
            </a:endParaRPr>
          </a:p>
          <a:p>
            <a:pPr marL="0" algn="l" rtl="1" eaLnBrk="1" fontAlgn="t" latinLnBrk="0" hangingPunct="1">
              <a:spcBef>
                <a:spcPts val="0"/>
              </a:spcBef>
              <a:spcAft>
                <a:spcPts val="0"/>
              </a:spcAft>
            </a:pPr>
            <a:r>
              <a:rPr lang="ar" sz="1800" b="1" i="0" u="none" strike="noStrike" kern="1200">
                <a:solidFill>
                  <a:srgbClr val="FFFFFF"/>
                </a:solidFill>
                <a:effectLst/>
                <a:latin typeface="Verdana" panose="020B0604030504040204" pitchFamily="34" charset="0"/>
              </a:rPr>
              <a:t>ما هي نقاط ضعفك؟ ماذا يمكنك فعله للتغلب عليها؟ كم ستحتاج من الوقت؟</a:t>
            </a:r>
            <a:endParaRPr lang="en-GB" sz="1800" b="0" i="0" u="none" strike="noStrike">
              <a:effectLst/>
              <a:latin typeface="Arial" panose="020B0604020202020204" pitchFamily="34" charset="0"/>
            </a:endParaRPr>
          </a:p>
          <a:p>
            <a:pPr rtl="1"/>
            <a:endParaRPr lang="en-GB"/>
          </a:p>
        </p:txBody>
      </p:sp>
      <p:graphicFrame>
        <p:nvGraphicFramePr>
          <p:cNvPr id="5" name="Table 5">
            <a:extLst>
              <a:ext uri="{FF2B5EF4-FFF2-40B4-BE49-F238E27FC236}">
                <a16:creationId xmlns:a16="http://schemas.microsoft.com/office/drawing/2014/main" id="{D9D9AB38-F87D-B720-7779-DB8F653F2A1F}"/>
              </a:ext>
            </a:extLst>
          </p:cNvPr>
          <p:cNvGraphicFramePr>
            <a:graphicFrameLocks noGrp="1"/>
          </p:cNvGraphicFramePr>
          <p:nvPr>
            <p:extLst>
              <p:ext uri="{D42A27DB-BD31-4B8C-83A1-F6EECF244321}">
                <p14:modId xmlns:p14="http://schemas.microsoft.com/office/powerpoint/2010/main" val="3643723707"/>
              </p:ext>
            </p:extLst>
          </p:nvPr>
        </p:nvGraphicFramePr>
        <p:xfrm>
          <a:off x="2516392" y="1904219"/>
          <a:ext cx="6096000" cy="365760"/>
        </p:xfrm>
        <a:graphic>
          <a:graphicData uri="http://schemas.openxmlformats.org/drawingml/2006/table">
            <a:tbl>
              <a:tblPr rtl="1" firstRow="1" bandRow="1">
                <a:tableStyleId>{5C22544A-7EE6-4342-B048-85BDC9FD1C3A}</a:tableStyleId>
              </a:tblPr>
              <a:tblGrid>
                <a:gridCol w="2215028">
                  <a:extLst>
                    <a:ext uri="{9D8B030D-6E8A-4147-A177-3AD203B41FA5}">
                      <a16:colId xmlns:a16="http://schemas.microsoft.com/office/drawing/2014/main" val="3864133343"/>
                    </a:ext>
                  </a:extLst>
                </a:gridCol>
                <a:gridCol w="3880972">
                  <a:extLst>
                    <a:ext uri="{9D8B030D-6E8A-4147-A177-3AD203B41FA5}">
                      <a16:colId xmlns:a16="http://schemas.microsoft.com/office/drawing/2014/main" val="9336626"/>
                    </a:ext>
                  </a:extLst>
                </a:gridCol>
              </a:tblGrid>
              <a:tr h="338140">
                <a:tc>
                  <a:txBody>
                    <a:bodyPr/>
                    <a:lstStyle/>
                    <a:p>
                      <a:pPr rtl="1"/>
                      <a:r>
                        <a:rPr lang="ar" dirty="0">
                          <a:solidFill>
                            <a:schemeClr val="tx1"/>
                          </a:solidFill>
                        </a:rPr>
                        <a:t>مواطن القوة</a:t>
                      </a:r>
                    </a:p>
                  </a:txBody>
                  <a:tcPr>
                    <a:solidFill>
                      <a:schemeClr val="accent6">
                        <a:lumMod val="20000"/>
                        <a:lumOff val="80000"/>
                      </a:schemeClr>
                    </a:solidFill>
                  </a:tcPr>
                </a:tc>
                <a:tc>
                  <a:txBody>
                    <a:bodyPr/>
                    <a:lstStyle/>
                    <a:p>
                      <a:pPr rtl="1"/>
                      <a:r>
                        <a:rPr lang="ar" dirty="0">
                          <a:solidFill>
                            <a:schemeClr val="tx1"/>
                          </a:solidFill>
                        </a:rPr>
                        <a:t>ما هي مواطن قوتك؟ </a:t>
                      </a:r>
                    </a:p>
                  </a:txBody>
                  <a:tcPr>
                    <a:solidFill>
                      <a:schemeClr val="accent6">
                        <a:lumMod val="20000"/>
                        <a:lumOff val="80000"/>
                      </a:schemeClr>
                    </a:solidFill>
                  </a:tcPr>
                </a:tc>
                <a:extLst>
                  <a:ext uri="{0D108BD9-81ED-4DB2-BD59-A6C34878D82A}">
                    <a16:rowId xmlns:a16="http://schemas.microsoft.com/office/drawing/2014/main" val="193811014"/>
                  </a:ext>
                </a:extLst>
              </a:tr>
            </a:tbl>
          </a:graphicData>
        </a:graphic>
      </p:graphicFrame>
      <p:graphicFrame>
        <p:nvGraphicFramePr>
          <p:cNvPr id="6" name="Table 5">
            <a:extLst>
              <a:ext uri="{FF2B5EF4-FFF2-40B4-BE49-F238E27FC236}">
                <a16:creationId xmlns:a16="http://schemas.microsoft.com/office/drawing/2014/main" id="{2F87992A-ABE5-2EA2-2C93-E84465F8719A}"/>
              </a:ext>
            </a:extLst>
          </p:cNvPr>
          <p:cNvGraphicFramePr>
            <a:graphicFrameLocks noGrp="1"/>
          </p:cNvGraphicFramePr>
          <p:nvPr>
            <p:extLst>
              <p:ext uri="{D42A27DB-BD31-4B8C-83A1-F6EECF244321}">
                <p14:modId xmlns:p14="http://schemas.microsoft.com/office/powerpoint/2010/main" val="2101222441"/>
              </p:ext>
            </p:extLst>
          </p:nvPr>
        </p:nvGraphicFramePr>
        <p:xfrm>
          <a:off x="2513904" y="2510322"/>
          <a:ext cx="6096000" cy="365760"/>
        </p:xfrm>
        <a:graphic>
          <a:graphicData uri="http://schemas.openxmlformats.org/drawingml/2006/table">
            <a:tbl>
              <a:tblPr rtl="1" firstRow="1" bandRow="1">
                <a:tableStyleId>{5C22544A-7EE6-4342-B048-85BDC9FD1C3A}</a:tableStyleId>
              </a:tblPr>
              <a:tblGrid>
                <a:gridCol w="2250016">
                  <a:extLst>
                    <a:ext uri="{9D8B030D-6E8A-4147-A177-3AD203B41FA5}">
                      <a16:colId xmlns:a16="http://schemas.microsoft.com/office/drawing/2014/main" val="3864133343"/>
                    </a:ext>
                  </a:extLst>
                </a:gridCol>
                <a:gridCol w="3845984">
                  <a:extLst>
                    <a:ext uri="{9D8B030D-6E8A-4147-A177-3AD203B41FA5}">
                      <a16:colId xmlns:a16="http://schemas.microsoft.com/office/drawing/2014/main" val="9336626"/>
                    </a:ext>
                  </a:extLst>
                </a:gridCol>
              </a:tblGrid>
              <a:tr h="338140">
                <a:tc>
                  <a:txBody>
                    <a:bodyPr/>
                    <a:lstStyle/>
                    <a:p>
                      <a:pPr rtl="1"/>
                      <a:r>
                        <a:rPr lang="ar" dirty="0">
                          <a:solidFill>
                            <a:schemeClr val="tx1"/>
                          </a:solidFill>
                        </a:rPr>
                        <a:t>نقاط الضعف</a:t>
                      </a:r>
                    </a:p>
                  </a:txBody>
                  <a:tcPr>
                    <a:solidFill>
                      <a:schemeClr val="accent6">
                        <a:lumMod val="20000"/>
                        <a:lumOff val="80000"/>
                      </a:schemeClr>
                    </a:solidFill>
                  </a:tcPr>
                </a:tc>
                <a:tc>
                  <a:txBody>
                    <a:bodyPr/>
                    <a:lstStyle/>
                    <a:p>
                      <a:pPr rtl="1"/>
                      <a:r>
                        <a:rPr lang="ar" dirty="0">
                          <a:solidFill>
                            <a:schemeClr val="tx1"/>
                          </a:solidFill>
                        </a:rPr>
                        <a:t>ما هي نقاط ضعفك؟ </a:t>
                      </a:r>
                    </a:p>
                  </a:txBody>
                  <a:tcPr>
                    <a:solidFill>
                      <a:schemeClr val="accent6">
                        <a:lumMod val="20000"/>
                        <a:lumOff val="80000"/>
                      </a:schemeClr>
                    </a:solidFill>
                  </a:tcPr>
                </a:tc>
                <a:extLst>
                  <a:ext uri="{0D108BD9-81ED-4DB2-BD59-A6C34878D82A}">
                    <a16:rowId xmlns:a16="http://schemas.microsoft.com/office/drawing/2014/main" val="193811014"/>
                  </a:ext>
                </a:extLst>
              </a:tr>
            </a:tbl>
          </a:graphicData>
        </a:graphic>
      </p:graphicFrame>
      <p:graphicFrame>
        <p:nvGraphicFramePr>
          <p:cNvPr id="7" name="Table 6">
            <a:extLst>
              <a:ext uri="{FF2B5EF4-FFF2-40B4-BE49-F238E27FC236}">
                <a16:creationId xmlns:a16="http://schemas.microsoft.com/office/drawing/2014/main" id="{A9B116FE-18AD-AAD2-A7AF-D9C3178569D3}"/>
              </a:ext>
            </a:extLst>
          </p:cNvPr>
          <p:cNvGraphicFramePr>
            <a:graphicFrameLocks noGrp="1"/>
          </p:cNvGraphicFramePr>
          <p:nvPr>
            <p:extLst>
              <p:ext uri="{D42A27DB-BD31-4B8C-83A1-F6EECF244321}">
                <p14:modId xmlns:p14="http://schemas.microsoft.com/office/powerpoint/2010/main" val="581554252"/>
              </p:ext>
            </p:extLst>
          </p:nvPr>
        </p:nvGraphicFramePr>
        <p:xfrm>
          <a:off x="2541866" y="3407477"/>
          <a:ext cx="6096000" cy="640080"/>
        </p:xfrm>
        <a:graphic>
          <a:graphicData uri="http://schemas.openxmlformats.org/drawingml/2006/table">
            <a:tbl>
              <a:tblPr rtl="1" firstRow="1" bandRow="1">
                <a:tableStyleId>{5C22544A-7EE6-4342-B048-85BDC9FD1C3A}</a:tableStyleId>
              </a:tblPr>
              <a:tblGrid>
                <a:gridCol w="2258888">
                  <a:extLst>
                    <a:ext uri="{9D8B030D-6E8A-4147-A177-3AD203B41FA5}">
                      <a16:colId xmlns:a16="http://schemas.microsoft.com/office/drawing/2014/main" val="3864133343"/>
                    </a:ext>
                  </a:extLst>
                </a:gridCol>
                <a:gridCol w="3837112">
                  <a:extLst>
                    <a:ext uri="{9D8B030D-6E8A-4147-A177-3AD203B41FA5}">
                      <a16:colId xmlns:a16="http://schemas.microsoft.com/office/drawing/2014/main" val="9336626"/>
                    </a:ext>
                  </a:extLst>
                </a:gridCol>
              </a:tblGrid>
              <a:tr h="338140">
                <a:tc>
                  <a:txBody>
                    <a:bodyPr/>
                    <a:lstStyle/>
                    <a:p>
                      <a:pPr rtl="1"/>
                      <a:r>
                        <a:rPr lang="ar">
                          <a:solidFill>
                            <a:schemeClr val="tx1"/>
                          </a:solidFill>
                        </a:rPr>
                        <a:t>الفرص العمل</a:t>
                      </a:r>
                    </a:p>
                  </a:txBody>
                  <a:tcPr>
                    <a:solidFill>
                      <a:schemeClr val="accent6">
                        <a:lumMod val="20000"/>
                        <a:lumOff val="80000"/>
                      </a:schemeClr>
                    </a:solidFill>
                  </a:tcPr>
                </a:tc>
                <a:tc>
                  <a:txBody>
                    <a:bodyPr/>
                    <a:lstStyle/>
                    <a:p>
                      <a:pPr rtl="1"/>
                      <a:r>
                        <a:rPr lang="ar" dirty="0">
                          <a:solidFill>
                            <a:schemeClr val="tx1"/>
                          </a:solidFill>
                        </a:rPr>
                        <a:t>ما هي الفرص المتاحة لك لزيادة مواطن </a:t>
                      </a:r>
                      <a:br>
                        <a:rPr lang="ar-EG" dirty="0">
                          <a:solidFill>
                            <a:schemeClr val="tx1"/>
                          </a:solidFill>
                        </a:rPr>
                      </a:br>
                      <a:r>
                        <a:rPr lang="ar" dirty="0">
                          <a:solidFill>
                            <a:schemeClr val="tx1"/>
                          </a:solidFill>
                        </a:rPr>
                        <a:t>قوتك والتغلب على نقاط ضعفك؟</a:t>
                      </a:r>
                    </a:p>
                  </a:txBody>
                  <a:tcPr>
                    <a:solidFill>
                      <a:schemeClr val="accent6">
                        <a:lumMod val="20000"/>
                        <a:lumOff val="80000"/>
                      </a:schemeClr>
                    </a:solidFill>
                  </a:tcPr>
                </a:tc>
                <a:extLst>
                  <a:ext uri="{0D108BD9-81ED-4DB2-BD59-A6C34878D82A}">
                    <a16:rowId xmlns:a16="http://schemas.microsoft.com/office/drawing/2014/main" val="193811014"/>
                  </a:ext>
                </a:extLst>
              </a:tr>
            </a:tbl>
          </a:graphicData>
        </a:graphic>
      </p:graphicFrame>
      <p:graphicFrame>
        <p:nvGraphicFramePr>
          <p:cNvPr id="8" name="Table 7">
            <a:extLst>
              <a:ext uri="{FF2B5EF4-FFF2-40B4-BE49-F238E27FC236}">
                <a16:creationId xmlns:a16="http://schemas.microsoft.com/office/drawing/2014/main" id="{C8209491-6CBF-0BA4-BE3B-4708977525A1}"/>
              </a:ext>
            </a:extLst>
          </p:cNvPr>
          <p:cNvGraphicFramePr>
            <a:graphicFrameLocks noGrp="1"/>
          </p:cNvGraphicFramePr>
          <p:nvPr>
            <p:extLst>
              <p:ext uri="{D42A27DB-BD31-4B8C-83A1-F6EECF244321}">
                <p14:modId xmlns:p14="http://schemas.microsoft.com/office/powerpoint/2010/main" val="2716053943"/>
              </p:ext>
            </p:extLst>
          </p:nvPr>
        </p:nvGraphicFramePr>
        <p:xfrm>
          <a:off x="2597159" y="5170868"/>
          <a:ext cx="6096000" cy="365760"/>
        </p:xfrm>
        <a:graphic>
          <a:graphicData uri="http://schemas.openxmlformats.org/drawingml/2006/table">
            <a:tbl>
              <a:tblPr rtl="1" firstRow="1" bandRow="1">
                <a:tableStyleId>{5C22544A-7EE6-4342-B048-85BDC9FD1C3A}</a:tableStyleId>
              </a:tblPr>
              <a:tblGrid>
                <a:gridCol w="2258888">
                  <a:extLst>
                    <a:ext uri="{9D8B030D-6E8A-4147-A177-3AD203B41FA5}">
                      <a16:colId xmlns:a16="http://schemas.microsoft.com/office/drawing/2014/main" val="3864133343"/>
                    </a:ext>
                  </a:extLst>
                </a:gridCol>
                <a:gridCol w="3837112">
                  <a:extLst>
                    <a:ext uri="{9D8B030D-6E8A-4147-A177-3AD203B41FA5}">
                      <a16:colId xmlns:a16="http://schemas.microsoft.com/office/drawing/2014/main" val="9336626"/>
                    </a:ext>
                  </a:extLst>
                </a:gridCol>
              </a:tblGrid>
              <a:tr h="338140">
                <a:tc>
                  <a:txBody>
                    <a:bodyPr/>
                    <a:lstStyle/>
                    <a:p>
                      <a:pPr rtl="1"/>
                      <a:r>
                        <a:rPr lang="ar">
                          <a:solidFill>
                            <a:schemeClr val="tx1"/>
                          </a:solidFill>
                        </a:rPr>
                        <a:t>التهديدات</a:t>
                      </a:r>
                    </a:p>
                  </a:txBody>
                  <a:tcPr>
                    <a:solidFill>
                      <a:schemeClr val="accent6">
                        <a:lumMod val="20000"/>
                        <a:lumOff val="80000"/>
                      </a:schemeClr>
                    </a:solidFill>
                  </a:tcPr>
                </a:tc>
                <a:tc>
                  <a:txBody>
                    <a:bodyPr/>
                    <a:lstStyle/>
                    <a:p>
                      <a:pPr rtl="1"/>
                      <a:r>
                        <a:rPr lang="ar" dirty="0">
                          <a:solidFill>
                            <a:schemeClr val="tx1"/>
                          </a:solidFill>
                        </a:rPr>
                        <a:t>ما هي التهديدات التي قد تمنع تحقق الفرص؟</a:t>
                      </a:r>
                    </a:p>
                  </a:txBody>
                  <a:tcPr>
                    <a:solidFill>
                      <a:schemeClr val="accent6">
                        <a:lumMod val="20000"/>
                        <a:lumOff val="80000"/>
                      </a:schemeClr>
                    </a:solidFill>
                  </a:tcPr>
                </a:tc>
                <a:extLst>
                  <a:ext uri="{0D108BD9-81ED-4DB2-BD59-A6C34878D82A}">
                    <a16:rowId xmlns:a16="http://schemas.microsoft.com/office/drawing/2014/main" val="193811014"/>
                  </a:ext>
                </a:extLst>
              </a:tr>
            </a:tbl>
          </a:graphicData>
        </a:graphic>
      </p:graphicFrame>
      <p:sp>
        <p:nvSpPr>
          <p:cNvPr id="9" name="Rectangle: Rounded Corners 8">
            <a:extLst>
              <a:ext uri="{FF2B5EF4-FFF2-40B4-BE49-F238E27FC236}">
                <a16:creationId xmlns:a16="http://schemas.microsoft.com/office/drawing/2014/main" id="{6FBCCCDB-A15A-FFC0-4D8F-8D2AD1AF7992}"/>
              </a:ext>
            </a:extLst>
          </p:cNvPr>
          <p:cNvSpPr/>
          <p:nvPr/>
        </p:nvSpPr>
        <p:spPr>
          <a:xfrm>
            <a:off x="362298" y="1835761"/>
            <a:ext cx="1800907" cy="1526822"/>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b="1">
                <a:solidFill>
                  <a:schemeClr val="bg1"/>
                </a:solidFill>
              </a:rPr>
              <a:t>أدرج المعرفة</a:t>
            </a:r>
          </a:p>
        </p:txBody>
      </p:sp>
      <p:sp>
        <p:nvSpPr>
          <p:cNvPr id="10" name="Rectangle: Rounded Corners 9">
            <a:extLst>
              <a:ext uri="{FF2B5EF4-FFF2-40B4-BE49-F238E27FC236}">
                <a16:creationId xmlns:a16="http://schemas.microsoft.com/office/drawing/2014/main" id="{B9516DB0-2C20-0303-0CF9-CFAA0A970568}"/>
              </a:ext>
            </a:extLst>
          </p:cNvPr>
          <p:cNvSpPr/>
          <p:nvPr/>
        </p:nvSpPr>
        <p:spPr>
          <a:xfrm>
            <a:off x="320845" y="3455564"/>
            <a:ext cx="1838382" cy="1489346"/>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b="1">
                <a:solidFill>
                  <a:schemeClr val="bg1"/>
                </a:solidFill>
              </a:rPr>
              <a:t>أدرج مهاراتك.</a:t>
            </a:r>
          </a:p>
        </p:txBody>
      </p:sp>
      <p:sp>
        <p:nvSpPr>
          <p:cNvPr id="11" name="Rectangle: Rounded Corners 10">
            <a:extLst>
              <a:ext uri="{FF2B5EF4-FFF2-40B4-BE49-F238E27FC236}">
                <a16:creationId xmlns:a16="http://schemas.microsoft.com/office/drawing/2014/main" id="{FDBD9CCB-541E-4AC9-C1CD-E72F909408AC}"/>
              </a:ext>
            </a:extLst>
          </p:cNvPr>
          <p:cNvSpPr/>
          <p:nvPr/>
        </p:nvSpPr>
        <p:spPr>
          <a:xfrm>
            <a:off x="319644" y="5037892"/>
            <a:ext cx="1838381" cy="1395657"/>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b="1">
                <a:solidFill>
                  <a:schemeClr val="bg1"/>
                </a:solidFill>
              </a:rPr>
              <a:t>أدرج اهتماماتك </a:t>
            </a:r>
          </a:p>
        </p:txBody>
      </p:sp>
      <p:sp>
        <p:nvSpPr>
          <p:cNvPr id="12" name="Footer Placeholder 2">
            <a:extLst>
              <a:ext uri="{FF2B5EF4-FFF2-40B4-BE49-F238E27FC236}">
                <a16:creationId xmlns:a16="http://schemas.microsoft.com/office/drawing/2014/main" id="{C2C48D43-2F3C-724E-2D96-BA5BD5BEC89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650730356"/>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AAF31-4F25-6880-3C4E-136461481E46}"/>
              </a:ext>
            </a:extLst>
          </p:cNvPr>
          <p:cNvSpPr>
            <a:spLocks noGrp="1"/>
          </p:cNvSpPr>
          <p:nvPr>
            <p:ph type="title"/>
          </p:nvPr>
        </p:nvSpPr>
        <p:spPr>
          <a:xfrm>
            <a:off x="504044" y="1944896"/>
            <a:ext cx="8229600" cy="863600"/>
          </a:xfrm>
        </p:spPr>
        <p:txBody>
          <a:bodyPr rtlCol="1"/>
          <a:lstStyle/>
          <a:p>
            <a:pPr rtl="1"/>
            <a:r>
              <a:rPr lang="ar" sz="3600" dirty="0"/>
              <a:t>المعلومات والمشورة</a:t>
            </a:r>
          </a:p>
        </p:txBody>
      </p:sp>
      <p:sp>
        <p:nvSpPr>
          <p:cNvPr id="3" name="Content Placeholder 2">
            <a:extLst>
              <a:ext uri="{FF2B5EF4-FFF2-40B4-BE49-F238E27FC236}">
                <a16:creationId xmlns:a16="http://schemas.microsoft.com/office/drawing/2014/main" id="{21C684FD-689A-7EDD-B0B6-926ABB892A66}"/>
              </a:ext>
            </a:extLst>
          </p:cNvPr>
          <p:cNvSpPr>
            <a:spLocks noGrp="1"/>
          </p:cNvSpPr>
          <p:nvPr>
            <p:ph sz="half" idx="2"/>
          </p:nvPr>
        </p:nvSpPr>
        <p:spPr>
          <a:xfrm>
            <a:off x="740009" y="2804488"/>
            <a:ext cx="7991475" cy="3609975"/>
          </a:xfrm>
        </p:spPr>
        <p:txBody>
          <a:bodyPr rtlCol="1"/>
          <a:lstStyle/>
          <a:p>
            <a:pPr marL="0" indent="0" rtl="1">
              <a:buNone/>
            </a:pPr>
            <a:r>
              <a:rPr lang="ar" dirty="0"/>
              <a:t>البحث حول مصادر المعلومات والنصائح وشرح الغرض منها وأنواع الأدوار التي تقدم المعلومات والنصائح لها:</a:t>
            </a:r>
          </a:p>
          <a:p>
            <a:pPr rtl="1"/>
            <a:r>
              <a:rPr lang="ar" dirty="0"/>
              <a:t>خدمات المشورة المهنية</a:t>
            </a:r>
          </a:p>
          <a:p>
            <a:pPr rtl="1"/>
            <a:r>
              <a:rPr lang="ar" dirty="0"/>
              <a:t>معارض الوظائف</a:t>
            </a:r>
          </a:p>
          <a:p>
            <a:pPr rtl="1"/>
            <a:r>
              <a:rPr lang="ar" dirty="0"/>
              <a:t>فعاليات الشبكات</a:t>
            </a:r>
          </a:p>
          <a:p>
            <a:pPr rtl="1"/>
            <a:r>
              <a:rPr lang="ar" dirty="0"/>
              <a:t>وكالات التوظيف</a:t>
            </a:r>
          </a:p>
          <a:p>
            <a:pPr rtl="1"/>
            <a:r>
              <a:rPr lang="ar" dirty="0"/>
              <a:t>الهيئات الحكومية</a:t>
            </a:r>
          </a:p>
        </p:txBody>
      </p:sp>
      <p:sp>
        <p:nvSpPr>
          <p:cNvPr id="5" name="Title 1">
            <a:extLst>
              <a:ext uri="{FF2B5EF4-FFF2-40B4-BE49-F238E27FC236}">
                <a16:creationId xmlns:a16="http://schemas.microsoft.com/office/drawing/2014/main" id="{E413C5DD-2165-8E9E-0C6D-864A814C855A}"/>
              </a:ext>
            </a:extLst>
          </p:cNvPr>
          <p:cNvSpPr txBox="1">
            <a:spLocks/>
          </p:cNvSpPr>
          <p:nvPr/>
        </p:nvSpPr>
        <p:spPr bwMode="auto">
          <a:xfrm>
            <a:off x="3007416" y="1153904"/>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3600" b="1" kern="0" dirty="0"/>
              <a:t>ج4 التطوُّر الوظيفي</a:t>
            </a:r>
          </a:p>
        </p:txBody>
      </p:sp>
      <p:sp>
        <p:nvSpPr>
          <p:cNvPr id="6" name="Footer Placeholder 2">
            <a:extLst>
              <a:ext uri="{FF2B5EF4-FFF2-40B4-BE49-F238E27FC236}">
                <a16:creationId xmlns:a16="http://schemas.microsoft.com/office/drawing/2014/main" id="{0E551F68-47E2-AFDE-F743-B4CFD3B8126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829361836"/>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62632-3D21-19D2-9D2A-BB9634C1C432}"/>
              </a:ext>
            </a:extLst>
          </p:cNvPr>
          <p:cNvSpPr>
            <a:spLocks noGrp="1"/>
          </p:cNvSpPr>
          <p:nvPr>
            <p:ph type="title"/>
          </p:nvPr>
        </p:nvSpPr>
        <p:spPr>
          <a:xfrm>
            <a:off x="2915456" y="1013371"/>
            <a:ext cx="8229600" cy="863600"/>
          </a:xfrm>
        </p:spPr>
        <p:txBody>
          <a:bodyPr rtlCol="1"/>
          <a:lstStyle/>
          <a:p>
            <a:pPr rtl="1"/>
            <a:r>
              <a:rPr lang="ar-SA" sz="3600" b="1" dirty="0"/>
              <a:t>وضع الخطة الوظيفية</a:t>
            </a:r>
          </a:p>
        </p:txBody>
      </p:sp>
      <p:sp>
        <p:nvSpPr>
          <p:cNvPr id="3" name="Content Placeholder 2">
            <a:extLst>
              <a:ext uri="{FF2B5EF4-FFF2-40B4-BE49-F238E27FC236}">
                <a16:creationId xmlns:a16="http://schemas.microsoft.com/office/drawing/2014/main" id="{ACA9FC39-4661-CE27-0E85-898E5F89B73B}"/>
              </a:ext>
            </a:extLst>
          </p:cNvPr>
          <p:cNvSpPr>
            <a:spLocks noGrp="1"/>
          </p:cNvSpPr>
          <p:nvPr>
            <p:ph sz="half" idx="2"/>
          </p:nvPr>
        </p:nvSpPr>
        <p:spPr>
          <a:xfrm>
            <a:off x="173403" y="1793956"/>
            <a:ext cx="8572343" cy="3806720"/>
          </a:xfrm>
        </p:spPr>
        <p:txBody>
          <a:bodyPr rtlCol="1"/>
          <a:lstStyle/>
          <a:p>
            <a:pPr rtl="1"/>
            <a:r>
              <a:rPr lang="ar-SA" dirty="0"/>
              <a:t>تساعد خطط التطوير المهني على فهم ما تحتاج إلى القيام به ومتى لتحقيق </a:t>
            </a:r>
            <a:br>
              <a:rPr lang="ar-SA" dirty="0"/>
            </a:br>
            <a:r>
              <a:rPr lang="ar-SA" dirty="0"/>
              <a:t>أهدافك المهنية. </a:t>
            </a:r>
          </a:p>
          <a:p>
            <a:pPr rtl="1"/>
            <a:r>
              <a:rPr lang="ar-SA" dirty="0"/>
              <a:t>بناءً على ظروفك الشخصية واهتماماتك المهنية، ناقش النقاط التالية:</a:t>
            </a:r>
          </a:p>
          <a:p>
            <a:pPr rtl="1"/>
            <a:r>
              <a:rPr lang="ar-SA" dirty="0"/>
              <a:t>هل ستختار مسارًا أكاديميًا أم مهنيًا ولماذا؟</a:t>
            </a:r>
          </a:p>
          <a:p>
            <a:pPr rtl="1"/>
            <a:r>
              <a:rPr lang="ar-SA" dirty="0"/>
              <a:t>هل ستعمل بدوام كامل أم جزئي ولماذا؟</a:t>
            </a:r>
          </a:p>
          <a:p>
            <a:pPr rtl="1"/>
            <a:r>
              <a:rPr lang="ar-SA" dirty="0"/>
              <a:t>ما هي احتياجاتك التدريبية؟</a:t>
            </a:r>
          </a:p>
          <a:p>
            <a:pPr rtl="1"/>
            <a:r>
              <a:rPr lang="ar-SA" dirty="0"/>
              <a:t>ما الذي تحتاج إلى تطويره؟</a:t>
            </a:r>
          </a:p>
          <a:p>
            <a:pPr rtl="1"/>
            <a:r>
              <a:rPr lang="ar-SA" dirty="0"/>
              <a:t>ما هي أهدافك المهنية الشخصية؟</a:t>
            </a:r>
          </a:p>
          <a:p>
            <a:pPr rtl="1"/>
            <a:r>
              <a:rPr lang="ar-SA" dirty="0"/>
              <a:t>ما هي المؤهلات الخاصة بالمهنة التي قد تحتاجها؟</a:t>
            </a:r>
          </a:p>
        </p:txBody>
      </p:sp>
      <p:sp>
        <p:nvSpPr>
          <p:cNvPr id="5" name="Footer Placeholder 2">
            <a:extLst>
              <a:ext uri="{FF2B5EF4-FFF2-40B4-BE49-F238E27FC236}">
                <a16:creationId xmlns:a16="http://schemas.microsoft.com/office/drawing/2014/main" id="{2198E589-BA61-78DD-238F-7FBFAB99823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322503534"/>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6B60-D3FD-23A1-56AC-422CC90CADBA}"/>
              </a:ext>
            </a:extLst>
          </p:cNvPr>
          <p:cNvSpPr>
            <a:spLocks noGrp="1"/>
          </p:cNvSpPr>
          <p:nvPr>
            <p:ph type="title"/>
          </p:nvPr>
        </p:nvSpPr>
        <p:spPr>
          <a:xfrm>
            <a:off x="758730" y="1381719"/>
            <a:ext cx="8229600" cy="863600"/>
          </a:xfrm>
        </p:spPr>
        <p:txBody>
          <a:bodyPr rtlCol="1"/>
          <a:lstStyle/>
          <a:p>
            <a:pPr rtl="1"/>
            <a:r>
              <a:rPr lang="ar-SA" sz="3600" b="1" dirty="0"/>
              <a:t>وضع الخطة الوظيفية</a:t>
            </a:r>
            <a:endParaRPr lang="ar-SA" sz="3600" dirty="0"/>
          </a:p>
        </p:txBody>
      </p:sp>
      <p:sp>
        <p:nvSpPr>
          <p:cNvPr id="3" name="Content Placeholder 2">
            <a:extLst>
              <a:ext uri="{FF2B5EF4-FFF2-40B4-BE49-F238E27FC236}">
                <a16:creationId xmlns:a16="http://schemas.microsoft.com/office/drawing/2014/main" id="{A48F2E47-4445-A045-5716-9B70F6C32FCC}"/>
              </a:ext>
            </a:extLst>
          </p:cNvPr>
          <p:cNvSpPr>
            <a:spLocks noGrp="1"/>
          </p:cNvSpPr>
          <p:nvPr>
            <p:ph sz="half" idx="2"/>
          </p:nvPr>
        </p:nvSpPr>
        <p:spPr>
          <a:xfrm>
            <a:off x="758746" y="2560898"/>
            <a:ext cx="7991475" cy="3609975"/>
          </a:xfrm>
        </p:spPr>
        <p:txBody>
          <a:bodyPr rtlCol="1"/>
          <a:lstStyle/>
          <a:p>
            <a:pPr rtl="1"/>
            <a:r>
              <a:rPr lang="ar-SA" dirty="0"/>
              <a:t>الآن بعد أن أكملت خطتك المهنية، يجب عليك مراجعتها.</a:t>
            </a:r>
          </a:p>
          <a:p>
            <a:pPr rtl="1"/>
            <a:r>
              <a:rPr lang="ar-SA" dirty="0"/>
              <a:t>حدد الفجوات في مهاراتك ومعرفتك الحالية التي ستتطلب تطويرًا إضافيًا </a:t>
            </a:r>
            <a:br>
              <a:rPr lang="ar-SA" dirty="0"/>
            </a:br>
            <a:r>
              <a:rPr lang="ar-SA" dirty="0"/>
              <a:t>حتى تتمكن من التقديم للوظيفة التي اخترتها.</a:t>
            </a:r>
          </a:p>
          <a:p>
            <a:pPr rtl="1"/>
            <a:r>
              <a:rPr lang="ar-SA" dirty="0"/>
              <a:t>قم بتحليل هذه الفجوات في مهاراتك ومعرفتك وكيف يمكن تطويرها باستخدام تقنيات الدرس السابق وأضف ذلك إلى خطة المهنية. </a:t>
            </a:r>
          </a:p>
        </p:txBody>
      </p:sp>
      <p:sp>
        <p:nvSpPr>
          <p:cNvPr id="5" name="Footer Placeholder 2">
            <a:extLst>
              <a:ext uri="{FF2B5EF4-FFF2-40B4-BE49-F238E27FC236}">
                <a16:creationId xmlns:a16="http://schemas.microsoft.com/office/drawing/2014/main" id="{D55FCB6C-23EA-9764-DBD3-5B09CFDD11C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Tree>
    <p:extLst>
      <p:ext uri="{BB962C8B-B14F-4D97-AF65-F5344CB8AC3E}">
        <p14:creationId xmlns:p14="http://schemas.microsoft.com/office/powerpoint/2010/main" val="1900518494"/>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D55FCB6C-23EA-9764-DBD3-5B09CFDD11C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A103000360282</a:t>
            </a:r>
            <a:endParaRPr lang="ar" sz="1000" dirty="0"/>
          </a:p>
        </p:txBody>
      </p:sp>
      <p:sp>
        <p:nvSpPr>
          <p:cNvPr id="7" name="Title 1">
            <a:extLst>
              <a:ext uri="{FF2B5EF4-FFF2-40B4-BE49-F238E27FC236}">
                <a16:creationId xmlns:a16="http://schemas.microsoft.com/office/drawing/2014/main" id="{CC6BFF8C-5AF3-3304-B2A3-5F00F1B6DC8B}"/>
              </a:ext>
            </a:extLst>
          </p:cNvPr>
          <p:cNvSpPr>
            <a:spLocks noGrp="1"/>
          </p:cNvSpPr>
          <p:nvPr>
            <p:ph type="title"/>
          </p:nvPr>
        </p:nvSpPr>
        <p:spPr>
          <a:xfrm>
            <a:off x="155670" y="1381719"/>
            <a:ext cx="8776836" cy="863600"/>
          </a:xfrm>
        </p:spPr>
        <p:txBody>
          <a:bodyPr rtlCol="1"/>
          <a:lstStyle/>
          <a:p>
            <a:pPr rtl="1"/>
            <a:r>
              <a:rPr lang="ar" sz="3600" b="1" dirty="0"/>
              <a:t>شكر وتقدير</a:t>
            </a:r>
            <a:endParaRPr lang="en-GB" sz="3600" dirty="0"/>
          </a:p>
        </p:txBody>
      </p:sp>
      <p:sp>
        <p:nvSpPr>
          <p:cNvPr id="8" name="Content Placeholder 3">
            <a:extLst>
              <a:ext uri="{FF2B5EF4-FFF2-40B4-BE49-F238E27FC236}">
                <a16:creationId xmlns:a16="http://schemas.microsoft.com/office/drawing/2014/main" id="{64F11E61-A9C7-9F54-2139-8E652C5FDE5C}"/>
              </a:ext>
            </a:extLst>
          </p:cNvPr>
          <p:cNvSpPr>
            <a:spLocks noGrp="1"/>
          </p:cNvSpPr>
          <p:nvPr>
            <p:ph sz="half" idx="2"/>
          </p:nvPr>
        </p:nvSpPr>
        <p:spPr>
          <a:xfrm>
            <a:off x="684213" y="2637453"/>
            <a:ext cx="7991475" cy="3168035"/>
          </a:xfrm>
        </p:spPr>
        <p:txBody>
          <a:bodyPr rtlCol="1"/>
          <a:lstStyle/>
          <a:p>
            <a:pPr marL="0" indent="0" rtl="1">
              <a:buNone/>
            </a:pPr>
            <a:r>
              <a:rPr lang="ar" sz="2000" b="1" u="sng" dirty="0"/>
              <a:t>الصور:</a:t>
            </a:r>
            <a:endParaRPr lang="en-US" sz="2000" dirty="0"/>
          </a:p>
          <a:p>
            <a:pPr rtl="1"/>
            <a:r>
              <a:rPr lang="ar" sz="2000" b="1" dirty="0"/>
              <a:t>123RF: بيوتركت (الشريحة 1) ؛  بيرسون إيدوكيشن ليمتد: </a:t>
            </a:r>
            <a:r>
              <a:rPr lang="ar" sz="2000" dirty="0"/>
              <a:t>جورج كارستنسن (الشريحة 13r) ؛  شترستوك:</a:t>
            </a:r>
            <a:r>
              <a:rPr lang="ar" sz="2000" b="1" dirty="0"/>
              <a:t> </a:t>
            </a:r>
            <a:r>
              <a:rPr lang="ar" sz="2000" dirty="0"/>
              <a:t>برتل 123 (الشريحة 13L) ، ريكافوتو (الشريحة 13C).</a:t>
            </a:r>
          </a:p>
        </p:txBody>
      </p:sp>
    </p:spTree>
    <p:extLst>
      <p:ext uri="{BB962C8B-B14F-4D97-AF65-F5344CB8AC3E}">
        <p14:creationId xmlns:p14="http://schemas.microsoft.com/office/powerpoint/2010/main" val="2528421572"/>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9848C615-482B-4AB5-9FE7-A2F3E6CFF2B1}">
  <ds:schemaRefs>
    <ds:schemaRef ds:uri="http://schemas.openxmlformats.org/package/2006/metadata/core-properties"/>
    <ds:schemaRef ds:uri="a26a0597-d0d1-4250-940c-88e9bf9d5597"/>
    <ds:schemaRef ds:uri="http://purl.org/dc/terms/"/>
    <ds:schemaRef ds:uri="6881431a-e3b2-481e-ba90-fae26e2fa83c"/>
    <ds:schemaRef ds:uri="http://schemas.microsoft.com/office/2006/documentManagement/types"/>
    <ds:schemaRef ds:uri="http://purl.org/dc/dcmitype/"/>
    <ds:schemaRef ds:uri="http://schemas.microsoft.com/office/2006/metadata/properties"/>
    <ds:schemaRef ds:uri="http://purl.org/dc/elements/1.1/"/>
    <ds:schemaRef ds:uri="http://schemas.microsoft.com/office/infopath/2007/PartnerControls"/>
    <ds:schemaRef ds:uri="http://www.w3.org/XML/1998/namespace"/>
    <ds:schemaRef ds:uri="7c1bd8dc-4e40-424f-a15f-9ffcd522197f"/>
    <ds:schemaRef ds:uri="6125ffc9-2c56-435e-8267-1393444907b2"/>
  </ds:schemaRefs>
</ds:datastoreItem>
</file>

<file path=customXml/itemProps3.xml><?xml version="1.0" encoding="utf-8"?>
<ds:datastoreItem xmlns:ds="http://schemas.openxmlformats.org/officeDocument/2006/customXml" ds:itemID="{246FD48B-B02C-4F61-8725-85E8C0618066}"/>
</file>

<file path=docProps/app.xml><?xml version="1.0" encoding="utf-8"?>
<Properties xmlns="http://schemas.openxmlformats.org/officeDocument/2006/extended-properties" xmlns:vt="http://schemas.openxmlformats.org/officeDocument/2006/docPropsVTypes">
  <TotalTime>76</TotalTime>
  <Words>3487</Words>
  <Application>Microsoft Office PowerPoint</Application>
  <PresentationFormat>On-screen Show (4:3)</PresentationFormat>
  <Paragraphs>425</Paragraphs>
  <Slides>31</Slides>
  <Notes>28</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31</vt:i4>
      </vt:variant>
    </vt:vector>
  </HeadingPairs>
  <TitlesOfParts>
    <vt:vector size="49" baseType="lpstr">
      <vt:lpstr>Arial</vt:lpstr>
      <vt:lpstr>Calibri</vt:lpstr>
      <vt:lpstr>Helvetica</vt:lpstr>
      <vt:lpstr>Open Sans</vt:lpstr>
      <vt:lpstr>Roboto</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5 الموظفون في الشركات  </vt:lpstr>
      <vt:lpstr>الموظفون في الشركات</vt:lpstr>
      <vt:lpstr>أهداف التعلم</vt:lpstr>
      <vt:lpstr>هدف التعلّم أ: استكشاف الهياكل التنظيمية والأدوار الوظيفية في الشركة  </vt:lpstr>
      <vt:lpstr>PowerPoint Presentation</vt:lpstr>
      <vt:lpstr>الهياكل التنظيمية</vt:lpstr>
      <vt:lpstr>PowerPoint Presentation</vt:lpstr>
      <vt:lpstr>نشاط الهياكل التنظيمية</vt:lpstr>
      <vt:lpstr>أ-2 الأدوار والمسؤوليات الوظيفية</vt:lpstr>
      <vt:lpstr>ما معنى أن تُقارن؟ تتطلب المقارنة منك شرح أوجه الشبه والاختلاف.   اختر شركتين مختلفتين وناقش أوجه الشبه والاختلاف بين كل من:  1. دور عضو مجلس الإدارة في كل من الشركتين 2. دور المدير الأول في كل من الشركتين 3. دور قائد الفريق في كل من الشركتين 4. موظفي الدعم / العمال في كل من الشركتين </vt:lpstr>
      <vt:lpstr>ما معنى أن تُحلل؟</vt:lpstr>
      <vt:lpstr>هدف التعلّم ب  </vt:lpstr>
      <vt:lpstr>PowerPoint Presentation</vt:lpstr>
      <vt:lpstr>PowerPoint Presentation</vt:lpstr>
      <vt:lpstr>مشكلات التوظيف الداخلي والخارجي</vt:lpstr>
      <vt:lpstr>تحليل الوظائف والإعلانات</vt:lpstr>
      <vt:lpstr>تحليل متطلبات الوظيفة والإعلان عن الوظائف الشاغرة</vt:lpstr>
      <vt:lpstr>PowerPoint Presentation</vt:lpstr>
      <vt:lpstr>ب3 محتويات متطلبات مؤهلات الموظفين</vt:lpstr>
      <vt:lpstr>هدف التعلم ج  </vt:lpstr>
      <vt:lpstr>ج1 التقديم للوظائف</vt:lpstr>
      <vt:lpstr>ج1 التقديم للوظائف</vt:lpstr>
      <vt:lpstr>ج1 التقديم للوظائف</vt:lpstr>
      <vt:lpstr>الاختبارات السابقة للتقديم</vt:lpstr>
      <vt:lpstr>ج2 المقابلة</vt:lpstr>
      <vt:lpstr>ج2 المقابلة</vt:lpstr>
      <vt:lpstr>ج3 التدقيق في المهارات الشخصية</vt:lpstr>
      <vt:lpstr>المعلومات والمشورة</vt:lpstr>
      <vt:lpstr>وضع الخطة الوظيفية</vt:lpstr>
      <vt:lpstr>وضع الخطة الوظيفية</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603</cp:revision>
  <dcterms:created xsi:type="dcterms:W3CDTF">2020-07-15T07:14:47Z</dcterms:created>
  <dcterms:modified xsi:type="dcterms:W3CDTF">2023-12-04T12:18:08Z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